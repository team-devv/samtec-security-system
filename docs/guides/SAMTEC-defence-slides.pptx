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58" r:id="rId3"/>
    <p:sldId id="259" r:id="rId9"/>
    <p:sldId id="260" r:id="rId10"/>
    <p:sldId id="261" r:id="rId8"/>
    <p:sldId id="262" r:id="rId7"/>
    <p:sldId id="263" r:id="rId6"/>
    <p:sldId id="264" r:id="rId5"/>
    <p:sldId id="265" r:id="rId4"/>
    <p:sldId id="266" r:id="rId16"/>
    <p:sldId id="2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I am Samuel, and with Francis Annor I built SAMTEC: a biometric attendance and payroll system for security companies in Ghana. In five minutes: the problem, the aim, what we built, and where it stands.</a:t>
            </a:r>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in one sentence: security companies in Ghana pay for guards who never stood at their posts, because attendance is a paper book and payroll is a spreadsheet that simply trusts it. Ghost workers, buddy punching, and invoices nobody can prove.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in one sentence: a system where a guard is paid only for the shifts their own face or fingerprint proved, and every cedi can be traced back to that proof. Identity, presence and pay in one chain that keeps its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A kiosk phone at each site proves who is there. A dashboard where HR runs the company. And one API with a database that enforces the rules. Enrol, clock in, verified shifts, payroll, paid with proof. All of it is live on the test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kiosk turns the face into 512 numbers and asks for a live head turn, so a photo fails. It compares only with workers posted to that site and needs a clear win. A stranger scored at most 0.21 in our photo lab; the same person scores about 0.90; the threshold sits at 0.40 with room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Payroll starts from verified shifts. Ghanaian rules are applied by the system, not typed in. Approval needs the administrator’s password, the run locks, and out come payslips, the bank file, the company’s receipt and the client’s invoice. Nothing is edited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rules hunt pay without presence every night, and a rule never punishes anybody: a person decides, in writing, on the record. Underneath, evidence is append-only, the administrator confirms sensitive actions with a password, kiosks sign what they send, and biometric data is consented, encrypted and deleted on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it stands: 1,692 automated checks on every change, payroll to the pesewa, the face model measured and replaced. It runs on the shared test system with a real database, and the next step is a pilot with volunteers to tune the threshold before a paying client.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SAMTEC pays people from evidence and keeps the evidence. We built it, we proved it, and we made the hard decisions deliberately. Its limit is the pilot still to come.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the live system is open if you would like to try a clock-in yourself.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822960" y="411480"/>
            <a:ext cx="10515600" cy="1005840"/>
          </a:xfrm>
        </p:spPr>
        <p:txBody>
          <a:bodyPr vert="horz" wrap="square" lIns="91440" tIns="45720" rIns="91440" bIns="45720" anchor="ctr" anchorCtr="0"/>
          <a:lstStyle/>
          <a:p>
            <a:pPr eaLnBrk="1" hangingPunct="1" algn="ctr"/>
            <a:r>
              <a:rPr sz="2600" b="1">
                <a:solidFill>
                  <a:srgbClr val="FFFFFF"/>
                </a:solidFill>
                <a:latin typeface="Calibri"/>
              </a:rPr>
              <a:t>FINAL YEAR PROJECT PRESENTATION &amp; DEMO</a:t>
            </a: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822960" y="1463040"/>
            <a:ext cx="10515600" cy="3108960"/>
          </a:xfrm>
        </p:spPr>
        <p:txBody>
          <a:bodyPr vert="horz" wrap="square" lIns="91440" tIns="45720" rIns="91440" bIns="45720" anchor="t" anchorCtr="0"/>
          <a:lstStyle/>
          <a:p>
            <a:pPr eaLnBrk="1" hangingPunct="1" algn="ctr">
              <a:lnSpc>
                <a:spcPct val="108000"/>
              </a:lnSpc>
              <a:spcAft>
                <a:spcPts val="200"/>
              </a:spcAft>
              <a:buClrTx/>
              <a:buSzTx/>
            </a:pPr>
            <a:r>
              <a:rPr sz="4000" b="1">
                <a:solidFill>
                  <a:srgbClr val="FFFFFF"/>
                </a:solidFill>
                <a:latin typeface="Calibri"/>
              </a:rPr>
              <a:t>SAMTEC</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08000"/>
              </a:lnSpc>
              <a:spcAft>
                <a:spcPts val="1800"/>
              </a:spcAft>
            </a:pPr>
            <a:r>
              <a:rPr sz="2200" b="0">
                <a:solidFill>
                  <a:srgbClr val="E9DFC9"/>
                </a:solidFill>
                <a:latin typeface="Calibri"/>
              </a:rPr>
              <a:t>Biometric Attendance and Payroll for Security Companies in Ghana</a:t>
            </a:r>
          </a:p>
          <a:p>
            <a:pPr algn="ctr">
              <a:lnSpc>
                <a:spcPct val="108000"/>
              </a:lnSpc>
              <a:spcAft>
                <a:spcPts val="200"/>
              </a:spcAft>
            </a:pPr>
            <a:r>
              <a:rPr sz="1600" b="0">
                <a:solidFill>
                  <a:srgbClr val="FFFFFF"/>
                </a:solidFill>
                <a:latin typeface="Calibri"/>
              </a:rPr>
              <a:t>Samuel  ·  Student ID: ____________</a:t>
            </a:r>
          </a:p>
          <a:p>
            <a:pPr algn="ctr">
              <a:lnSpc>
                <a:spcPct val="108000"/>
              </a:lnSpc>
              <a:spcAft>
                <a:spcPts val="1400"/>
              </a:spcAft>
            </a:pPr>
            <a:r>
              <a:rPr sz="1600" b="0">
                <a:solidFill>
                  <a:srgbClr val="FFFFFF"/>
                </a:solidFill>
                <a:latin typeface="Calibri"/>
              </a:rPr>
              <a:t>Francis Annor  ·  Student ID: ____________</a:t>
            </a:r>
          </a:p>
          <a:p>
            <a:pPr algn="ctr">
              <a:lnSpc>
                <a:spcPct val="108000"/>
              </a:lnSpc>
              <a:spcAft>
                <a:spcPts val="200"/>
              </a:spcAft>
            </a:pPr>
            <a:r>
              <a:rPr sz="1500" b="0">
                <a:solidFill>
                  <a:srgbClr val="E9DFC9"/>
                </a:solidFill>
                <a:latin typeface="Calibri"/>
              </a:rPr>
              <a:t>Supervisor: ____________________</a:t>
            </a:r>
          </a:p>
          <a:p>
            <a:pPr algn="ctr">
              <a:lnSpc>
                <a:spcPct val="108000"/>
              </a:lnSpc>
              <a:spcAft>
                <a:spcPts val="400"/>
              </a:spcAft>
            </a:pPr>
            <a:r>
              <a:rPr sz="1500" b="0">
                <a:solidFill>
                  <a:srgbClr val="E9DFC9"/>
                </a:solidFill>
                <a:latin typeface="Calibri"/>
              </a:rPr>
              <a:t>October 2026</a:t>
            </a: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The research problem</a:t>
            </a:r>
          </a:p>
        </p:txBody>
      </p:sp>
      <p:sp>
        <p:nvSpPr>
          <p:cNvPr id="3" name="Rounded Rectangle 2"/>
          <p:cNvSpPr/>
          <p:nvPr/>
        </p:nvSpPr>
        <p:spPr>
          <a:xfrm>
            <a:off x="566928" y="2103120"/>
            <a:ext cx="11064240" cy="21031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1024128" y="2331720"/>
            <a:ext cx="10149840" cy="1737360"/>
          </a:xfrm>
          <a:prstGeom prst="rect">
            <a:avLst/>
          </a:prstGeom>
          <a:noFill/>
        </p:spPr>
        <p:txBody>
          <a:bodyPr wrap="square" lIns="45720" rIns="45720" tIns="27432" bIns="27432">
            <a:spAutoFit/>
          </a:bodyPr>
          <a:lstStyle/>
          <a:p>
            <a:pPr algn="ctr">
              <a:lnSpc>
                <a:spcPct val="115000"/>
              </a:lnSpc>
              <a:spcAft>
                <a:spcPts val="400"/>
              </a:spcAft>
            </a:pPr>
            <a:r>
              <a:rPr sz="2400" b="1">
                <a:solidFill>
                  <a:srgbClr val="FFFFFF"/>
                </a:solidFill>
                <a:latin typeface="Calibri"/>
              </a:rPr>
              <a:t>Security companies in Ghana pay for guards who never stood at their posts, because attendance is a paper book and payroll is a spreadsheet that simply trusts it.</a:t>
            </a:r>
          </a:p>
        </p:txBody>
      </p:sp>
      <p:sp>
        <p:nvSpPr>
          <p:cNvPr id="5" name="Rounded Rectangle 4"/>
          <p:cNvSpPr/>
          <p:nvPr/>
        </p:nvSpPr>
        <p:spPr>
          <a:xfrm>
            <a:off x="566928" y="4526280"/>
            <a:ext cx="3566160" cy="10058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6" name="TextBox 5"/>
          <p:cNvSpPr txBox="1"/>
          <p:nvPr/>
        </p:nvSpPr>
        <p:spPr>
          <a:xfrm>
            <a:off x="566928" y="4636008"/>
            <a:ext cx="3566160" cy="411480"/>
          </a:xfrm>
          <a:prstGeom prst="rect">
            <a:avLst/>
          </a:prstGeom>
          <a:noFill/>
        </p:spPr>
        <p:txBody>
          <a:bodyPr wrap="square" lIns="45720" rIns="45720" tIns="27432" bIns="27432">
            <a:spAutoFit/>
          </a:bodyPr>
          <a:lstStyle/>
          <a:p>
            <a:pPr algn="ctr">
              <a:lnSpc>
                <a:spcPct val="108000"/>
              </a:lnSpc>
              <a:spcAft>
                <a:spcPts val="400"/>
              </a:spcAft>
            </a:pPr>
            <a:r>
              <a:rPr sz="1600" b="1">
                <a:solidFill>
                  <a:srgbClr val="000066"/>
                </a:solidFill>
                <a:latin typeface="Calibri"/>
              </a:rPr>
              <a:t>Ghost workers</a:t>
            </a:r>
          </a:p>
        </p:txBody>
      </p:sp>
      <p:sp>
        <p:nvSpPr>
          <p:cNvPr id="7" name="TextBox 6"/>
          <p:cNvSpPr txBox="1"/>
          <p:nvPr/>
        </p:nvSpPr>
        <p:spPr>
          <a:xfrm>
            <a:off x="566928" y="5038344"/>
            <a:ext cx="35661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paid, never present</a:t>
            </a:r>
          </a:p>
        </p:txBody>
      </p:sp>
      <p:sp>
        <p:nvSpPr>
          <p:cNvPr id="8" name="Rounded Rectangle 7"/>
          <p:cNvSpPr/>
          <p:nvPr/>
        </p:nvSpPr>
        <p:spPr>
          <a:xfrm>
            <a:off x="4315968" y="4526280"/>
            <a:ext cx="3566160" cy="10058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4315968" y="4636008"/>
            <a:ext cx="3566160" cy="411480"/>
          </a:xfrm>
          <a:prstGeom prst="rect">
            <a:avLst/>
          </a:prstGeom>
          <a:noFill/>
        </p:spPr>
        <p:txBody>
          <a:bodyPr wrap="square" lIns="45720" rIns="45720" tIns="27432" bIns="27432">
            <a:spAutoFit/>
          </a:bodyPr>
          <a:lstStyle/>
          <a:p>
            <a:pPr algn="ctr">
              <a:lnSpc>
                <a:spcPct val="108000"/>
              </a:lnSpc>
              <a:spcAft>
                <a:spcPts val="400"/>
              </a:spcAft>
            </a:pPr>
            <a:r>
              <a:rPr sz="1600" b="1">
                <a:solidFill>
                  <a:srgbClr val="000066"/>
                </a:solidFill>
                <a:latin typeface="Calibri"/>
              </a:rPr>
              <a:t>Buddy punching</a:t>
            </a:r>
          </a:p>
        </p:txBody>
      </p:sp>
      <p:sp>
        <p:nvSpPr>
          <p:cNvPr id="10" name="TextBox 9"/>
          <p:cNvSpPr txBox="1"/>
          <p:nvPr/>
        </p:nvSpPr>
        <p:spPr>
          <a:xfrm>
            <a:off x="4315968" y="5038344"/>
            <a:ext cx="35661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one guard signs for two</a:t>
            </a:r>
          </a:p>
        </p:txBody>
      </p:sp>
      <p:sp>
        <p:nvSpPr>
          <p:cNvPr id="11" name="Rounded Rectangle 10"/>
          <p:cNvSpPr/>
          <p:nvPr/>
        </p:nvSpPr>
        <p:spPr>
          <a:xfrm>
            <a:off x="8065008" y="4526280"/>
            <a:ext cx="3566160" cy="10058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065008" y="4636008"/>
            <a:ext cx="3566160" cy="411480"/>
          </a:xfrm>
          <a:prstGeom prst="rect">
            <a:avLst/>
          </a:prstGeom>
          <a:noFill/>
        </p:spPr>
        <p:txBody>
          <a:bodyPr wrap="square" lIns="45720" rIns="45720" tIns="27432" bIns="27432">
            <a:spAutoFit/>
          </a:bodyPr>
          <a:lstStyle/>
          <a:p>
            <a:pPr algn="ctr">
              <a:lnSpc>
                <a:spcPct val="108000"/>
              </a:lnSpc>
              <a:spcAft>
                <a:spcPts val="400"/>
              </a:spcAft>
            </a:pPr>
            <a:r>
              <a:rPr sz="1600" b="1">
                <a:solidFill>
                  <a:srgbClr val="000066"/>
                </a:solidFill>
                <a:latin typeface="Calibri"/>
              </a:rPr>
              <a:t>Unprovable invoices</a:t>
            </a:r>
          </a:p>
        </p:txBody>
      </p:sp>
      <p:sp>
        <p:nvSpPr>
          <p:cNvPr id="13" name="TextBox 12"/>
          <p:cNvSpPr txBox="1"/>
          <p:nvPr/>
        </p:nvSpPr>
        <p:spPr>
          <a:xfrm>
            <a:off x="8065008" y="5038344"/>
            <a:ext cx="35661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the client takes it on trust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The research aim</a:t>
            </a:r>
          </a:p>
        </p:txBody>
      </p:sp>
      <p:sp>
        <p:nvSpPr>
          <p:cNvPr id="3" name="Rounded Rectangle 2"/>
          <p:cNvSpPr/>
          <p:nvPr/>
        </p:nvSpPr>
        <p:spPr>
          <a:xfrm>
            <a:off x="566928" y="2103120"/>
            <a:ext cx="11064240" cy="21031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1024128" y="2331720"/>
            <a:ext cx="10149840" cy="1737360"/>
          </a:xfrm>
          <a:prstGeom prst="rect">
            <a:avLst/>
          </a:prstGeom>
          <a:noFill/>
        </p:spPr>
        <p:txBody>
          <a:bodyPr wrap="square" lIns="45720" rIns="45720" tIns="27432" bIns="27432">
            <a:spAutoFit/>
          </a:bodyPr>
          <a:lstStyle/>
          <a:p>
            <a:pPr algn="ctr">
              <a:lnSpc>
                <a:spcPct val="115000"/>
              </a:lnSpc>
              <a:spcAft>
                <a:spcPts val="400"/>
              </a:spcAft>
            </a:pPr>
            <a:r>
              <a:rPr sz="2400" b="1">
                <a:solidFill>
                  <a:srgbClr val="FFFFFF"/>
                </a:solidFill>
                <a:latin typeface="Calibri"/>
              </a:rPr>
              <a:t>To build a system in which a guard is paid only for the shifts their own face or fingerprint proved, and every cedi can be traced back to that proof.</a:t>
            </a:r>
          </a:p>
        </p:txBody>
      </p:sp>
      <p:sp>
        <p:nvSpPr>
          <p:cNvPr id="5" name="Pentagon 4"/>
          <p:cNvSpPr/>
          <p:nvPr/>
        </p:nvSpPr>
        <p:spPr>
          <a:xfrm>
            <a:off x="566928" y="4526280"/>
            <a:ext cx="2724912" cy="91440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500" b="1">
                <a:solidFill>
                  <a:srgbClr val="FFFFFF"/>
                </a:solidFill>
                <a:latin typeface="Calibri"/>
              </a:rPr>
              <a:t>Identity</a:t>
            </a:r>
          </a:p>
        </p:txBody>
      </p:sp>
      <p:sp>
        <p:nvSpPr>
          <p:cNvPr id="6" name="Chevron 5"/>
          <p:cNvSpPr/>
          <p:nvPr/>
        </p:nvSpPr>
        <p:spPr>
          <a:xfrm>
            <a:off x="3346704" y="4526280"/>
            <a:ext cx="2724912"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500" b="1">
                <a:solidFill>
                  <a:srgbClr val="FFFFFF"/>
                </a:solidFill>
                <a:latin typeface="Calibri"/>
              </a:rPr>
              <a:t>Presence</a:t>
            </a:r>
          </a:p>
        </p:txBody>
      </p:sp>
      <p:sp>
        <p:nvSpPr>
          <p:cNvPr id="7" name="Chevron 6"/>
          <p:cNvSpPr/>
          <p:nvPr/>
        </p:nvSpPr>
        <p:spPr>
          <a:xfrm>
            <a:off x="6126480" y="4526280"/>
            <a:ext cx="2724912"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500" b="1">
                <a:solidFill>
                  <a:srgbClr val="FFFFFF"/>
                </a:solidFill>
                <a:latin typeface="Calibri"/>
              </a:rPr>
              <a:t>Pay</a:t>
            </a:r>
          </a:p>
        </p:txBody>
      </p:sp>
      <p:sp>
        <p:nvSpPr>
          <p:cNvPr id="8" name="Chevron 7"/>
          <p:cNvSpPr/>
          <p:nvPr/>
        </p:nvSpPr>
        <p:spPr>
          <a:xfrm>
            <a:off x="8906256" y="4526280"/>
            <a:ext cx="2724912" cy="91440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500" b="1">
                <a:solidFill>
                  <a:srgbClr val="0B0B4A"/>
                </a:solidFill>
                <a:latin typeface="Calibri"/>
              </a:rPr>
              <a:t>Proof that stays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What we built</a:t>
            </a:r>
          </a:p>
        </p:txBody>
      </p:sp>
      <p:sp>
        <p:nvSpPr>
          <p:cNvPr id="3" name="Pentagon 2"/>
          <p:cNvSpPr/>
          <p:nvPr/>
        </p:nvSpPr>
        <p:spPr>
          <a:xfrm>
            <a:off x="566928" y="1783080"/>
            <a:ext cx="2168956"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Enrol face and fingerprint</a:t>
            </a:r>
          </a:p>
        </p:txBody>
      </p:sp>
      <p:sp>
        <p:nvSpPr>
          <p:cNvPr id="4" name="Chevron 3"/>
          <p:cNvSpPr/>
          <p:nvPr/>
        </p:nvSpPr>
        <p:spPr>
          <a:xfrm>
            <a:off x="2790748" y="178308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Clock in at the site kiosk</a:t>
            </a:r>
          </a:p>
        </p:txBody>
      </p:sp>
      <p:sp>
        <p:nvSpPr>
          <p:cNvPr id="5" name="Chevron 4"/>
          <p:cNvSpPr/>
          <p:nvPr/>
        </p:nvSpPr>
        <p:spPr>
          <a:xfrm>
            <a:off x="5014568" y="178308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Shifts verified</a:t>
            </a:r>
          </a:p>
        </p:txBody>
      </p:sp>
      <p:sp>
        <p:nvSpPr>
          <p:cNvPr id="6" name="Chevron 5"/>
          <p:cNvSpPr/>
          <p:nvPr/>
        </p:nvSpPr>
        <p:spPr>
          <a:xfrm>
            <a:off x="7238388" y="178308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Payroll calculated</a:t>
            </a:r>
          </a:p>
        </p:txBody>
      </p:sp>
      <p:sp>
        <p:nvSpPr>
          <p:cNvPr id="7" name="Chevron 6"/>
          <p:cNvSpPr/>
          <p:nvPr/>
        </p:nvSpPr>
        <p:spPr>
          <a:xfrm>
            <a:off x="9462208" y="1783080"/>
            <a:ext cx="2168956"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Paid, with proof</a:t>
            </a:r>
          </a:p>
        </p:txBody>
      </p:sp>
      <p:sp>
        <p:nvSpPr>
          <p:cNvPr id="8" name="Rounded Rectangle 7"/>
          <p:cNvSpPr/>
          <p:nvPr/>
        </p:nvSpPr>
        <p:spPr>
          <a:xfrm>
            <a:off x="566928" y="2834640"/>
            <a:ext cx="3566160" cy="25146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Oval 8"/>
          <p:cNvSpPr/>
          <p:nvPr/>
        </p:nvSpPr>
        <p:spPr>
          <a:xfrm>
            <a:off x="731520" y="299923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10" name="TextBox 9"/>
          <p:cNvSpPr txBox="1"/>
          <p:nvPr/>
        </p:nvSpPr>
        <p:spPr>
          <a:xfrm>
            <a:off x="1225296" y="2962656"/>
            <a:ext cx="2779776"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The kiosk</a:t>
            </a:r>
          </a:p>
        </p:txBody>
      </p:sp>
      <p:sp>
        <p:nvSpPr>
          <p:cNvPr id="11" name="TextBox 10"/>
          <p:cNvSpPr txBox="1"/>
          <p:nvPr/>
        </p:nvSpPr>
        <p:spPr>
          <a:xfrm>
            <a:off x="731520" y="3438144"/>
            <a:ext cx="3236976" cy="17830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phone on the wall at each site. It recognises the face, asks for a head turn a photo cannot make, and can read a fingerprint. It only knows the workers posted to that site.</a:t>
            </a:r>
          </a:p>
        </p:txBody>
      </p:sp>
      <p:sp>
        <p:nvSpPr>
          <p:cNvPr id="12" name="Rounded Rectangle 11"/>
          <p:cNvSpPr/>
          <p:nvPr/>
        </p:nvSpPr>
        <p:spPr>
          <a:xfrm>
            <a:off x="4315968" y="2834640"/>
            <a:ext cx="3566160" cy="25146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Oval 12"/>
          <p:cNvSpPr/>
          <p:nvPr/>
        </p:nvSpPr>
        <p:spPr>
          <a:xfrm>
            <a:off x="4480560" y="299923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14" name="TextBox 13"/>
          <p:cNvSpPr txBox="1"/>
          <p:nvPr/>
        </p:nvSpPr>
        <p:spPr>
          <a:xfrm>
            <a:off x="4974336" y="2962656"/>
            <a:ext cx="2779776"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The dashboard</a:t>
            </a:r>
          </a:p>
        </p:txBody>
      </p:sp>
      <p:sp>
        <p:nvSpPr>
          <p:cNvPr id="15" name="TextBox 14"/>
          <p:cNvSpPr txBox="1"/>
          <p:nvPr/>
        </p:nvSpPr>
        <p:spPr>
          <a:xfrm>
            <a:off x="4480560" y="3438144"/>
            <a:ext cx="3236976" cy="17830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HR and the administrator manage workers, sites and devices, see attendance as it happens, run payroll, download payslips, the bank file, receipts and client invoices, and answer ghost alerts.</a:t>
            </a:r>
          </a:p>
        </p:txBody>
      </p:sp>
      <p:sp>
        <p:nvSpPr>
          <p:cNvPr id="16" name="Rounded Rectangle 15"/>
          <p:cNvSpPr/>
          <p:nvPr/>
        </p:nvSpPr>
        <p:spPr>
          <a:xfrm>
            <a:off x="8065008" y="2834640"/>
            <a:ext cx="3566160" cy="25146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7" name="Oval 16"/>
          <p:cNvSpPr/>
          <p:nvPr/>
        </p:nvSpPr>
        <p:spPr>
          <a:xfrm>
            <a:off x="8229600" y="299923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8" name="TextBox 17"/>
          <p:cNvSpPr txBox="1"/>
          <p:nvPr/>
        </p:nvSpPr>
        <p:spPr>
          <a:xfrm>
            <a:off x="8723376" y="2962656"/>
            <a:ext cx="2779776"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The API and database</a:t>
            </a:r>
          </a:p>
        </p:txBody>
      </p:sp>
      <p:sp>
        <p:nvSpPr>
          <p:cNvPr id="19" name="TextBox 18"/>
          <p:cNvSpPr txBox="1"/>
          <p:nvPr/>
        </p:nvSpPr>
        <p:spPr>
          <a:xfrm>
            <a:off x="8229600" y="3438144"/>
            <a:ext cx="3236976" cy="17830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One rulebook for everything: the database refuses edits to evidence, every sensitive action needs the administrator’s password, and the audit log records who did what.</a:t>
            </a:r>
          </a:p>
        </p:txBody>
      </p:sp>
      <p:sp>
        <p:nvSpPr>
          <p:cNvPr id="20" name="TextBox 19"/>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All three are live on the shared test system: samtec-test.vercel.app (dashboard) and samtec-test-kiosk.vercel.app (kiosk).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Proving presence at the gate</a:t>
            </a:r>
          </a:p>
        </p:txBody>
      </p:sp>
      <p:sp>
        <p:nvSpPr>
          <p:cNvPr id="3" name="Rounded Rectangle 2"/>
          <p:cNvSpPr/>
          <p:nvPr/>
        </p:nvSpPr>
        <p:spPr>
          <a:xfrm>
            <a:off x="566928" y="1783080"/>
            <a:ext cx="5440680" cy="2743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4807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What the kiosk checks</a:t>
            </a:r>
          </a:p>
        </p:txBody>
      </p:sp>
      <p:sp>
        <p:nvSpPr>
          <p:cNvPr id="5" name="TextBox 4"/>
          <p:cNvSpPr txBox="1"/>
          <p:nvPr/>
        </p:nvSpPr>
        <p:spPr>
          <a:xfrm>
            <a:off x="731520" y="2386584"/>
            <a:ext cx="5111496" cy="2011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The face is turned into 512 numbers by ArcFace; no photo is kept anywhere</a:t>
            </a:r>
          </a:p>
          <a:p>
            <a:pPr algn="l">
              <a:lnSpc>
                <a:spcPct val="108000"/>
              </a:lnSpc>
              <a:spcAft>
                <a:spcPts val="300"/>
              </a:spcAft>
            </a:pPr>
            <a:r>
              <a:rPr sz="1200" b="0">
                <a:solidFill>
                  <a:srgbClr val="1A1A2E"/>
                </a:solidFill>
                <a:latin typeface="Calibri"/>
              </a:rPr>
              <a:t>•  A live head turn, left or right at random, that a printed photo cannot perform</a:t>
            </a:r>
          </a:p>
          <a:p>
            <a:pPr algn="l">
              <a:lnSpc>
                <a:spcPct val="108000"/>
              </a:lnSpc>
              <a:spcAft>
                <a:spcPts val="300"/>
              </a:spcAft>
            </a:pPr>
            <a:r>
              <a:rPr sz="1200" b="0">
                <a:solidFill>
                  <a:srgbClr val="1A1A2E"/>
                </a:solidFill>
                <a:latin typeface="Calibri"/>
              </a:rPr>
              <a:t>•  Compared only with workers posted to that site; a match needs 0.40 and a clear lead of 0.05</a:t>
            </a:r>
          </a:p>
          <a:p>
            <a:pPr algn="l">
              <a:lnSpc>
                <a:spcPct val="108000"/>
              </a:lnSpc>
              <a:spcAft>
                <a:spcPts val="300"/>
              </a:spcAft>
            </a:pPr>
            <a:r>
              <a:rPr sz="1200" b="0">
                <a:solidFill>
                  <a:srgbClr val="1A1A2E"/>
                </a:solidFill>
                <a:latin typeface="Calibri"/>
              </a:rPr>
              <a:t>•  A fingerprint on the phone’s own sensor as the second way in; a supervisor can co-sign</a:t>
            </a:r>
          </a:p>
        </p:txBody>
      </p:sp>
      <p:sp>
        <p:nvSpPr>
          <p:cNvPr id="6" name="Rounded Rectangle 5"/>
          <p:cNvSpPr/>
          <p:nvPr/>
        </p:nvSpPr>
        <p:spPr>
          <a:xfrm>
            <a:off x="6190488" y="1783080"/>
            <a:ext cx="5440680" cy="2743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355080" y="1911096"/>
            <a:ext cx="514807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A32B2B"/>
                </a:solidFill>
                <a:latin typeface="Calibri"/>
              </a:rPr>
              <a:t>What it refuses</a:t>
            </a:r>
          </a:p>
        </p:txBody>
      </p:sp>
      <p:sp>
        <p:nvSpPr>
          <p:cNvPr id="8" name="TextBox 7"/>
          <p:cNvSpPr txBox="1"/>
          <p:nvPr/>
        </p:nvSpPr>
        <p:spPr>
          <a:xfrm>
            <a:off x="6355080" y="2386584"/>
            <a:ext cx="5111496" cy="2011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face nobody enrolled, even on the same phone</a:t>
            </a:r>
          </a:p>
          <a:p>
            <a:pPr algn="l">
              <a:lnSpc>
                <a:spcPct val="108000"/>
              </a:lnSpc>
              <a:spcAft>
                <a:spcPts val="300"/>
              </a:spcAft>
            </a:pPr>
            <a:r>
              <a:rPr sz="1200" b="0">
                <a:solidFill>
                  <a:srgbClr val="1A1A2E"/>
                </a:solidFill>
                <a:latin typeface="Calibri"/>
              </a:rPr>
              <a:t>•  A printed photo or a screen held up to the camera</a:t>
            </a:r>
          </a:p>
          <a:p>
            <a:pPr algn="l">
              <a:lnSpc>
                <a:spcPct val="108000"/>
              </a:lnSpc>
              <a:spcAft>
                <a:spcPts val="300"/>
              </a:spcAft>
            </a:pPr>
            <a:r>
              <a:rPr sz="1200" b="0">
                <a:solidFill>
                  <a:srgbClr val="1A1A2E"/>
                </a:solidFill>
                <a:latin typeface="Calibri"/>
              </a:rPr>
              <a:t>•  A worker who is posted to another site</a:t>
            </a:r>
          </a:p>
          <a:p>
            <a:pPr algn="l">
              <a:lnSpc>
                <a:spcPct val="108000"/>
              </a:lnSpc>
              <a:spcAft>
                <a:spcPts val="300"/>
              </a:spcAft>
            </a:pPr>
            <a:r>
              <a:rPr sz="1200" b="0">
                <a:solidFill>
                  <a:srgbClr val="1A1A2E"/>
                </a:solidFill>
                <a:latin typeface="Calibri"/>
              </a:rPr>
              <a:t>•  A device that an administrator has not switched on</a:t>
            </a:r>
          </a:p>
        </p:txBody>
      </p:sp>
      <p:sp>
        <p:nvSpPr>
          <p:cNvPr id="9" name="Rounded Rectangle 8"/>
          <p:cNvSpPr/>
          <p:nvPr/>
        </p:nvSpPr>
        <p:spPr>
          <a:xfrm>
            <a:off x="566928" y="4709160"/>
            <a:ext cx="35661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566928" y="4818888"/>
            <a:ext cx="35661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0.90</a:t>
            </a:r>
          </a:p>
        </p:txBody>
      </p:sp>
      <p:sp>
        <p:nvSpPr>
          <p:cNvPr id="11" name="TextBox 10"/>
          <p:cNvSpPr txBox="1"/>
          <p:nvPr/>
        </p:nvSpPr>
        <p:spPr>
          <a:xfrm>
            <a:off x="566928" y="5495544"/>
            <a:ext cx="35661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same person, different photographs</a:t>
            </a:r>
          </a:p>
        </p:txBody>
      </p:sp>
      <p:sp>
        <p:nvSpPr>
          <p:cNvPr id="12" name="Rounded Rectangle 11"/>
          <p:cNvSpPr/>
          <p:nvPr/>
        </p:nvSpPr>
        <p:spPr>
          <a:xfrm>
            <a:off x="4315968" y="4709160"/>
            <a:ext cx="35661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4315968" y="4818888"/>
            <a:ext cx="35661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0.21</a:t>
            </a:r>
          </a:p>
        </p:txBody>
      </p:sp>
      <p:sp>
        <p:nvSpPr>
          <p:cNvPr id="14" name="TextBox 13"/>
          <p:cNvSpPr txBox="1"/>
          <p:nvPr/>
        </p:nvSpPr>
        <p:spPr>
          <a:xfrm>
            <a:off x="4315968" y="5495544"/>
            <a:ext cx="35661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highest score any stranger reached</a:t>
            </a:r>
          </a:p>
        </p:txBody>
      </p:sp>
      <p:sp>
        <p:nvSpPr>
          <p:cNvPr id="15" name="Rounded Rectangle 14"/>
          <p:cNvSpPr/>
          <p:nvPr/>
        </p:nvSpPr>
        <p:spPr>
          <a:xfrm>
            <a:off x="8065008" y="4709160"/>
            <a:ext cx="35661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8065008" y="4818888"/>
            <a:ext cx="35661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1.6%</a:t>
            </a:r>
          </a:p>
        </p:txBody>
      </p:sp>
      <p:sp>
        <p:nvSpPr>
          <p:cNvPr id="17" name="TextBox 16"/>
          <p:cNvSpPr txBox="1"/>
          <p:nvPr/>
        </p:nvSpPr>
        <p:spPr>
          <a:xfrm>
            <a:off x="8065008" y="5495544"/>
            <a:ext cx="35661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equal-error rate on the photo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Paying from proof</a:t>
            </a:r>
          </a:p>
        </p:txBody>
      </p:sp>
      <p:sp>
        <p:nvSpPr>
          <p:cNvPr id="3" name="Pentagon 2"/>
          <p:cNvSpPr/>
          <p:nvPr/>
        </p:nvSpPr>
        <p:spPr>
          <a:xfrm>
            <a:off x="566928" y="1783080"/>
            <a:ext cx="2168956"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Open the month</a:t>
            </a:r>
          </a:p>
        </p:txBody>
      </p:sp>
      <p:sp>
        <p:nvSpPr>
          <p:cNvPr id="4" name="Chevron 3"/>
          <p:cNvSpPr/>
          <p:nvPr/>
        </p:nvSpPr>
        <p:spPr>
          <a:xfrm>
            <a:off x="2790748" y="178308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 out the run</a:t>
            </a:r>
          </a:p>
        </p:txBody>
      </p:sp>
      <p:sp>
        <p:nvSpPr>
          <p:cNvPr id="5" name="Chevron 4"/>
          <p:cNvSpPr/>
          <p:nvPr/>
        </p:nvSpPr>
        <p:spPr>
          <a:xfrm>
            <a:off x="5014568" y="178308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 with a password</a:t>
            </a:r>
          </a:p>
        </p:txBody>
      </p:sp>
      <p:sp>
        <p:nvSpPr>
          <p:cNvPr id="6" name="Chevron 5"/>
          <p:cNvSpPr/>
          <p:nvPr/>
        </p:nvSpPr>
        <p:spPr>
          <a:xfrm>
            <a:off x="7238388" y="178308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Locked</a:t>
            </a:r>
          </a:p>
        </p:txBody>
      </p:sp>
      <p:sp>
        <p:nvSpPr>
          <p:cNvPr id="7" name="Chevron 6"/>
          <p:cNvSpPr/>
          <p:nvPr/>
        </p:nvSpPr>
        <p:spPr>
          <a:xfrm>
            <a:off x="9462208" y="1783080"/>
            <a:ext cx="2168956"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Pay, receipt, invoice</a:t>
            </a:r>
          </a:p>
        </p:txBody>
      </p:sp>
      <p:sp>
        <p:nvSpPr>
          <p:cNvPr id="8" name="Rounded Rectangle 7"/>
          <p:cNvSpPr/>
          <p:nvPr/>
        </p:nvSpPr>
        <p:spPr>
          <a:xfrm>
            <a:off x="566928" y="2834640"/>
            <a:ext cx="3566160" cy="25146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Oval 8"/>
          <p:cNvSpPr/>
          <p:nvPr/>
        </p:nvSpPr>
        <p:spPr>
          <a:xfrm>
            <a:off x="731520" y="299923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10" name="TextBox 9"/>
          <p:cNvSpPr txBox="1"/>
          <p:nvPr/>
        </p:nvSpPr>
        <p:spPr>
          <a:xfrm>
            <a:off x="1225296" y="2962656"/>
            <a:ext cx="2779776"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Ghanaian pay rules</a:t>
            </a:r>
          </a:p>
        </p:txBody>
      </p:sp>
      <p:sp>
        <p:nvSpPr>
          <p:cNvPr id="11" name="TextBox 10"/>
          <p:cNvSpPr txBox="1"/>
          <p:nvPr/>
        </p:nvSpPr>
        <p:spPr>
          <a:xfrm>
            <a:off x="731520" y="3438144"/>
            <a:ext cx="3236976" cy="17830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Basic pay pro-rated by days employed, overtime from counted minutes, SSNIT at 5.5% and 13%, PAYE from the graduated bands. Every figure is calculated, never typed.</a:t>
            </a:r>
          </a:p>
        </p:txBody>
      </p:sp>
      <p:sp>
        <p:nvSpPr>
          <p:cNvPr id="12" name="Rounded Rectangle 11"/>
          <p:cNvSpPr/>
          <p:nvPr/>
        </p:nvSpPr>
        <p:spPr>
          <a:xfrm>
            <a:off x="4315968" y="2834640"/>
            <a:ext cx="3566160" cy="25146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Oval 12"/>
          <p:cNvSpPr/>
          <p:nvPr/>
        </p:nvSpPr>
        <p:spPr>
          <a:xfrm>
            <a:off x="4480560" y="299923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14" name="TextBox 13"/>
          <p:cNvSpPr txBox="1"/>
          <p:nvPr/>
        </p:nvSpPr>
        <p:spPr>
          <a:xfrm>
            <a:off x="4974336" y="2962656"/>
            <a:ext cx="2779776"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What comes out</a:t>
            </a:r>
          </a:p>
        </p:txBody>
      </p:sp>
      <p:sp>
        <p:nvSpPr>
          <p:cNvPr id="15" name="TextBox 14"/>
          <p:cNvSpPr txBox="1"/>
          <p:nvPr/>
        </p:nvSpPr>
        <p:spPr>
          <a:xfrm>
            <a:off x="4480560" y="3438144"/>
            <a:ext cx="3236976" cy="17830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payslip PDF for every worker, the bank file the company’s bank pays from, a payment receipt for the company, and a client invoice per site and month.</a:t>
            </a:r>
          </a:p>
        </p:txBody>
      </p:sp>
      <p:sp>
        <p:nvSpPr>
          <p:cNvPr id="16" name="Rounded Rectangle 15"/>
          <p:cNvSpPr/>
          <p:nvPr/>
        </p:nvSpPr>
        <p:spPr>
          <a:xfrm>
            <a:off x="8065008" y="2834640"/>
            <a:ext cx="3566160" cy="25146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7" name="Oval 16"/>
          <p:cNvSpPr/>
          <p:nvPr/>
        </p:nvSpPr>
        <p:spPr>
          <a:xfrm>
            <a:off x="8229600" y="299923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8" name="TextBox 17"/>
          <p:cNvSpPr txBox="1"/>
          <p:nvPr/>
        </p:nvSpPr>
        <p:spPr>
          <a:xfrm>
            <a:off x="8723376" y="2962656"/>
            <a:ext cx="2779776"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Never edited afterwards</a:t>
            </a:r>
          </a:p>
        </p:txBody>
      </p:sp>
      <p:sp>
        <p:nvSpPr>
          <p:cNvPr id="19" name="TextBox 18"/>
          <p:cNvSpPr txBox="1"/>
          <p:nvPr/>
        </p:nvSpPr>
        <p:spPr>
          <a:xfrm>
            <a:off x="8229600" y="3438144"/>
            <a:ext cx="3236976" cy="17830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locked run cannot change; a correction is a new line that says what it corrects. Approval needs the administrator’s own password and is audited.</a:t>
            </a:r>
          </a:p>
        </p:txBody>
      </p:sp>
      <p:sp>
        <p:nvSpPr>
          <p:cNvPr id="20" name="TextBox 19"/>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Pay is checked to the pesewa against payslips worked out by hand.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Catching ghosts and keeping it safe</a:t>
            </a:r>
          </a:p>
        </p:txBody>
      </p:sp>
      <p:sp>
        <p:nvSpPr>
          <p:cNvPr id="3" name="Rounded Rectangle 2"/>
          <p:cNvSpPr/>
          <p:nvPr/>
        </p:nvSpPr>
        <p:spPr>
          <a:xfrm>
            <a:off x="566928" y="1783080"/>
            <a:ext cx="54406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4807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Eleven detection rules, every night</a:t>
            </a:r>
          </a:p>
        </p:txBody>
      </p:sp>
      <p:sp>
        <p:nvSpPr>
          <p:cNvPr id="5" name="TextBox 4"/>
          <p:cNvSpPr txBox="1"/>
          <p:nvPr/>
        </p:nvSpPr>
        <p:spPr>
          <a:xfrm>
            <a:off x="731520" y="2386584"/>
            <a:ext cx="511149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R1 duplicate enrolment  ·  R2 identity collision</a:t>
            </a:r>
          </a:p>
          <a:p>
            <a:pPr algn="l">
              <a:lnSpc>
                <a:spcPct val="108000"/>
              </a:lnSpc>
              <a:spcAft>
                <a:spcPts val="300"/>
              </a:spcAft>
            </a:pPr>
            <a:r>
              <a:rPr sz="1200" b="0">
                <a:solidFill>
                  <a:srgbClr val="1A1A2E"/>
                </a:solidFill>
                <a:latin typeface="Calibri"/>
              </a:rPr>
              <a:t>•  R3 paid without presence  ·  R4 one person in two places</a:t>
            </a:r>
          </a:p>
          <a:p>
            <a:pPr algn="l">
              <a:lnSpc>
                <a:spcPct val="108000"/>
              </a:lnSpc>
              <a:spcAft>
                <a:spcPts val="300"/>
              </a:spcAft>
            </a:pPr>
            <a:r>
              <a:rPr sz="1200" b="0">
                <a:solidFill>
                  <a:srgbClr val="1A1A2E"/>
                </a:solidFill>
                <a:latin typeface="Calibri"/>
              </a:rPr>
              <a:t>•  R5 never seen  ·  R6 terminated but still active</a:t>
            </a:r>
          </a:p>
          <a:p>
            <a:pPr algn="l">
              <a:lnSpc>
                <a:spcPct val="108000"/>
              </a:lnSpc>
              <a:spcAft>
                <a:spcPts val="300"/>
              </a:spcAft>
            </a:pPr>
            <a:r>
              <a:rPr sz="1200" b="0">
                <a:solidFill>
                  <a:srgbClr val="1A1A2E"/>
                </a:solidFill>
                <a:latin typeface="Calibri"/>
              </a:rPr>
              <a:t>•  R7 fallback abuse  ·  R8 robot regularity</a:t>
            </a:r>
          </a:p>
          <a:p>
            <a:pPr algn="l">
              <a:lnSpc>
                <a:spcPct val="108000"/>
              </a:lnSpc>
              <a:spcAft>
                <a:spcPts val="300"/>
              </a:spcAft>
            </a:pPr>
            <a:r>
              <a:rPr sz="1200" b="0">
                <a:solidFill>
                  <a:srgbClr val="1A1A2E"/>
                </a:solidFill>
                <a:latin typeface="Calibri"/>
              </a:rPr>
              <a:t>•  R9 device anomaly  ·  R10 orphan punches  ·  R11 conflicted decision</a:t>
            </a:r>
          </a:p>
          <a:p>
            <a:pPr algn="l">
              <a:lnSpc>
                <a:spcPct val="108000"/>
              </a:lnSpc>
              <a:spcAft>
                <a:spcPts val="300"/>
              </a:spcAft>
            </a:pPr>
            <a:r>
              <a:rPr sz="1200" b="0">
                <a:solidFill>
                  <a:srgbClr val="1A1A2E"/>
                </a:solidFill>
                <a:latin typeface="Calibri"/>
              </a:rPr>
              <a:t>•  A rule never punishes anybody: it raises a question with its evidence, a person answers in writing, and the answer is audited</a:t>
            </a:r>
          </a:p>
        </p:txBody>
      </p:sp>
      <p:sp>
        <p:nvSpPr>
          <p:cNvPr id="6" name="Rounded Rectangle 5"/>
          <p:cNvSpPr/>
          <p:nvPr/>
        </p:nvSpPr>
        <p:spPr>
          <a:xfrm>
            <a:off x="6190488" y="1783080"/>
            <a:ext cx="54406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355080" y="1911096"/>
            <a:ext cx="514807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1E7A46"/>
                </a:solidFill>
                <a:latin typeface="Calibri"/>
              </a:rPr>
              <a:t>Security and privacy</a:t>
            </a:r>
          </a:p>
        </p:txBody>
      </p:sp>
      <p:sp>
        <p:nvSpPr>
          <p:cNvPr id="8" name="TextBox 7"/>
          <p:cNvSpPr txBox="1"/>
          <p:nvPr/>
        </p:nvSpPr>
        <p:spPr>
          <a:xfrm>
            <a:off x="6355080" y="2386584"/>
            <a:ext cx="511149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One administrator, who confirms sensitive actions with their own password; two-factor sign-in for staff</a:t>
            </a:r>
          </a:p>
          <a:p>
            <a:pPr algn="l">
              <a:lnSpc>
                <a:spcPct val="108000"/>
              </a:lnSpc>
              <a:spcAft>
                <a:spcPts val="300"/>
              </a:spcAft>
            </a:pPr>
            <a:r>
              <a:rPr sz="1200" b="0">
                <a:solidFill>
                  <a:srgbClr val="1A1A2E"/>
                </a:solidFill>
                <a:latin typeface="Calibri"/>
              </a:rPr>
              <a:t>•  Evidence is append-only: the database itself refuses edits to punches, consents, audit lines and locked runs</a:t>
            </a:r>
          </a:p>
          <a:p>
            <a:pPr algn="l">
              <a:lnSpc>
                <a:spcPct val="108000"/>
              </a:lnSpc>
              <a:spcAft>
                <a:spcPts val="300"/>
              </a:spcAft>
            </a:pPr>
            <a:r>
              <a:rPr sz="1200" b="0">
                <a:solidFill>
                  <a:srgbClr val="1A1A2E"/>
                </a:solidFill>
                <a:latin typeface="Calibri"/>
              </a:rPr>
              <a:t>•  Each kiosk signs its requests with its own key and starts switched off</a:t>
            </a:r>
          </a:p>
          <a:p>
            <a:pPr algn="l">
              <a:lnSpc>
                <a:spcPct val="108000"/>
              </a:lnSpc>
              <a:spcAft>
                <a:spcPts val="300"/>
              </a:spcAft>
            </a:pPr>
            <a:r>
              <a:rPr sz="1200" b="0">
                <a:solidFill>
                  <a:srgbClr val="1A1A2E"/>
                </a:solidFill>
                <a:latin typeface="Calibri"/>
              </a:rPr>
              <a:t>•  Consent first; templates encrypted, never a photo, deleted 90 days after leaving</a:t>
            </a:r>
          </a:p>
          <a:p>
            <a:pPr algn="l">
              <a:lnSpc>
                <a:spcPct val="108000"/>
              </a:lnSpc>
              <a:spcAft>
                <a:spcPts val="300"/>
              </a:spcAft>
            </a:pPr>
            <a:r>
              <a:rPr sz="1200" b="0">
                <a:solidFill>
                  <a:srgbClr val="1A1A2E"/>
                </a:solidFill>
                <a:latin typeface="Calibri"/>
              </a:rPr>
              <a:t>•  Aligned with Ghana’s Data Protection Act, 2012 (Act 843)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Where it stands</a:t>
            </a:r>
          </a:p>
        </p:txBody>
      </p:sp>
      <p:sp>
        <p:nvSpPr>
          <p:cNvPr id="3" name="Rounded Rectangle 2"/>
          <p:cNvSpPr/>
          <p:nvPr/>
        </p:nvSpPr>
        <p:spPr>
          <a:xfrm>
            <a:off x="566928"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1,004</a:t>
            </a:r>
          </a:p>
        </p:txBody>
      </p:sp>
      <p:sp>
        <p:nvSpPr>
          <p:cNvPr id="5" name="TextBox 4"/>
          <p:cNvSpPr txBox="1"/>
          <p:nvPr/>
        </p:nvSpPr>
        <p:spPr>
          <a:xfrm>
            <a:off x="566928"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API checks: 475 unit, 529 database</a:t>
            </a:r>
          </a:p>
        </p:txBody>
      </p:sp>
      <p:sp>
        <p:nvSpPr>
          <p:cNvPr id="6" name="Rounded Rectangle 5"/>
          <p:cNvSpPr/>
          <p:nvPr/>
        </p:nvSpPr>
        <p:spPr>
          <a:xfrm>
            <a:off x="3374136"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374136"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483</a:t>
            </a:r>
          </a:p>
        </p:txBody>
      </p:sp>
      <p:sp>
        <p:nvSpPr>
          <p:cNvPr id="8" name="TextBox 7"/>
          <p:cNvSpPr txBox="1"/>
          <p:nvPr/>
        </p:nvSpPr>
        <p:spPr>
          <a:xfrm>
            <a:off x="3374136"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dashboard checks</a:t>
            </a:r>
          </a:p>
        </p:txBody>
      </p:sp>
      <p:sp>
        <p:nvSpPr>
          <p:cNvPr id="9" name="Rounded Rectangle 8"/>
          <p:cNvSpPr/>
          <p:nvPr/>
        </p:nvSpPr>
        <p:spPr>
          <a:xfrm>
            <a:off x="6181344"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181344"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170</a:t>
            </a:r>
          </a:p>
        </p:txBody>
      </p:sp>
      <p:sp>
        <p:nvSpPr>
          <p:cNvPr id="11" name="TextBox 10"/>
          <p:cNvSpPr txBox="1"/>
          <p:nvPr/>
        </p:nvSpPr>
        <p:spPr>
          <a:xfrm>
            <a:off x="6181344"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kiosk checks</a:t>
            </a:r>
          </a:p>
        </p:txBody>
      </p:sp>
      <p:sp>
        <p:nvSpPr>
          <p:cNvPr id="12" name="Rounded Rectangle 11"/>
          <p:cNvSpPr/>
          <p:nvPr/>
        </p:nvSpPr>
        <p:spPr>
          <a:xfrm>
            <a:off x="8988552"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8988552"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35</a:t>
            </a:r>
          </a:p>
        </p:txBody>
      </p:sp>
      <p:sp>
        <p:nvSpPr>
          <p:cNvPr id="14" name="TextBox 13"/>
          <p:cNvSpPr txBox="1"/>
          <p:nvPr/>
        </p:nvSpPr>
        <p:spPr>
          <a:xfrm>
            <a:off x="8988552"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gateway checks</a:t>
            </a:r>
          </a:p>
        </p:txBody>
      </p:sp>
      <p:sp>
        <p:nvSpPr>
          <p:cNvPr id="15" name="Rounded Rectangle 14"/>
          <p:cNvSpPr/>
          <p:nvPr/>
        </p:nvSpPr>
        <p:spPr>
          <a:xfrm>
            <a:off x="56692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Proved</a:t>
            </a:r>
          </a:p>
        </p:txBody>
      </p:sp>
      <p:sp>
        <p:nvSpPr>
          <p:cNvPr id="17" name="TextBox 16"/>
          <p:cNvSpPr txBox="1"/>
          <p:nvPr/>
        </p:nvSpPr>
        <p:spPr>
          <a:xfrm>
            <a:off x="73152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1,692 automated checks run on every change: lint, contract, types, tests, build</a:t>
            </a:r>
          </a:p>
          <a:p>
            <a:pPr algn="l">
              <a:lnSpc>
                <a:spcPct val="108000"/>
              </a:lnSpc>
              <a:spcAft>
                <a:spcPts val="300"/>
              </a:spcAft>
            </a:pPr>
            <a:r>
              <a:rPr sz="1200" b="0">
                <a:solidFill>
                  <a:srgbClr val="1A1A2E"/>
                </a:solidFill>
                <a:latin typeface="Calibri"/>
              </a:rPr>
              <a:t>•  Payroll checked to the pesewa; database rules proved on a real PostgreSQL</a:t>
            </a:r>
          </a:p>
          <a:p>
            <a:pPr algn="l">
              <a:lnSpc>
                <a:spcPct val="108000"/>
              </a:lnSpc>
              <a:spcAft>
                <a:spcPts val="300"/>
              </a:spcAft>
            </a:pPr>
            <a:r>
              <a:rPr sz="1200" b="0">
                <a:solidFill>
                  <a:srgbClr val="1A1A2E"/>
                </a:solidFill>
                <a:latin typeface="Calibri"/>
              </a:rPr>
              <a:t>•  The face model was measured on a 43-person photo lab, found wanting, and replaced with ArcFace</a:t>
            </a:r>
          </a:p>
          <a:p>
            <a:pPr algn="l">
              <a:lnSpc>
                <a:spcPct val="108000"/>
              </a:lnSpc>
              <a:spcAft>
                <a:spcPts val="300"/>
              </a:spcAft>
            </a:pPr>
            <a:r>
              <a:rPr sz="1200" b="0">
                <a:solidFill>
                  <a:srgbClr val="1A1A2E"/>
                </a:solidFill>
                <a:latin typeface="Calibri"/>
              </a:rPr>
              <a:t>•  Four review lenses on every change; the whole-system review found twenty problems, all fixed with a test</a:t>
            </a:r>
          </a:p>
        </p:txBody>
      </p:sp>
      <p:sp>
        <p:nvSpPr>
          <p:cNvPr id="18" name="Rounded Rectangle 17"/>
          <p:cNvSpPr/>
          <p:nvPr/>
        </p:nvSpPr>
        <p:spPr>
          <a:xfrm>
            <a:off x="623620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640080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Running</a:t>
            </a:r>
          </a:p>
        </p:txBody>
      </p:sp>
      <p:sp>
        <p:nvSpPr>
          <p:cNvPr id="20" name="TextBox 19"/>
          <p:cNvSpPr txBox="1"/>
          <p:nvPr/>
        </p:nvSpPr>
        <p:spPr>
          <a:xfrm>
            <a:off x="640080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Dashboard, kiosk and API deployed on the shared test system, with the real database</a:t>
            </a:r>
          </a:p>
          <a:p>
            <a:pPr algn="l">
              <a:lnSpc>
                <a:spcPct val="108000"/>
              </a:lnSpc>
              <a:spcAft>
                <a:spcPts val="300"/>
              </a:spcAft>
            </a:pPr>
            <a:r>
              <a:rPr sz="1200" b="0">
                <a:solidFill>
                  <a:srgbClr val="1A1A2E"/>
                </a:solidFill>
                <a:latin typeface="Calibri"/>
              </a:rPr>
              <a:t>•  Thirty days of clock-ins replayed through the real API for the demo</a:t>
            </a:r>
          </a:p>
          <a:p>
            <a:pPr algn="l">
              <a:lnSpc>
                <a:spcPct val="108000"/>
              </a:lnSpc>
              <a:spcAft>
                <a:spcPts val="300"/>
              </a:spcAft>
            </a:pPr>
            <a:r>
              <a:rPr sz="1200" b="0">
                <a:solidFill>
                  <a:srgbClr val="1A1A2E"/>
                </a:solidFill>
                <a:latin typeface="Calibri"/>
              </a:rPr>
              <a:t>•  Real-phone tests: an enrolled worker is greeted by name, a stranger is refused</a:t>
            </a:r>
          </a:p>
          <a:p>
            <a:pPr algn="l">
              <a:lnSpc>
                <a:spcPct val="108000"/>
              </a:lnSpc>
              <a:spcAft>
                <a:spcPts val="300"/>
              </a:spcAft>
            </a:pPr>
            <a:r>
              <a:rPr sz="1200" b="0">
                <a:solidFill>
                  <a:srgbClr val="1A1A2E"/>
                </a:solidFill>
                <a:latin typeface="Calibri"/>
              </a:rPr>
              <a:t>•  Next: a pilot with volunteers to tune the face threshold, then a production copy for a paying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Conclusion</a:t>
            </a:r>
          </a:p>
        </p:txBody>
      </p:sp>
      <p:sp>
        <p:nvSpPr>
          <p:cNvPr id="3" name="Rounded Rectangle 2"/>
          <p:cNvSpPr/>
          <p:nvPr/>
        </p:nvSpPr>
        <p:spPr>
          <a:xfrm>
            <a:off x="566928" y="1783080"/>
            <a:ext cx="11064240" cy="11887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965960"/>
            <a:ext cx="10515600" cy="914400"/>
          </a:xfrm>
          <a:prstGeom prst="rect">
            <a:avLst/>
          </a:prstGeom>
          <a:noFill/>
        </p:spPr>
        <p:txBody>
          <a:bodyPr wrap="square" lIns="45720" rIns="45720" tIns="27432" bIns="27432">
            <a:spAutoFit/>
          </a:bodyPr>
          <a:lstStyle/>
          <a:p>
            <a:pPr algn="ctr">
              <a:lnSpc>
                <a:spcPct val="108000"/>
              </a:lnSpc>
              <a:spcAft>
                <a:spcPts val="400"/>
              </a:spcAft>
            </a:pPr>
            <a:r>
              <a:rPr sz="2200" b="1">
                <a:solidFill>
                  <a:srgbClr val="FFFFFF"/>
                </a:solidFill>
                <a:latin typeface="Calibri"/>
              </a:rPr>
              <a:t>SAMTEC pays people from evidence, and keeps the evidence.</a:t>
            </a:r>
          </a:p>
          <a:p>
            <a:pPr algn="ctr">
              <a:lnSpc>
                <a:spcPct val="108000"/>
              </a:lnSpc>
              <a:spcAft>
                <a:spcPts val="400"/>
              </a:spcAft>
            </a:pPr>
            <a:r>
              <a:rPr sz="1400" b="0">
                <a:solidFill>
                  <a:srgbClr val="E9DFC9"/>
                </a:solidFill>
                <a:latin typeface="Calibri"/>
              </a:rPr>
              <a:t>Identity, presence and pay in one chain that cannot be edited afterwards.</a:t>
            </a:r>
          </a:p>
        </p:txBody>
      </p:sp>
      <p:sp>
        <p:nvSpPr>
          <p:cNvPr id="5" name="Rounded Rectangle 4"/>
          <p:cNvSpPr/>
          <p:nvPr/>
        </p:nvSpPr>
        <p:spPr>
          <a:xfrm>
            <a:off x="56692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6" name="TextBox 5"/>
          <p:cNvSpPr txBox="1"/>
          <p:nvPr/>
        </p:nvSpPr>
        <p:spPr>
          <a:xfrm>
            <a:off x="73152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Built</a:t>
            </a:r>
          </a:p>
        </p:txBody>
      </p:sp>
      <p:sp>
        <p:nvSpPr>
          <p:cNvPr id="7" name="TextBox 6"/>
          <p:cNvSpPr txBox="1"/>
          <p:nvPr/>
        </p:nvSpPr>
        <p:spPr>
          <a:xfrm>
            <a:off x="73152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complete, deployed system: kiosk, dashboard, gateway and API, with a database that enforces its own rules.</a:t>
            </a:r>
          </a:p>
        </p:txBody>
      </p:sp>
      <p:sp>
        <p:nvSpPr>
          <p:cNvPr id="8" name="Rounded Rectangle 7"/>
          <p:cNvSpPr/>
          <p:nvPr/>
        </p:nvSpPr>
        <p:spPr>
          <a:xfrm>
            <a:off x="431596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448056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Proved</a:t>
            </a:r>
          </a:p>
        </p:txBody>
      </p:sp>
      <p:sp>
        <p:nvSpPr>
          <p:cNvPr id="10" name="TextBox 9"/>
          <p:cNvSpPr txBox="1"/>
          <p:nvPr/>
        </p:nvSpPr>
        <p:spPr>
          <a:xfrm>
            <a:off x="448056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Nearly 1,700 automated checks, payroll to the pesewa, a measured and replaced face model, four reviews on every change.</a:t>
            </a:r>
          </a:p>
        </p:txBody>
      </p:sp>
      <p:sp>
        <p:nvSpPr>
          <p:cNvPr id="11" name="Rounded Rectangle 10"/>
          <p:cNvSpPr/>
          <p:nvPr/>
        </p:nvSpPr>
        <p:spPr>
          <a:xfrm>
            <a:off x="806500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Decided</a:t>
            </a:r>
          </a:p>
        </p:txBody>
      </p:sp>
      <p:sp>
        <p:nvSpPr>
          <p:cNvPr id="13" name="TextBox 12"/>
          <p:cNvSpPr txBox="1"/>
          <p:nvPr/>
        </p:nvSpPr>
        <p:spPr>
          <a:xfrm>
            <a:off x="822960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company kiosk, not the guard’s phone; one administrator with a password step; evidence that is never edited.</a:t>
            </a:r>
          </a:p>
        </p:txBody>
      </p:sp>
      <p:sp>
        <p:nvSpPr>
          <p:cNvPr id="14" name="TextBox 1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Limits: the face threshold still needs a pilot with real volunteers, and the fingerprint depends on the phone’s own sensor.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Thank you</a:t>
            </a:r>
          </a:p>
        </p:txBody>
      </p:sp>
      <p:sp>
        <p:nvSpPr>
          <p:cNvPr id="3" name="Rounded Rectangle 2"/>
          <p:cNvSpPr/>
          <p:nvPr/>
        </p:nvSpPr>
        <p:spPr>
          <a:xfrm>
            <a:off x="566928" y="2148840"/>
            <a:ext cx="11064240" cy="237744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2514600"/>
            <a:ext cx="10515600" cy="1737360"/>
          </a:xfrm>
          <a:prstGeom prst="rect">
            <a:avLst/>
          </a:prstGeom>
          <a:noFill/>
        </p:spPr>
        <p:txBody>
          <a:bodyPr wrap="square" lIns="45720" rIns="45720" tIns="27432" bIns="27432">
            <a:spAutoFit/>
          </a:bodyPr>
          <a:lstStyle/>
          <a:p>
            <a:pPr algn="ctr">
              <a:lnSpc>
                <a:spcPct val="108000"/>
              </a:lnSpc>
              <a:spcAft>
                <a:spcPts val="800"/>
              </a:spcAft>
            </a:pPr>
            <a:r>
              <a:rPr sz="3600" b="1">
                <a:solidFill>
                  <a:srgbClr val="FFFFFF"/>
                </a:solidFill>
                <a:latin typeface="Calibri"/>
              </a:rPr>
              <a:t>Questions</a:t>
            </a:r>
          </a:p>
          <a:p>
            <a:pPr algn="ctr">
              <a:lnSpc>
                <a:spcPct val="108000"/>
              </a:lnSpc>
              <a:spcAft>
                <a:spcPts val="400"/>
              </a:spcAft>
            </a:pPr>
            <a:r>
              <a:rPr sz="1400" b="0">
                <a:solidFill>
                  <a:srgbClr val="E9DFC9"/>
                </a:solidFill>
                <a:latin typeface="Calibri"/>
              </a:rPr>
              <a:t>Dashboard: samtec-test.vercel.app    ·    Kiosk: samtec-test-kiosk.vercel.app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1128</Words>
  <Application>Microsoft Office PowerPoint</Application>
  <PresentationFormat>Widescreen</PresentationFormat>
  <Paragraphs>103</Paragraphs>
  <Slides>8</Slides>
  <Notes>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vt:i4>
      </vt:variant>
    </vt:vector>
  </HeadingPairs>
  <TitlesOfParts>
    <vt:vector size="16" baseType="lpstr">
      <vt:lpstr>MS PGothic</vt:lpstr>
      <vt:lpstr>Aptos</vt:lpstr>
      <vt:lpstr>Aptos Display</vt:lpstr>
      <vt:lpstr>Arial</vt:lpstr>
      <vt:lpstr>Calibri</vt:lpstr>
      <vt:lpstr>Times New Roman</vt:lpstr>
      <vt:lpstr>Office Theme</vt:lpstr>
      <vt:lpstr>1_Office Theme</vt:lpstr>
      <vt:lpstr>FINAL YEAR PROJECT PRESENTATION &amp; DEMO </vt:lpstr>
      <vt:lpstr>OUTLINE OF  PRESENTATION</vt:lpstr>
      <vt:lpstr>Introduction</vt:lpstr>
      <vt:lpstr>Aims and Objectives</vt:lpstr>
      <vt:lpstr>Related Work</vt:lpstr>
      <vt:lpstr>Proposed Solution</vt:lpstr>
      <vt:lpstr>End Slide</vt:lpstr>
      <vt:lpstr>FINAL YEAR PROJECT PRESENTATION &amp; DEMO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Prempeh Sharon</cp:lastModifiedBy>
  <cp:revision>1</cp:revision>
  <dcterms:created xsi:type="dcterms:W3CDTF">2025-09-15T15:38:40Z</dcterms:created>
  <dcterms:modified xsi:type="dcterms:W3CDTF">2025-09-15T15:40:01Z</dcterms:modified>
</cp:coreProperties>
</file>