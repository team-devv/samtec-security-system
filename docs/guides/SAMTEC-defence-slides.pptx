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58" r:id="rId3"/>
    <p:sldId id="259" r:id="rId9"/>
    <p:sldId id="260" r:id="rId10"/>
    <p:sldId id="261" r:id="rId8"/>
    <p:sldId id="262" r:id="rId7"/>
    <p:sldId id="263" r:id="rId6"/>
    <p:sldId id="264" r:id="rId5"/>
    <p:sldId id="265" r:id="rId4"/>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I am Samuel, and with Francis Annor I built SAMTEC: a biometric attendance and payroll system for security companies in Ghana. In the next twenty minutes I will show the problem, the system we built, how we proved it works, and its limits.</a:t>
            </a:r>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short parts: the problem, what we set out to do, what others have done, our solution and how we built and tested it, a live demo, and the limits we found ourselves.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Ghanaian security company employs hundreds of guards across dozens of client sites. Nobody in head office can see who actually stood at a gate. That blindness pays for two frauds: ghost workers and buddy punching.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problems. Presence is not proven. Pay is typed rather than calculated from evidence. And nothing is auditable afterwards.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aim, five objectives: identity, presence, pay, detection and security. Every slide after this one serves one of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kept the scope to the chain from identity to pay. Two deliberate exclusions worth defending: the guard’s own phone is never the clock-in device, and the bank runs the payment file rather than the system moving money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cards and PINs are shared or written by interested parties. Commercial terminals prove presence but hand a report to a separate payroll. Phone apps exclude guards without phones. SAMTEC links presence and pay in one chain.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this one chain. A face at the gate becomes a signed punch, punches become a shift, the shift becomes pay, an administrator approves it with their password, and it locks. Eleven rules watch the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in nine phases over fifteen weeks. The method that mattered most was contract first: we agreed the API on paper, generated the types, and built both sides in parallel against a mock. Every change passed four reviews and the automated checks before it merged.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apps and one API. The dashboard for head office, the kiosk at the gate, and a small gateway for fingerprint terminals. The API is the brain: four guards run on every request, and nothing touches the database except through it. Thirty-five tables in six modules, with evidence tables that the database itself refuses to edit.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TypeScript. The API is NestJS with Prisma on PostgreSQL; the dashboard and kiosk are React. The kiosk measures faces in the browser with ArcFace, so no photo ever leaves the device. The contract is OpenAPI, and the whole chain is hosted so it can be opened today.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modules own thirty-five tables, and a module writes only its own. Several rules live in the database as constraints and triggers, so even a repair script cannot break them: whole pesewas, nobody deleted, evidence append-only, one approved run per month.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checked on the server. Administrators and payroll staff use two-factor sign-in. Sensitive actions ask for the administrator’s own password, and everything lands in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kiosk measures the face with ArcFace and sends 512 numbers, never a photo. The server compares them only with workers posted to that site and needs a clear win. At enrolment, a face too close to anyone already enrolled is held for review, which is how a ghost enrolled twice is caught. Consent comes first, templates are encrypted, and a worker may refuse.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clock-in is a signed punch from a known device at a known site. Punches are paired into shifts. Anything odd goes to a person, and the fallbacks for workers without a face are flagged rather than hidden.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Payroll is a calculation, not a typed number. Hours and pay terms become basic pay, overtime, SSNIT and PAYE under the current bands. Approval needs the administrator’s password, then the run locks. The outputs are payslips, the bank file the company’s bank runs, a payment receipt for the company, and client invoices.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rules run every night and on demand: a worker paid but never seen, one person in two places, a terminal that behaves oddly, a fallback used too often. A rule raises a question with its evidence; a human answers it in writing, and the answer is audited.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hold the system together: evidence is never edited, sensitive actions need the administrator’s password, a rule never punishes anybody, and people are never deleted. The threat table shows the main attacks we designed against, following the OWASP API Security Top 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fifteen hundred automated checks run on every change, including money to the pesewa and database rules against real PostgreSQL. The face model was measured, found wanting, and replaced: with ArcFace strangers sit near 0.2 and the same person near 0.9, so the 0.40 threshold has a wide margin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about seven minutes. If something refuses on stage, say why: a refusal is the feature working.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name the limits myself. Anti-spoofing stops a photo, not a mask. Twins beat any threshold, so a second factor is the answer. A pilot with real volunteers is still owed. Next: the pilot, infrared terminals, a production environment, and a direct bank link.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SAMTEC pays people from evidence, and keeps the evidence. We built it, we proved it, and we made the hard decisions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standards and laws the system follows, and the paper behind the face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the live system is open if you would like to try a clock-in yourself.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822960" y="411480"/>
            <a:ext cx="10515600" cy="1005840"/>
          </a:xfrm>
        </p:spPr>
        <p:txBody>
          <a:bodyPr vert="horz" wrap="square" lIns="91440" tIns="45720" rIns="91440" bIns="45720" anchor="ctr" anchorCtr="0"/>
          <a:lstStyle/>
          <a:p>
            <a:pPr eaLnBrk="1" hangingPunct="1" algn="ctr"/>
            <a:r>
              <a:rPr sz="2600" b="1">
                <a:solidFill>
                  <a:srgbClr val="FFFFFF"/>
                </a:solidFill>
                <a:latin typeface="Calibri"/>
              </a:rPr>
              <a:t>FINAL YEAR PROJECT PRESENTATION &amp; DEMO</a:t>
            </a: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822960" y="1463040"/>
            <a:ext cx="10515600" cy="3108960"/>
          </a:xfrm>
        </p:spPr>
        <p:txBody>
          <a:bodyPr vert="horz" wrap="square" lIns="91440" tIns="45720" rIns="91440" bIns="45720" anchor="t" anchorCtr="0"/>
          <a:lstStyle/>
          <a:p>
            <a:pPr eaLnBrk="1" hangingPunct="1" algn="ctr">
              <a:lnSpc>
                <a:spcPct val="108000"/>
              </a:lnSpc>
              <a:spcAft>
                <a:spcPts val="200"/>
              </a:spcAft>
              <a:buClrTx/>
              <a:buSzTx/>
            </a:pPr>
            <a:r>
              <a:rPr sz="4000" b="1">
                <a:solidFill>
                  <a:srgbClr val="FFFFFF"/>
                </a:solidFill>
                <a:latin typeface="Calibri"/>
              </a:rPr>
              <a:t>SAMTEC</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08000"/>
              </a:lnSpc>
              <a:spcAft>
                <a:spcPts val="1800"/>
              </a:spcAft>
            </a:pPr>
            <a:r>
              <a:rPr sz="2200" b="0">
                <a:solidFill>
                  <a:srgbClr val="E9DFC9"/>
                </a:solidFill>
                <a:latin typeface="Calibri"/>
              </a:rPr>
              <a:t>Biometric Attendance and Payroll for Security Companies in Ghana</a:t>
            </a:r>
          </a:p>
          <a:p>
            <a:pPr algn="ctr">
              <a:lnSpc>
                <a:spcPct val="108000"/>
              </a:lnSpc>
              <a:spcAft>
                <a:spcPts val="200"/>
              </a:spcAft>
            </a:pPr>
            <a:r>
              <a:rPr sz="1600" b="0">
                <a:solidFill>
                  <a:srgbClr val="FFFFFF"/>
                </a:solidFill>
                <a:latin typeface="Calibri"/>
              </a:rPr>
              <a:t>Samuel  ·  Student ID: ____________</a:t>
            </a:r>
          </a:p>
          <a:p>
            <a:pPr algn="ctr">
              <a:lnSpc>
                <a:spcPct val="108000"/>
              </a:lnSpc>
              <a:spcAft>
                <a:spcPts val="1400"/>
              </a:spcAft>
            </a:pPr>
            <a:r>
              <a:rPr sz="1600" b="0">
                <a:solidFill>
                  <a:srgbClr val="FFFFFF"/>
                </a:solidFill>
                <a:latin typeface="Calibri"/>
              </a:rPr>
              <a:t>Francis Annor  ·  Student ID: ____________</a:t>
            </a:r>
          </a:p>
          <a:p>
            <a:pPr algn="ctr">
              <a:lnSpc>
                <a:spcPct val="108000"/>
              </a:lnSpc>
              <a:spcAft>
                <a:spcPts val="200"/>
              </a:spcAft>
            </a:pPr>
            <a:r>
              <a:rPr sz="1500" b="0">
                <a:solidFill>
                  <a:srgbClr val="E9DFC9"/>
                </a:solidFill>
                <a:latin typeface="Calibri"/>
              </a:rPr>
              <a:t>Supervisor: ____________________</a:t>
            </a:r>
          </a:p>
          <a:p>
            <a:pPr algn="ctr">
              <a:lnSpc>
                <a:spcPct val="108000"/>
              </a:lnSpc>
              <a:spcAft>
                <a:spcPts val="400"/>
              </a:spcAft>
            </a:pPr>
            <a:r>
              <a:rPr sz="1500" b="0">
                <a:solidFill>
                  <a:srgbClr val="E9DFC9"/>
                </a:solidFill>
                <a:latin typeface="Calibri"/>
              </a:rPr>
              <a:t>October 2026</a:t>
            </a: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Outline of presentation</a:t>
            </a:r>
          </a:p>
        </p:txBody>
      </p:sp>
      <p:sp>
        <p:nvSpPr>
          <p:cNvPr id="3" name="Oval 2"/>
          <p:cNvSpPr/>
          <p:nvPr/>
        </p:nvSpPr>
        <p:spPr>
          <a:xfrm>
            <a:off x="566928" y="202082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a:t>
            </a:r>
          </a:p>
        </p:txBody>
      </p:sp>
      <p:sp>
        <p:nvSpPr>
          <p:cNvPr id="4" name="TextBox 3"/>
          <p:cNvSpPr txBox="1"/>
          <p:nvPr/>
        </p:nvSpPr>
        <p:spPr>
          <a:xfrm>
            <a:off x="1133856" y="202082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Introduction and problem</a:t>
            </a:r>
          </a:p>
        </p:txBody>
      </p:sp>
      <p:sp>
        <p:nvSpPr>
          <p:cNvPr id="5" name="Oval 4"/>
          <p:cNvSpPr/>
          <p:nvPr/>
        </p:nvSpPr>
        <p:spPr>
          <a:xfrm>
            <a:off x="566928" y="2587752"/>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2</a:t>
            </a:r>
          </a:p>
        </p:txBody>
      </p:sp>
      <p:sp>
        <p:nvSpPr>
          <p:cNvPr id="6" name="TextBox 5"/>
          <p:cNvSpPr txBox="1"/>
          <p:nvPr/>
        </p:nvSpPr>
        <p:spPr>
          <a:xfrm>
            <a:off x="1133856" y="2587752"/>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Aim, objectives and scope</a:t>
            </a:r>
          </a:p>
        </p:txBody>
      </p:sp>
      <p:sp>
        <p:nvSpPr>
          <p:cNvPr id="7" name="Oval 6"/>
          <p:cNvSpPr/>
          <p:nvPr/>
        </p:nvSpPr>
        <p:spPr>
          <a:xfrm>
            <a:off x="566928" y="3154680"/>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3</a:t>
            </a:r>
          </a:p>
        </p:txBody>
      </p:sp>
      <p:sp>
        <p:nvSpPr>
          <p:cNvPr id="8" name="TextBox 7"/>
          <p:cNvSpPr txBox="1"/>
          <p:nvPr/>
        </p:nvSpPr>
        <p:spPr>
          <a:xfrm>
            <a:off x="1133856" y="3154680"/>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Related work</a:t>
            </a:r>
          </a:p>
        </p:txBody>
      </p:sp>
      <p:sp>
        <p:nvSpPr>
          <p:cNvPr id="9" name="Oval 8"/>
          <p:cNvSpPr/>
          <p:nvPr/>
        </p:nvSpPr>
        <p:spPr>
          <a:xfrm>
            <a:off x="566928" y="3721608"/>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4</a:t>
            </a:r>
          </a:p>
        </p:txBody>
      </p:sp>
      <p:sp>
        <p:nvSpPr>
          <p:cNvPr id="10" name="TextBox 9"/>
          <p:cNvSpPr txBox="1"/>
          <p:nvPr/>
        </p:nvSpPr>
        <p:spPr>
          <a:xfrm>
            <a:off x="1133856" y="3721608"/>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Proposed solution</a:t>
            </a:r>
          </a:p>
        </p:txBody>
      </p:sp>
      <p:sp>
        <p:nvSpPr>
          <p:cNvPr id="11" name="Oval 10"/>
          <p:cNvSpPr/>
          <p:nvPr/>
        </p:nvSpPr>
        <p:spPr>
          <a:xfrm>
            <a:off x="566928" y="4288536"/>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5</a:t>
            </a:r>
          </a:p>
        </p:txBody>
      </p:sp>
      <p:sp>
        <p:nvSpPr>
          <p:cNvPr id="12" name="TextBox 11"/>
          <p:cNvSpPr txBox="1"/>
          <p:nvPr/>
        </p:nvSpPr>
        <p:spPr>
          <a:xfrm>
            <a:off x="1133856" y="4288536"/>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Methodology</a:t>
            </a:r>
          </a:p>
        </p:txBody>
      </p:sp>
      <p:sp>
        <p:nvSpPr>
          <p:cNvPr id="13" name="Oval 12"/>
          <p:cNvSpPr/>
          <p:nvPr/>
        </p:nvSpPr>
        <p:spPr>
          <a:xfrm>
            <a:off x="566928" y="485546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6</a:t>
            </a:r>
          </a:p>
        </p:txBody>
      </p:sp>
      <p:sp>
        <p:nvSpPr>
          <p:cNvPr id="14" name="TextBox 13"/>
          <p:cNvSpPr txBox="1"/>
          <p:nvPr/>
        </p:nvSpPr>
        <p:spPr>
          <a:xfrm>
            <a:off x="1133856" y="485546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System design</a:t>
            </a:r>
          </a:p>
        </p:txBody>
      </p:sp>
      <p:sp>
        <p:nvSpPr>
          <p:cNvPr id="15" name="Oval 14"/>
          <p:cNvSpPr/>
          <p:nvPr/>
        </p:nvSpPr>
        <p:spPr>
          <a:xfrm>
            <a:off x="6236208" y="202082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7</a:t>
            </a:r>
          </a:p>
        </p:txBody>
      </p:sp>
      <p:sp>
        <p:nvSpPr>
          <p:cNvPr id="16" name="TextBox 15"/>
          <p:cNvSpPr txBox="1"/>
          <p:nvPr/>
        </p:nvSpPr>
        <p:spPr>
          <a:xfrm>
            <a:off x="6803136" y="202082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Implementation</a:t>
            </a:r>
          </a:p>
        </p:txBody>
      </p:sp>
      <p:sp>
        <p:nvSpPr>
          <p:cNvPr id="17" name="Oval 16"/>
          <p:cNvSpPr/>
          <p:nvPr/>
        </p:nvSpPr>
        <p:spPr>
          <a:xfrm>
            <a:off x="6236208" y="2587752"/>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8</a:t>
            </a:r>
          </a:p>
        </p:txBody>
      </p:sp>
      <p:sp>
        <p:nvSpPr>
          <p:cNvPr id="18" name="TextBox 17"/>
          <p:cNvSpPr txBox="1"/>
          <p:nvPr/>
        </p:nvSpPr>
        <p:spPr>
          <a:xfrm>
            <a:off x="6803136" y="2587752"/>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Testing and results</a:t>
            </a:r>
          </a:p>
        </p:txBody>
      </p:sp>
      <p:sp>
        <p:nvSpPr>
          <p:cNvPr id="19" name="Oval 18"/>
          <p:cNvSpPr/>
          <p:nvPr/>
        </p:nvSpPr>
        <p:spPr>
          <a:xfrm>
            <a:off x="6236208" y="3154680"/>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9</a:t>
            </a:r>
          </a:p>
        </p:txBody>
      </p:sp>
      <p:sp>
        <p:nvSpPr>
          <p:cNvPr id="20" name="TextBox 19"/>
          <p:cNvSpPr txBox="1"/>
          <p:nvPr/>
        </p:nvSpPr>
        <p:spPr>
          <a:xfrm>
            <a:off x="6803136" y="3154680"/>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Security and privacy</a:t>
            </a:r>
          </a:p>
        </p:txBody>
      </p:sp>
      <p:sp>
        <p:nvSpPr>
          <p:cNvPr id="21" name="Oval 20"/>
          <p:cNvSpPr/>
          <p:nvPr/>
        </p:nvSpPr>
        <p:spPr>
          <a:xfrm>
            <a:off x="6236208" y="3721608"/>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10</a:t>
            </a:r>
          </a:p>
        </p:txBody>
      </p:sp>
      <p:sp>
        <p:nvSpPr>
          <p:cNvPr id="22" name="TextBox 21"/>
          <p:cNvSpPr txBox="1"/>
          <p:nvPr/>
        </p:nvSpPr>
        <p:spPr>
          <a:xfrm>
            <a:off x="6803136" y="3721608"/>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Live demonstration</a:t>
            </a:r>
          </a:p>
        </p:txBody>
      </p:sp>
      <p:sp>
        <p:nvSpPr>
          <p:cNvPr id="23" name="Oval 22"/>
          <p:cNvSpPr/>
          <p:nvPr/>
        </p:nvSpPr>
        <p:spPr>
          <a:xfrm>
            <a:off x="6236208" y="4288536"/>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11</a:t>
            </a:r>
          </a:p>
        </p:txBody>
      </p:sp>
      <p:sp>
        <p:nvSpPr>
          <p:cNvPr id="24" name="TextBox 23"/>
          <p:cNvSpPr txBox="1"/>
          <p:nvPr/>
        </p:nvSpPr>
        <p:spPr>
          <a:xfrm>
            <a:off x="6803136" y="4288536"/>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Limitations and future work</a:t>
            </a:r>
          </a:p>
        </p:txBody>
      </p:sp>
      <p:sp>
        <p:nvSpPr>
          <p:cNvPr id="25" name="Oval 24"/>
          <p:cNvSpPr/>
          <p:nvPr/>
        </p:nvSpPr>
        <p:spPr>
          <a:xfrm>
            <a:off x="6236208" y="485546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12</a:t>
            </a:r>
          </a:p>
        </p:txBody>
      </p:sp>
      <p:sp>
        <p:nvSpPr>
          <p:cNvPr id="26" name="TextBox 25"/>
          <p:cNvSpPr txBox="1"/>
          <p:nvPr/>
        </p:nvSpPr>
        <p:spPr>
          <a:xfrm>
            <a:off x="6803136" y="485546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Introduction: the problem we set out to solve</a:t>
            </a:r>
          </a:p>
        </p:txBody>
      </p:sp>
      <p:sp>
        <p:nvSpPr>
          <p:cNvPr id="3" name="Rounded Rectangle 2"/>
          <p:cNvSpPr/>
          <p:nvPr/>
        </p:nvSpPr>
        <p:spPr>
          <a:xfrm>
            <a:off x="566928" y="1783080"/>
            <a:ext cx="53949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Ghost workers</a:t>
            </a:r>
          </a:p>
        </p:txBody>
      </p:sp>
      <p:sp>
        <p:nvSpPr>
          <p:cNvPr id="5" name="TextBox 4"/>
          <p:cNvSpPr txBox="1"/>
          <p:nvPr/>
        </p:nvSpPr>
        <p:spPr>
          <a:xfrm>
            <a:off x="731520" y="2386584"/>
            <a:ext cx="5065776" cy="118872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name sits on the payroll and is paid every month, but no such person ever works. It needs only a supervisor who writes the attendance sheet and a clerk who trusts it.</a:t>
            </a:r>
          </a:p>
        </p:txBody>
      </p:sp>
      <p:sp>
        <p:nvSpPr>
          <p:cNvPr id="6" name="Rounded Rectangle 5"/>
          <p:cNvSpPr/>
          <p:nvPr/>
        </p:nvSpPr>
        <p:spPr>
          <a:xfrm>
            <a:off x="6236208" y="1783080"/>
            <a:ext cx="53949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Buddy punching</a:t>
            </a:r>
          </a:p>
        </p:txBody>
      </p:sp>
      <p:sp>
        <p:nvSpPr>
          <p:cNvPr id="8" name="TextBox 7"/>
          <p:cNvSpPr txBox="1"/>
          <p:nvPr/>
        </p:nvSpPr>
        <p:spPr>
          <a:xfrm>
            <a:off x="6400800" y="2386584"/>
            <a:ext cx="5065776" cy="118872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real guard signs the attendance book for a friend who stayed at home. The friend is paid for a shift nobody worked.</a:t>
            </a:r>
          </a:p>
        </p:txBody>
      </p:sp>
      <p:sp>
        <p:nvSpPr>
          <p:cNvPr id="9" name="Rounded Rectangle 8"/>
          <p:cNvSpPr/>
          <p:nvPr/>
        </p:nvSpPr>
        <p:spPr>
          <a:xfrm>
            <a:off x="566928" y="3977640"/>
            <a:ext cx="11064240" cy="150876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841248" y="4114800"/>
            <a:ext cx="10515600" cy="1280160"/>
          </a:xfrm>
          <a:prstGeom prst="rect">
            <a:avLst/>
          </a:prstGeom>
          <a:noFill/>
        </p:spPr>
        <p:txBody>
          <a:bodyPr wrap="square" lIns="45720" rIns="45720" tIns="27432" bIns="27432">
            <a:spAutoFit/>
          </a:bodyPr>
          <a:lstStyle/>
          <a:p>
            <a:pPr algn="l">
              <a:lnSpc>
                <a:spcPct val="108000"/>
              </a:lnSpc>
              <a:spcAft>
                <a:spcPts val="400"/>
              </a:spcAft>
            </a:pPr>
            <a:r>
              <a:rPr sz="1500" b="1">
                <a:solidFill>
                  <a:srgbClr val="E9DFC9"/>
                </a:solidFill>
                <a:latin typeface="Calibri"/>
              </a:rPr>
              <a:t>Why it persists</a:t>
            </a:r>
          </a:p>
          <a:p>
            <a:pPr algn="l">
              <a:lnSpc>
                <a:spcPct val="108000"/>
              </a:lnSpc>
              <a:spcAft>
                <a:spcPts val="400"/>
              </a:spcAft>
            </a:pPr>
            <a:r>
              <a:rPr sz="1400" b="0">
                <a:solidFill>
                  <a:srgbClr val="FFFFFF"/>
                </a:solidFill>
                <a:latin typeface="Calibri"/>
              </a:rPr>
              <a:t>Attendance is a paper book and payroll is a spreadsheet, so the head office cannot see who stood at a gate last night. Both frauds are paid for with the client’s fee, and a company that cannot prove presence cannot defend its invoice 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Problem statement</a:t>
            </a:r>
          </a:p>
        </p:txBody>
      </p:sp>
      <p:sp>
        <p:nvSpPr>
          <p:cNvPr id="3" name="Rounded Rectangle 2"/>
          <p:cNvSpPr/>
          <p:nvPr/>
        </p:nvSpPr>
        <p:spPr>
          <a:xfrm>
            <a:off x="566928" y="178308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Presence is not proven</a:t>
            </a:r>
          </a:p>
        </p:txBody>
      </p:sp>
      <p:sp>
        <p:nvSpPr>
          <p:cNvPr id="6" name="TextBox 5"/>
          <p:cNvSpPr txBox="1"/>
          <p:nvPr/>
        </p:nvSpPr>
        <p:spPr>
          <a:xfrm>
            <a:off x="731520" y="238658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signature in a book proves nothing. Attendance records can be written by the very people who benefit from false ones.</a:t>
            </a:r>
          </a:p>
        </p:txBody>
      </p:sp>
      <p:sp>
        <p:nvSpPr>
          <p:cNvPr id="7" name="Rounded Rectangle 6"/>
          <p:cNvSpPr/>
          <p:nvPr/>
        </p:nvSpPr>
        <p:spPr>
          <a:xfrm>
            <a:off x="566928" y="297180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731520" y="313639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1225296" y="309981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Pay is typed, not calculated</a:t>
            </a:r>
          </a:p>
        </p:txBody>
      </p:sp>
      <p:sp>
        <p:nvSpPr>
          <p:cNvPr id="10" name="TextBox 9"/>
          <p:cNvSpPr txBox="1"/>
          <p:nvPr/>
        </p:nvSpPr>
        <p:spPr>
          <a:xfrm>
            <a:off x="731520" y="357530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Salaries are entered into a spreadsheet by hand, so pay is not tied to any evidence of work.</a:t>
            </a:r>
          </a:p>
        </p:txBody>
      </p:sp>
      <p:sp>
        <p:nvSpPr>
          <p:cNvPr id="11" name="Rounded Rectangle 10"/>
          <p:cNvSpPr/>
          <p:nvPr/>
        </p:nvSpPr>
        <p:spPr>
          <a:xfrm>
            <a:off x="566928" y="416052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731520" y="432511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1225296" y="428853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Nothing is auditable</a:t>
            </a:r>
          </a:p>
        </p:txBody>
      </p:sp>
      <p:sp>
        <p:nvSpPr>
          <p:cNvPr id="14" name="TextBox 13"/>
          <p:cNvSpPr txBox="1"/>
          <p:nvPr/>
        </p:nvSpPr>
        <p:spPr>
          <a:xfrm>
            <a:off x="731520" y="476402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Records can be edited silently, so after the fact nobody can tell what really happened or who changed what.</a:t>
            </a:r>
          </a:p>
        </p:txBody>
      </p:sp>
      <p:sp>
        <p:nvSpPr>
          <p:cNvPr id="15" name="TextBox 14"/>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The gap: no system that links who a worker is, whether they were present, and what they are paid, in one tamper-evident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Aim and objectives</a:t>
            </a:r>
          </a:p>
        </p:txBody>
      </p:sp>
      <p:sp>
        <p:nvSpPr>
          <p:cNvPr id="3" name="Rounded Rectangle 2"/>
          <p:cNvSpPr/>
          <p:nvPr/>
        </p:nvSpPr>
        <p:spPr>
          <a:xfrm>
            <a:off x="566928" y="1783080"/>
            <a:ext cx="11064240" cy="86868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892808"/>
            <a:ext cx="10515600" cy="685800"/>
          </a:xfrm>
          <a:prstGeom prst="rect">
            <a:avLst/>
          </a:prstGeom>
          <a:noFill/>
        </p:spPr>
        <p:txBody>
          <a:bodyPr wrap="square" lIns="45720" rIns="45720" tIns="27432" bIns="27432">
            <a:spAutoFit/>
          </a:bodyPr>
          <a:lstStyle/>
          <a:p>
            <a:pPr algn="l">
              <a:lnSpc>
                <a:spcPct val="108000"/>
              </a:lnSpc>
              <a:spcAft>
                <a:spcPts val="400"/>
              </a:spcAft>
            </a:pPr>
            <a:r>
              <a:rPr sz="1500" b="1">
                <a:solidFill>
                  <a:srgbClr val="E9DFC9"/>
                </a:solidFill>
                <a:latin typeface="Calibri"/>
              </a:rPr>
              <a:t>Aim: </a:t>
            </a:r>
          </a:p>
        </p:txBody>
      </p:sp>
      <p:sp>
        <p:nvSpPr>
          <p:cNvPr id="5" name="TextBox 4"/>
          <p:cNvSpPr txBox="1"/>
          <p:nvPr/>
        </p:nvSpPr>
        <p:spPr>
          <a:xfrm>
            <a:off x="1572768" y="1892808"/>
            <a:ext cx="9692640" cy="685800"/>
          </a:xfrm>
          <a:prstGeom prst="rect">
            <a:avLst/>
          </a:prstGeom>
          <a:noFill/>
        </p:spPr>
        <p:txBody>
          <a:bodyPr wrap="square" lIns="45720" rIns="45720" tIns="27432" bIns="27432">
            <a:spAutoFit/>
          </a:bodyPr>
          <a:lstStyle/>
          <a:p>
            <a:pPr algn="l">
              <a:lnSpc>
                <a:spcPct val="108000"/>
              </a:lnSpc>
              <a:spcAft>
                <a:spcPts val="400"/>
              </a:spcAft>
            </a:pPr>
            <a:r>
              <a:rPr sz="1500" b="0">
                <a:solidFill>
                  <a:srgbClr val="FFFFFF"/>
                </a:solidFill>
                <a:latin typeface="Calibri"/>
              </a:rPr>
              <a:t>to build a system that pays security guards only from biometric proof of presence at the site, and keeps that proof so every payment can be audited.</a:t>
            </a:r>
          </a:p>
        </p:txBody>
      </p:sp>
      <p:sp>
        <p:nvSpPr>
          <p:cNvPr id="6" name="Rounded Rectangle 5"/>
          <p:cNvSpPr/>
          <p:nvPr/>
        </p:nvSpPr>
        <p:spPr>
          <a:xfrm>
            <a:off x="566928"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Oval 6"/>
          <p:cNvSpPr/>
          <p:nvPr/>
        </p:nvSpPr>
        <p:spPr>
          <a:xfrm>
            <a:off x="731520"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8" name="TextBox 7"/>
          <p:cNvSpPr txBox="1"/>
          <p:nvPr/>
        </p:nvSpPr>
        <p:spPr>
          <a:xfrm>
            <a:off x="1225296"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Identity</a:t>
            </a:r>
          </a:p>
        </p:txBody>
      </p:sp>
      <p:sp>
        <p:nvSpPr>
          <p:cNvPr id="9" name="TextBox 8"/>
          <p:cNvSpPr txBox="1"/>
          <p:nvPr/>
        </p:nvSpPr>
        <p:spPr>
          <a:xfrm>
            <a:off x="731520"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Enrol each worker once, with their Ghana Card and their face, and refuse a second record for the same person.</a:t>
            </a:r>
          </a:p>
        </p:txBody>
      </p:sp>
      <p:sp>
        <p:nvSpPr>
          <p:cNvPr id="10" name="Rounded Rectangle 9"/>
          <p:cNvSpPr/>
          <p:nvPr/>
        </p:nvSpPr>
        <p:spPr>
          <a:xfrm>
            <a:off x="2798064"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1" name="Oval 10"/>
          <p:cNvSpPr/>
          <p:nvPr/>
        </p:nvSpPr>
        <p:spPr>
          <a:xfrm>
            <a:off x="2962656"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12" name="TextBox 11"/>
          <p:cNvSpPr txBox="1"/>
          <p:nvPr/>
        </p:nvSpPr>
        <p:spPr>
          <a:xfrm>
            <a:off x="3456432"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Presence</a:t>
            </a:r>
          </a:p>
        </p:txBody>
      </p:sp>
      <p:sp>
        <p:nvSpPr>
          <p:cNvPr id="13" name="TextBox 12"/>
          <p:cNvSpPr txBox="1"/>
          <p:nvPr/>
        </p:nvSpPr>
        <p:spPr>
          <a:xfrm>
            <a:off x="2962656"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Record clock-ins with a face on a company device at the site, signed by the device, and pair them into worked shifts.</a:t>
            </a:r>
          </a:p>
        </p:txBody>
      </p:sp>
      <p:sp>
        <p:nvSpPr>
          <p:cNvPr id="14" name="Rounded Rectangle 13"/>
          <p:cNvSpPr/>
          <p:nvPr/>
        </p:nvSpPr>
        <p:spPr>
          <a:xfrm>
            <a:off x="5029200"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5" name="Oval 14"/>
          <p:cNvSpPr/>
          <p:nvPr/>
        </p:nvSpPr>
        <p:spPr>
          <a:xfrm>
            <a:off x="5193792"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6" name="TextBox 15"/>
          <p:cNvSpPr txBox="1"/>
          <p:nvPr/>
        </p:nvSpPr>
        <p:spPr>
          <a:xfrm>
            <a:off x="5687568"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Pay</a:t>
            </a:r>
          </a:p>
        </p:txBody>
      </p:sp>
      <p:sp>
        <p:nvSpPr>
          <p:cNvPr id="17" name="TextBox 16"/>
          <p:cNvSpPr txBox="1"/>
          <p:nvPr/>
        </p:nvSpPr>
        <p:spPr>
          <a:xfrm>
            <a:off x="5193792"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Calculate Ghanaian payroll (overtime, SSNIT, PAYE) from those shifts, lock it once approved, and pay it through the bank.</a:t>
            </a:r>
          </a:p>
        </p:txBody>
      </p:sp>
      <p:sp>
        <p:nvSpPr>
          <p:cNvPr id="18" name="Rounded Rectangle 17"/>
          <p:cNvSpPr/>
          <p:nvPr/>
        </p:nvSpPr>
        <p:spPr>
          <a:xfrm>
            <a:off x="7260336"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Oval 18"/>
          <p:cNvSpPr/>
          <p:nvPr/>
        </p:nvSpPr>
        <p:spPr>
          <a:xfrm>
            <a:off x="7424928"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20" name="TextBox 19"/>
          <p:cNvSpPr txBox="1"/>
          <p:nvPr/>
        </p:nvSpPr>
        <p:spPr>
          <a:xfrm>
            <a:off x="7918704"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Detection</a:t>
            </a:r>
          </a:p>
        </p:txBody>
      </p:sp>
      <p:sp>
        <p:nvSpPr>
          <p:cNvPr id="21" name="TextBox 20"/>
          <p:cNvSpPr txBox="1"/>
          <p:nvPr/>
        </p:nvSpPr>
        <p:spPr>
          <a:xfrm>
            <a:off x="7424928"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Run rules every night that find pay without presence and raise alerts for a person to answer.</a:t>
            </a:r>
          </a:p>
        </p:txBody>
      </p:sp>
      <p:sp>
        <p:nvSpPr>
          <p:cNvPr id="22" name="Rounded Rectangle 21"/>
          <p:cNvSpPr/>
          <p:nvPr/>
        </p:nvSpPr>
        <p:spPr>
          <a:xfrm>
            <a:off x="9491472"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3" name="Oval 22"/>
          <p:cNvSpPr/>
          <p:nvPr/>
        </p:nvSpPr>
        <p:spPr>
          <a:xfrm>
            <a:off x="9656064"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5</a:t>
            </a:r>
          </a:p>
        </p:txBody>
      </p:sp>
      <p:sp>
        <p:nvSpPr>
          <p:cNvPr id="24" name="TextBox 23"/>
          <p:cNvSpPr txBox="1"/>
          <p:nvPr/>
        </p:nvSpPr>
        <p:spPr>
          <a:xfrm>
            <a:off x="10149840"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Security</a:t>
            </a:r>
          </a:p>
        </p:txBody>
      </p:sp>
      <p:sp>
        <p:nvSpPr>
          <p:cNvPr id="25" name="TextBox 24"/>
          <p:cNvSpPr txBox="1"/>
          <p:nvPr/>
        </p:nvSpPr>
        <p:spPr>
          <a:xfrm>
            <a:off x="9656064"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Keep evidence append-only, confirm sensitive actions with the administrator’s password, and audit everything.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Scope</a:t>
            </a:r>
          </a:p>
        </p:txBody>
      </p:sp>
      <p:sp>
        <p:nvSpPr>
          <p:cNvPr id="3" name="Rounded Rectangle 2"/>
          <p:cNvSpPr/>
          <p:nvPr/>
        </p:nvSpPr>
        <p:spPr>
          <a:xfrm>
            <a:off x="566928" y="1783080"/>
            <a:ext cx="5394960" cy="39319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1E7A46"/>
                </a:solidFill>
                <a:latin typeface="Calibri"/>
              </a:rPr>
              <a:t>In scope</a:t>
            </a:r>
          </a:p>
        </p:txBody>
      </p:sp>
      <p:sp>
        <p:nvSpPr>
          <p:cNvPr id="5" name="TextBox 4"/>
          <p:cNvSpPr txBox="1"/>
          <p:nvPr/>
        </p:nvSpPr>
        <p:spPr>
          <a:xfrm>
            <a:off x="731520" y="2386584"/>
            <a:ext cx="5065776" cy="320040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  Security companies in Ghana: guards, sites, supervisors, head office</a:t>
            </a:r>
          </a:p>
          <a:p>
            <a:pPr algn="l">
              <a:lnSpc>
                <a:spcPct val="108000"/>
              </a:lnSpc>
              <a:spcAft>
                <a:spcPts val="300"/>
              </a:spcAft>
            </a:pPr>
            <a:r>
              <a:rPr sz="1300" b="0">
                <a:solidFill>
                  <a:srgbClr val="1A1A2E"/>
                </a:solidFill>
                <a:latin typeface="Calibri"/>
              </a:rPr>
              <a:t>•  Face recognition on a company kiosk (phone or tablet) at the site, with a fingerprint on the kiosk’s own sensor as a second way</a:t>
            </a:r>
          </a:p>
          <a:p>
            <a:pPr algn="l">
              <a:lnSpc>
                <a:spcPct val="108000"/>
              </a:lnSpc>
              <a:spcAft>
                <a:spcPts val="300"/>
              </a:spcAft>
            </a:pPr>
            <a:r>
              <a:rPr sz="1300" b="0">
                <a:solidFill>
                  <a:srgbClr val="1A1A2E"/>
                </a:solidFill>
                <a:latin typeface="Calibri"/>
              </a:rPr>
              <a:t>•  Fingerprint terminals (ZKTeco) through a site gateway</a:t>
            </a:r>
          </a:p>
          <a:p>
            <a:pPr algn="l">
              <a:lnSpc>
                <a:spcPct val="108000"/>
              </a:lnSpc>
              <a:spcAft>
                <a:spcPts val="300"/>
              </a:spcAft>
            </a:pPr>
            <a:r>
              <a:rPr sz="1300" b="0">
                <a:solidFill>
                  <a:srgbClr val="1A1A2E"/>
                </a:solidFill>
                <a:latin typeface="Calibri"/>
              </a:rPr>
              <a:t>•  Attendance, exceptions and a live board</a:t>
            </a:r>
          </a:p>
          <a:p>
            <a:pPr algn="l">
              <a:lnSpc>
                <a:spcPct val="108000"/>
              </a:lnSpc>
              <a:spcAft>
                <a:spcPts val="300"/>
              </a:spcAft>
            </a:pPr>
            <a:r>
              <a:rPr sz="1300" b="0">
                <a:solidFill>
                  <a:srgbClr val="1A1A2E"/>
                </a:solidFill>
                <a:latin typeface="Calibri"/>
              </a:rPr>
              <a:t>•  Payroll to Ghanaian rules, payslips, bank file, payment receipts, client invoices</a:t>
            </a:r>
          </a:p>
          <a:p>
            <a:pPr algn="l">
              <a:lnSpc>
                <a:spcPct val="108000"/>
              </a:lnSpc>
              <a:spcAft>
                <a:spcPts val="300"/>
              </a:spcAft>
            </a:pPr>
            <a:r>
              <a:rPr sz="1300" b="0">
                <a:solidFill>
                  <a:srgbClr val="1A1A2E"/>
                </a:solidFill>
                <a:latin typeface="Calibri"/>
              </a:rPr>
              <a:t>•  Ghost detection with eleven rules</a:t>
            </a:r>
          </a:p>
          <a:p>
            <a:pPr algn="l">
              <a:lnSpc>
                <a:spcPct val="108000"/>
              </a:lnSpc>
              <a:spcAft>
                <a:spcPts val="300"/>
              </a:spcAft>
            </a:pPr>
            <a:r>
              <a:rPr sz="1300" b="0">
                <a:solidFill>
                  <a:srgbClr val="1A1A2E"/>
                </a:solidFill>
                <a:latin typeface="Calibri"/>
              </a:rPr>
              <a:t>•  Roles, two-factor sign-in, audit log, data-protection consent</a:t>
            </a:r>
          </a:p>
        </p:txBody>
      </p:sp>
      <p:sp>
        <p:nvSpPr>
          <p:cNvPr id="6" name="Rounded Rectangle 5"/>
          <p:cNvSpPr/>
          <p:nvPr/>
        </p:nvSpPr>
        <p:spPr>
          <a:xfrm>
            <a:off x="6236208" y="1783080"/>
            <a:ext cx="5394960" cy="39319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Out of scope</a:t>
            </a:r>
          </a:p>
        </p:txBody>
      </p:sp>
      <p:sp>
        <p:nvSpPr>
          <p:cNvPr id="8" name="TextBox 7"/>
          <p:cNvSpPr txBox="1"/>
          <p:nvPr/>
        </p:nvSpPr>
        <p:spPr>
          <a:xfrm>
            <a:off x="6400800" y="2386584"/>
            <a:ext cx="5065776" cy="320040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  Clocking in from the guard’s own phone (many guards have none, and a phone can clock in from a bed)</a:t>
            </a:r>
          </a:p>
          <a:p>
            <a:pPr algn="l">
              <a:lnSpc>
                <a:spcPct val="108000"/>
              </a:lnSpc>
              <a:spcAft>
                <a:spcPts val="300"/>
              </a:spcAft>
            </a:pPr>
            <a:r>
              <a:rPr sz="1300" b="0">
                <a:solidFill>
                  <a:srgbClr val="1A1A2E"/>
                </a:solidFill>
                <a:latin typeface="Calibri"/>
              </a:rPr>
              <a:t>•  A live connection to a bank’s payment API: the bank runs the exported file; the system records the payment and its reference</a:t>
            </a:r>
          </a:p>
          <a:p>
            <a:pPr algn="l">
              <a:lnSpc>
                <a:spcPct val="108000"/>
              </a:lnSpc>
              <a:spcAft>
                <a:spcPts val="300"/>
              </a:spcAft>
            </a:pPr>
            <a:r>
              <a:rPr sz="1300" b="0">
                <a:solidFill>
                  <a:srgbClr val="1A1A2E"/>
                </a:solidFill>
                <a:latin typeface="Calibri"/>
              </a:rPr>
              <a:t>•  Leave, loans and HR workflows beyond attendance and pay</a:t>
            </a:r>
          </a:p>
          <a:p>
            <a:pPr algn="l">
              <a:lnSpc>
                <a:spcPct val="108000"/>
              </a:lnSpc>
              <a:spcAft>
                <a:spcPts val="300"/>
              </a:spcAft>
            </a:pPr>
            <a:r>
              <a:rPr sz="1300" b="0">
                <a:solidFill>
                  <a:srgbClr val="1A1A2E"/>
                </a:solidFill>
                <a:latin typeface="Calibri"/>
              </a:rPr>
              <a:t>•  Infrared or 3D anti-spoofing hardware (recommended for production)</a:t>
            </a:r>
          </a:p>
          <a:p>
            <a:pPr algn="l">
              <a:lnSpc>
                <a:spcPct val="108000"/>
              </a:lnSpc>
              <a:spcAft>
                <a:spcPts val="300"/>
              </a:spcAft>
            </a:pPr>
            <a:r>
              <a:rPr sz="1300" b="0">
                <a:solidFill>
                  <a:srgbClr val="1A1A2E"/>
                </a:solidFill>
                <a:latin typeface="Calibri"/>
              </a:rPr>
              <a:t>•  A pilot with real volunteers to tune face thresholds (planned, not done)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Related work: how presence and pay are handled today</a:t>
            </a:r>
          </a:p>
        </p:txBody>
      </p:sp>
      <p:graphicFrame>
        <p:nvGraphicFramePr>
          <p:cNvPr id="3" name="Table 2"/>
          <p:cNvGraphicFramePr>
            <a:graphicFrameLocks noGrp="1"/>
          </p:cNvGraphicFramePr>
          <p:nvPr/>
        </p:nvGraphicFramePr>
        <p:xfrm>
          <a:off x="566928" y="1783080"/>
          <a:ext cx="11064240" cy="3401568"/>
        </p:xfrm>
        <a:graphic>
          <a:graphicData uri="http://schemas.openxmlformats.org/drawingml/2006/table">
            <a:tbl>
              <a:tblPr firstRow="1" bandRow="1">
                <a:tableStyleId>{5C22544A-7EE6-4342-B048-85BDC9FD1C3A}</a:tableStyleId>
              </a:tblPr>
              <a:tblGrid>
                <a:gridCol w="2286000"/>
                <a:gridCol w="1920240"/>
                <a:gridCol w="1737360"/>
                <a:gridCol w="1828800"/>
                <a:gridCol w="1371600"/>
                <a:gridCol w="1920240"/>
              </a:tblGrid>
              <a:tr h="566928">
                <a:tc>
                  <a:txBody>
                    <a:bodyPr wrap="square"/>
                    <a:lstStyle/>
                    <a:p>
                      <a:r>
                        <a:rPr sz="1100" b="1">
                          <a:solidFill>
                            <a:srgbClr val="FFFFFF"/>
                          </a:solidFill>
                          <a:latin typeface="Calibri"/>
                        </a:rPr>
                        <a:t>Approach</a:t>
                      </a:r>
                    </a:p>
                  </a:txBody>
                  <a:tcPr marL="73152" marR="73152" marT="36576" marB="36576" anchor="ctr">
                    <a:solidFill>
                      <a:srgbClr val="000066"/>
                    </a:solidFill>
                  </a:tcPr>
                </a:tc>
                <a:tc>
                  <a:txBody>
                    <a:bodyPr wrap="square"/>
                    <a:lstStyle/>
                    <a:p>
                      <a:r>
                        <a:rPr sz="1100" b="1">
                          <a:solidFill>
                            <a:srgbClr val="FFFFFF"/>
                          </a:solidFill>
                          <a:latin typeface="Calibri"/>
                        </a:rPr>
                        <a:t>Proves presence?</a:t>
                      </a:r>
                    </a:p>
                  </a:txBody>
                  <a:tcPr marL="73152" marR="73152" marT="36576" marB="36576" anchor="ctr">
                    <a:solidFill>
                      <a:srgbClr val="000066"/>
                    </a:solidFill>
                  </a:tcPr>
                </a:tc>
                <a:tc>
                  <a:txBody>
                    <a:bodyPr wrap="square"/>
                    <a:lstStyle/>
                    <a:p>
                      <a:r>
                        <a:rPr sz="1100" b="1">
                          <a:solidFill>
                            <a:srgbClr val="FFFFFF"/>
                          </a:solidFill>
                          <a:latin typeface="Calibri"/>
                        </a:rPr>
                        <a:t>Tied to pay?</a:t>
                      </a:r>
                    </a:p>
                  </a:txBody>
                  <a:tcPr marL="73152" marR="73152" marT="36576" marB="36576" anchor="ctr">
                    <a:solidFill>
                      <a:srgbClr val="000066"/>
                    </a:solidFill>
                  </a:tcPr>
                </a:tc>
                <a:tc>
                  <a:txBody>
                    <a:bodyPr wrap="square"/>
                    <a:lstStyle/>
                    <a:p>
                      <a:r>
                        <a:rPr sz="1100" b="1">
                          <a:solidFill>
                            <a:srgbClr val="FFFFFF"/>
                          </a:solidFill>
                          <a:latin typeface="Calibri"/>
                        </a:rPr>
                        <a:t>Works without a guard’s phone?</a:t>
                      </a:r>
                    </a:p>
                  </a:txBody>
                  <a:tcPr marL="73152" marR="73152" marT="36576" marB="36576" anchor="ctr">
                    <a:solidFill>
                      <a:srgbClr val="000066"/>
                    </a:solidFill>
                  </a:tcPr>
                </a:tc>
                <a:tc>
                  <a:txBody>
                    <a:bodyPr wrap="square"/>
                    <a:lstStyle/>
                    <a:p>
                      <a:r>
                        <a:rPr sz="1100" b="1">
                          <a:solidFill>
                            <a:srgbClr val="FFFFFF"/>
                          </a:solidFill>
                          <a:latin typeface="Calibri"/>
                        </a:rPr>
                        <a:t>Auditable?</a:t>
                      </a:r>
                    </a:p>
                  </a:txBody>
                  <a:tcPr marL="73152" marR="73152" marT="36576" marB="36576" anchor="ctr">
                    <a:solidFill>
                      <a:srgbClr val="000066"/>
                    </a:solidFill>
                  </a:tcPr>
                </a:tc>
                <a:tc>
                  <a:txBody>
                    <a:bodyPr wrap="square"/>
                    <a:lstStyle/>
                    <a:p>
                      <a:r>
                        <a:rPr sz="1100" b="1">
                          <a:solidFill>
                            <a:srgbClr val="FFFFFF"/>
                          </a:solidFill>
                          <a:latin typeface="Calibri"/>
                        </a:rPr>
                        <a:t>Weakness</a:t>
                      </a:r>
                    </a:p>
                  </a:txBody>
                  <a:tcPr marL="73152" marR="73152" marT="36576" marB="36576" anchor="ctr">
                    <a:solidFill>
                      <a:srgbClr val="000066"/>
                    </a:solidFill>
                  </a:tcPr>
                </a:tc>
              </a:tr>
              <a:tr h="566928">
                <a:tc>
                  <a:txBody>
                    <a:bodyPr wrap="square"/>
                    <a:lstStyle/>
                    <a:p>
                      <a:r>
                        <a:rPr sz="1100" b="1">
                          <a:solidFill>
                            <a:srgbClr val="1A1A2E"/>
                          </a:solidFill>
                          <a:latin typeface="Calibri"/>
                        </a:rPr>
                        <a:t>Paper register and spreadsheet</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Written by the people who benefit</a:t>
                      </a:r>
                    </a:p>
                  </a:txBody>
                  <a:tcPr marL="73152" marR="73152" marT="36576" marB="36576" anchor="ctr">
                    <a:solidFill>
                      <a:srgbClr val="FFFFFF"/>
                    </a:solidFill>
                  </a:tcPr>
                </a:tc>
              </a:tr>
              <a:tr h="566928">
                <a:tc>
                  <a:txBody>
                    <a:bodyPr wrap="square"/>
                    <a:lstStyle/>
                    <a:p>
                      <a:r>
                        <a:rPr sz="1100" b="1">
                          <a:solidFill>
                            <a:srgbClr val="1A1A2E"/>
                          </a:solidFill>
                          <a:latin typeface="Calibri"/>
                        </a:rPr>
                        <a:t>Card or PIN clocking</a:t>
                      </a:r>
                    </a:p>
                  </a:txBody>
                  <a:tcPr marL="73152" marR="73152" marT="36576" marB="36576" anchor="ctr">
                    <a:solidFill>
                      <a:srgbClr val="F7F7FA"/>
                    </a:solidFill>
                  </a:tcPr>
                </a:tc>
                <a:tc>
                  <a:txBody>
                    <a:bodyPr wrap="square"/>
                    <a:lstStyle/>
                    <a:p>
                      <a:r>
                        <a:rPr sz="1100" b="0">
                          <a:solidFill>
                            <a:srgbClr val="1A1A2E"/>
                          </a:solidFill>
                          <a:latin typeface="Calibri"/>
                        </a:rPr>
                        <a:t>Weak</a:t>
                      </a:r>
                    </a:p>
                  </a:txBody>
                  <a:tcPr marL="73152" marR="73152" marT="36576" marB="36576" anchor="ctr">
                    <a:solidFill>
                      <a:srgbClr val="F7F7FA"/>
                    </a:solidFill>
                  </a:tcPr>
                </a:tc>
                <a:tc>
                  <a:txBody>
                    <a:bodyPr wrap="square"/>
                    <a:lstStyle/>
                    <a:p>
                      <a:r>
                        <a:rPr sz="1100" b="0">
                          <a:solidFill>
                            <a:srgbClr val="1A1A2E"/>
                          </a:solidFill>
                          <a:latin typeface="Calibri"/>
                        </a:rPr>
                        <a:t>Rarely</a:t>
                      </a:r>
                    </a:p>
                  </a:txBody>
                  <a:tcPr marL="73152" marR="73152" marT="36576" marB="36576" anchor="ctr">
                    <a:solidFill>
                      <a:srgbClr val="F7F7FA"/>
                    </a:solidFill>
                  </a:tcPr>
                </a:tc>
                <a:tc>
                  <a:txBody>
                    <a:bodyPr wrap="square"/>
                    <a:lstStyle/>
                    <a:p>
                      <a:r>
                        <a:rPr sz="1100" b="0">
                          <a:solidFill>
                            <a:srgbClr val="1A1A2E"/>
                          </a:solidFill>
                          <a:latin typeface="Calibri"/>
                        </a:rPr>
                        <a:t>Yes</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Cards and PINs are shared</a:t>
                      </a:r>
                    </a:p>
                  </a:txBody>
                  <a:tcPr marL="73152" marR="73152" marT="36576" marB="36576" anchor="ctr">
                    <a:solidFill>
                      <a:srgbClr val="F7F7FA"/>
                    </a:solidFill>
                  </a:tcPr>
                </a:tc>
              </a:tr>
              <a:tr h="566928">
                <a:tc>
                  <a:txBody>
                    <a:bodyPr wrap="square"/>
                    <a:lstStyle/>
                    <a:p>
                      <a:r>
                        <a:rPr sz="1100" b="1">
                          <a:solidFill>
                            <a:srgbClr val="1A1A2E"/>
                          </a:solidFill>
                          <a:latin typeface="Calibri"/>
                        </a:rPr>
                        <a:t>Stand-alone biometric terminal</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Partly</a:t>
                      </a:r>
                    </a:p>
                  </a:txBody>
                  <a:tcPr marL="73152" marR="73152" marT="36576" marB="36576" anchor="ctr">
                    <a:solidFill>
                      <a:srgbClr val="FFFFFF"/>
                    </a:solidFill>
                  </a:tcPr>
                </a:tc>
                <a:tc>
                  <a:txBody>
                    <a:bodyPr wrap="square"/>
                    <a:lstStyle/>
                    <a:p>
                      <a:r>
                        <a:rPr sz="1100" b="0">
                          <a:solidFill>
                            <a:srgbClr val="1A1A2E"/>
                          </a:solidFill>
                          <a:latin typeface="Calibri"/>
                        </a:rPr>
                        <a:t>Attendance and payroll stay separate</a:t>
                      </a:r>
                    </a:p>
                  </a:txBody>
                  <a:tcPr marL="73152" marR="73152" marT="36576" marB="36576" anchor="ctr">
                    <a:solidFill>
                      <a:srgbClr val="FFFFFF"/>
                    </a:solidFill>
                  </a:tcPr>
                </a:tc>
              </a:tr>
              <a:tr h="566928">
                <a:tc>
                  <a:txBody>
                    <a:bodyPr wrap="square"/>
                    <a:lstStyle/>
                    <a:p>
                      <a:r>
                        <a:rPr sz="1100" b="1">
                          <a:solidFill>
                            <a:srgbClr val="1A1A2E"/>
                          </a:solidFill>
                          <a:latin typeface="Calibri"/>
                        </a:rPr>
                        <a:t>Phone-based attendance apps</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Rarely</a:t>
                      </a:r>
                    </a:p>
                  </a:txBody>
                  <a:tcPr marL="73152" marR="73152" marT="36576" marB="36576" anchor="ctr">
                    <a:solidFill>
                      <a:srgbClr val="F7F7FA"/>
                    </a:solidFill>
                  </a:tcPr>
                </a:tc>
                <a:tc>
                  <a:txBody>
                    <a:bodyPr wrap="square"/>
                    <a:lstStyle/>
                    <a:p>
                      <a:r>
                        <a:rPr sz="1100" b="0">
                          <a:solidFill>
                            <a:srgbClr val="1A1A2E"/>
                          </a:solidFill>
                          <a:latin typeface="Calibri"/>
                        </a:rPr>
                        <a:t>No</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Needs a phone; location can be faked</a:t>
                      </a:r>
                    </a:p>
                  </a:txBody>
                  <a:tcPr marL="73152" marR="73152" marT="36576" marB="36576" anchor="ctr">
                    <a:solidFill>
                      <a:srgbClr val="F7F7FA"/>
                    </a:solidFill>
                  </a:tcPr>
                </a:tc>
              </a:tr>
              <a:tr h="566928">
                <a:tc>
                  <a:txBody>
                    <a:bodyPr wrap="square"/>
                    <a:lstStyle/>
                    <a:p>
                      <a:r>
                        <a:rPr sz="1100" b="1">
                          <a:solidFill>
                            <a:srgbClr val="1A1A2E"/>
                          </a:solidFill>
                          <a:latin typeface="Calibri"/>
                        </a:rPr>
                        <a:t>SAMTEC</a:t>
                      </a:r>
                    </a:p>
                  </a:txBody>
                  <a:tcPr marL="73152" marR="73152" marT="36576" marB="36576" anchor="ctr">
                    <a:solidFill>
                      <a:srgbClr val="FFFFFF"/>
                    </a:solidFill>
                  </a:tcPr>
                </a:tc>
                <a:tc>
                  <a:txBody>
                    <a:bodyPr wrap="square"/>
                    <a:lstStyle/>
                    <a:p>
                      <a:r>
                        <a:rPr sz="1100" b="0">
                          <a:solidFill>
                            <a:srgbClr val="1A1A2E"/>
                          </a:solidFill>
                          <a:latin typeface="Calibri"/>
                        </a:rPr>
                        <a:t>Yes: face, head turn, device signature</a:t>
                      </a:r>
                    </a:p>
                  </a:txBody>
                  <a:tcPr marL="73152" marR="73152" marT="36576" marB="36576" anchor="ctr">
                    <a:solidFill>
                      <a:srgbClr val="FFFFFF"/>
                    </a:solidFill>
                  </a:tcPr>
                </a:tc>
                <a:tc>
                  <a:txBody>
                    <a:bodyPr wrap="square"/>
                    <a:lstStyle/>
                    <a:p>
                      <a:r>
                        <a:rPr sz="1100" b="0">
                          <a:solidFill>
                            <a:srgbClr val="1A1A2E"/>
                          </a:solidFill>
                          <a:latin typeface="Calibri"/>
                        </a:rPr>
                        <a:t>Yes: pay is calculated from shifts</a:t>
                      </a:r>
                    </a:p>
                  </a:txBody>
                  <a:tcPr marL="73152" marR="73152" marT="36576" marB="36576" anchor="ctr">
                    <a:solidFill>
                      <a:srgbClr val="FFFFFF"/>
                    </a:solidFill>
                  </a:tcPr>
                </a:tc>
                <a:tc>
                  <a:txBody>
                    <a:bodyPr wrap="square"/>
                    <a:lstStyle/>
                    <a:p>
                      <a:r>
                        <a:rPr sz="1100" b="0">
                          <a:solidFill>
                            <a:srgbClr val="1A1A2E"/>
                          </a:solidFill>
                          <a:latin typeface="Calibri"/>
                        </a:rPr>
                        <a:t>Yes: company kiosk at the site</a:t>
                      </a:r>
                    </a:p>
                  </a:txBody>
                  <a:tcPr marL="73152" marR="73152" marT="36576" marB="36576" anchor="ctr">
                    <a:solidFill>
                      <a:srgbClr val="FFFFFF"/>
                    </a:solidFill>
                  </a:tcPr>
                </a:tc>
                <a:tc>
                  <a:txBody>
                    <a:bodyPr wrap="square"/>
                    <a:lstStyle/>
                    <a:p>
                      <a:r>
                        <a:rPr sz="1100" b="0">
                          <a:solidFill>
                            <a:srgbClr val="1A1A2E"/>
                          </a:solidFill>
                          <a:latin typeface="Calibri"/>
                        </a:rPr>
                        <a:t>Yes: append-only, audited</a:t>
                      </a:r>
                    </a:p>
                  </a:txBody>
                  <a:tcPr marL="73152" marR="73152" marT="36576" marB="36576" anchor="ctr">
                    <a:solidFill>
                      <a:srgbClr val="FFFFFF"/>
                    </a:solidFill>
                  </a:tcPr>
                </a:tc>
                <a:tc>
                  <a:txBody>
                    <a:bodyPr wrap="square"/>
                    <a:lstStyle/>
                    <a:p>
                      <a:r>
                        <a:rPr sz="1100" b="0">
                          <a:solidFill>
                            <a:srgbClr val="1A1A2E"/>
                          </a:solidFill>
                          <a:latin typeface="Calibri"/>
                        </a:rPr>
                        <a:t>Needs a pilot to tune thresholds</a:t>
                      </a:r>
                    </a:p>
                  </a:txBody>
                  <a:tcPr marL="73152" marR="73152" marT="36576" marB="36576" anchor="ctr">
                    <a:solidFill>
                      <a:srgbClr val="FFFFFF"/>
                    </a:solidFill>
                  </a:tcPr>
                </a:tc>
              </a:tr>
            </a:tbl>
          </a:graphicData>
        </a:graphic>
      </p:graphicFrame>
      <p:sp>
        <p:nvSpPr>
          <p:cNvPr id="4" name="TextBox 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Existing tools prove presence or run payroll; none ties the two together with evidence that cannot be edited afterwards.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Proposed solution: pay people from evidence, and keep the evidence</a:t>
            </a:r>
          </a:p>
        </p:txBody>
      </p:sp>
      <p:sp>
        <p:nvSpPr>
          <p:cNvPr id="3" name="Pentagon 2"/>
          <p:cNvSpPr/>
          <p:nvPr/>
        </p:nvSpPr>
        <p:spPr>
          <a:xfrm>
            <a:off x="566928" y="1874520"/>
            <a:ext cx="1798320" cy="91440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Face at the gate</a:t>
            </a:r>
          </a:p>
        </p:txBody>
      </p:sp>
      <p:sp>
        <p:nvSpPr>
          <p:cNvPr id="4" name="Chevron 3"/>
          <p:cNvSpPr/>
          <p:nvPr/>
        </p:nvSpPr>
        <p:spPr>
          <a:xfrm>
            <a:off x="2420112"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Signed punch</a:t>
            </a:r>
          </a:p>
        </p:txBody>
      </p:sp>
      <p:sp>
        <p:nvSpPr>
          <p:cNvPr id="5" name="Chevron 4"/>
          <p:cNvSpPr/>
          <p:nvPr/>
        </p:nvSpPr>
        <p:spPr>
          <a:xfrm>
            <a:off x="4273296"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Worked shift</a:t>
            </a:r>
          </a:p>
        </p:txBody>
      </p:sp>
      <p:sp>
        <p:nvSpPr>
          <p:cNvPr id="6" name="Chevron 5"/>
          <p:cNvSpPr/>
          <p:nvPr/>
        </p:nvSpPr>
        <p:spPr>
          <a:xfrm>
            <a:off x="6126480"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Pay calculated</a:t>
            </a:r>
          </a:p>
        </p:txBody>
      </p:sp>
      <p:sp>
        <p:nvSpPr>
          <p:cNvPr id="7" name="Chevron 6"/>
          <p:cNvSpPr/>
          <p:nvPr/>
        </p:nvSpPr>
        <p:spPr>
          <a:xfrm>
            <a:off x="7979664"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Approved with a password</a:t>
            </a:r>
          </a:p>
        </p:txBody>
      </p:sp>
      <p:sp>
        <p:nvSpPr>
          <p:cNvPr id="8" name="Chevron 7"/>
          <p:cNvSpPr/>
          <p:nvPr/>
        </p:nvSpPr>
        <p:spPr>
          <a:xfrm>
            <a:off x="9832848" y="1874520"/>
            <a:ext cx="1798320" cy="91440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Locked</a:t>
            </a:r>
          </a:p>
        </p:txBody>
      </p:sp>
      <p:sp>
        <p:nvSpPr>
          <p:cNvPr id="9" name="Rounded Rectangle 8"/>
          <p:cNvSpPr/>
          <p:nvPr/>
        </p:nvSpPr>
        <p:spPr>
          <a:xfrm>
            <a:off x="56692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73152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Face at the gate</a:t>
            </a:r>
          </a:p>
        </p:txBody>
      </p:sp>
      <p:sp>
        <p:nvSpPr>
          <p:cNvPr id="11" name="TextBox 10"/>
          <p:cNvSpPr txBox="1"/>
          <p:nvPr/>
        </p:nvSpPr>
        <p:spPr>
          <a:xfrm>
            <a:off x="73152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company kiosk at the site, never the guard’s phone. The guard turns their head on request, so a photo cannot pass.</a:t>
            </a:r>
          </a:p>
        </p:txBody>
      </p:sp>
      <p:sp>
        <p:nvSpPr>
          <p:cNvPr id="12" name="Rounded Rectangle 11"/>
          <p:cNvSpPr/>
          <p:nvPr/>
        </p:nvSpPr>
        <p:spPr>
          <a:xfrm>
            <a:off x="335584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352044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Signed punch</a:t>
            </a:r>
          </a:p>
        </p:txBody>
      </p:sp>
      <p:sp>
        <p:nvSpPr>
          <p:cNvPr id="14" name="TextBox 13"/>
          <p:cNvSpPr txBox="1"/>
          <p:nvPr/>
        </p:nvSpPr>
        <p:spPr>
          <a:xfrm>
            <a:off x="352044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Every clock-in is signed with the device’s own secret key and stored append-only.</a:t>
            </a:r>
          </a:p>
        </p:txBody>
      </p:sp>
      <p:sp>
        <p:nvSpPr>
          <p:cNvPr id="15" name="Rounded Rectangle 14"/>
          <p:cNvSpPr/>
          <p:nvPr/>
        </p:nvSpPr>
        <p:spPr>
          <a:xfrm>
            <a:off x="614476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630936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Worked shift</a:t>
            </a:r>
          </a:p>
        </p:txBody>
      </p:sp>
      <p:sp>
        <p:nvSpPr>
          <p:cNvPr id="17" name="TextBox 16"/>
          <p:cNvSpPr txBox="1"/>
          <p:nvPr/>
        </p:nvSpPr>
        <p:spPr>
          <a:xfrm>
            <a:off x="630936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Clock-ins and clock-outs are paired into shifts; anything odd goes to an exception queue for a person.</a:t>
            </a:r>
          </a:p>
        </p:txBody>
      </p:sp>
      <p:sp>
        <p:nvSpPr>
          <p:cNvPr id="18" name="Rounded Rectangle 17"/>
          <p:cNvSpPr/>
          <p:nvPr/>
        </p:nvSpPr>
        <p:spPr>
          <a:xfrm>
            <a:off x="893368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909828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Pay and lock</a:t>
            </a:r>
          </a:p>
        </p:txBody>
      </p:sp>
      <p:sp>
        <p:nvSpPr>
          <p:cNvPr id="20" name="TextBox 19"/>
          <p:cNvSpPr txBox="1"/>
          <p:nvPr/>
        </p:nvSpPr>
        <p:spPr>
          <a:xfrm>
            <a:off x="909828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Hours become pay under Ghanaian rules. An administrator confirms their password; the run locks forever.</a:t>
            </a:r>
          </a:p>
        </p:txBody>
      </p:sp>
      <p:sp>
        <p:nvSpPr>
          <p:cNvPr id="21" name="Rounded Rectangle 20"/>
          <p:cNvSpPr/>
          <p:nvPr/>
        </p:nvSpPr>
        <p:spPr>
          <a:xfrm>
            <a:off x="566928" y="5212080"/>
            <a:ext cx="11064240" cy="658368"/>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2" name="TextBox 21"/>
          <p:cNvSpPr txBox="1"/>
          <p:nvPr/>
        </p:nvSpPr>
        <p:spPr>
          <a:xfrm>
            <a:off x="841248" y="5312664"/>
            <a:ext cx="10515600"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B0B4A"/>
                </a:solidFill>
                <a:latin typeface="Calibri"/>
              </a:rPr>
              <a:t>Eleven detection rules watch the whole chain every night and raise a question, with its evidence, for a human to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Methodology: how the system was built</a:t>
            </a:r>
          </a:p>
        </p:txBody>
      </p:sp>
      <p:sp>
        <p:nvSpPr>
          <p:cNvPr id="3" name="Rounded Rectangle 2"/>
          <p:cNvSpPr/>
          <p:nvPr/>
        </p:nvSpPr>
        <p:spPr>
          <a:xfrm>
            <a:off x="56692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0</a:t>
            </a:r>
          </a:p>
        </p:txBody>
      </p:sp>
      <p:sp>
        <p:nvSpPr>
          <p:cNvPr id="5" name="TextBox 4"/>
          <p:cNvSpPr txBox="1"/>
          <p:nvPr/>
        </p:nvSpPr>
        <p:spPr>
          <a:xfrm>
            <a:off x="56692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Foundation</a:t>
            </a:r>
          </a:p>
        </p:txBody>
      </p:sp>
      <p:sp>
        <p:nvSpPr>
          <p:cNvPr id="6" name="TextBox 5"/>
          <p:cNvSpPr txBox="1"/>
          <p:nvPr/>
        </p:nvSpPr>
        <p:spPr>
          <a:xfrm>
            <a:off x="56692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Repository, contract, CI</a:t>
            </a:r>
          </a:p>
        </p:txBody>
      </p:sp>
      <p:sp>
        <p:nvSpPr>
          <p:cNvPr id="7" name="Rounded Rectangle 6"/>
          <p:cNvSpPr/>
          <p:nvPr/>
        </p:nvSpPr>
        <p:spPr>
          <a:xfrm>
            <a:off x="180136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180136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1</a:t>
            </a:r>
          </a:p>
        </p:txBody>
      </p:sp>
      <p:sp>
        <p:nvSpPr>
          <p:cNvPr id="9" name="TextBox 8"/>
          <p:cNvSpPr txBox="1"/>
          <p:nvPr/>
        </p:nvSpPr>
        <p:spPr>
          <a:xfrm>
            <a:off x="180136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Identity &amp; workforce</a:t>
            </a:r>
          </a:p>
        </p:txBody>
      </p:sp>
      <p:sp>
        <p:nvSpPr>
          <p:cNvPr id="10" name="TextBox 9"/>
          <p:cNvSpPr txBox="1"/>
          <p:nvPr/>
        </p:nvSpPr>
        <p:spPr>
          <a:xfrm>
            <a:off x="180136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Sign-in, roles, people, sites</a:t>
            </a:r>
          </a:p>
        </p:txBody>
      </p:sp>
      <p:sp>
        <p:nvSpPr>
          <p:cNvPr id="11" name="Rounded Rectangle 10"/>
          <p:cNvSpPr/>
          <p:nvPr/>
        </p:nvSpPr>
        <p:spPr>
          <a:xfrm>
            <a:off x="303580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303580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2</a:t>
            </a:r>
          </a:p>
        </p:txBody>
      </p:sp>
      <p:sp>
        <p:nvSpPr>
          <p:cNvPr id="13" name="TextBox 12"/>
          <p:cNvSpPr txBox="1"/>
          <p:nvPr/>
        </p:nvSpPr>
        <p:spPr>
          <a:xfrm>
            <a:off x="303580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Attendance</a:t>
            </a:r>
          </a:p>
        </p:txBody>
      </p:sp>
      <p:sp>
        <p:nvSpPr>
          <p:cNvPr id="14" name="TextBox 13"/>
          <p:cNvSpPr txBox="1"/>
          <p:nvPr/>
        </p:nvSpPr>
        <p:spPr>
          <a:xfrm>
            <a:off x="303580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Punches, shifts, exceptions</a:t>
            </a:r>
          </a:p>
        </p:txBody>
      </p:sp>
      <p:sp>
        <p:nvSpPr>
          <p:cNvPr id="15" name="Rounded Rectangle 14"/>
          <p:cNvSpPr/>
          <p:nvPr/>
        </p:nvSpPr>
        <p:spPr>
          <a:xfrm>
            <a:off x="427024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427024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3</a:t>
            </a:r>
          </a:p>
        </p:txBody>
      </p:sp>
      <p:sp>
        <p:nvSpPr>
          <p:cNvPr id="17" name="TextBox 16"/>
          <p:cNvSpPr txBox="1"/>
          <p:nvPr/>
        </p:nvSpPr>
        <p:spPr>
          <a:xfrm>
            <a:off x="427024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Biometrics</a:t>
            </a:r>
          </a:p>
        </p:txBody>
      </p:sp>
      <p:sp>
        <p:nvSpPr>
          <p:cNvPr id="18" name="TextBox 17"/>
          <p:cNvSpPr txBox="1"/>
          <p:nvPr/>
        </p:nvSpPr>
        <p:spPr>
          <a:xfrm>
            <a:off x="427024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Kiosk, face, fingerprint, gateway</a:t>
            </a:r>
          </a:p>
        </p:txBody>
      </p:sp>
      <p:sp>
        <p:nvSpPr>
          <p:cNvPr id="19" name="Rounded Rectangle 18"/>
          <p:cNvSpPr/>
          <p:nvPr/>
        </p:nvSpPr>
        <p:spPr>
          <a:xfrm>
            <a:off x="550468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550468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4</a:t>
            </a:r>
          </a:p>
        </p:txBody>
      </p:sp>
      <p:sp>
        <p:nvSpPr>
          <p:cNvPr id="21" name="TextBox 20"/>
          <p:cNvSpPr txBox="1"/>
          <p:nvPr/>
        </p:nvSpPr>
        <p:spPr>
          <a:xfrm>
            <a:off x="550468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Payroll</a:t>
            </a:r>
          </a:p>
        </p:txBody>
      </p:sp>
      <p:sp>
        <p:nvSpPr>
          <p:cNvPr id="22" name="TextBox 21"/>
          <p:cNvSpPr txBox="1"/>
          <p:nvPr/>
        </p:nvSpPr>
        <p:spPr>
          <a:xfrm>
            <a:off x="550468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Ghanaian pay, approvals, payslips</a:t>
            </a:r>
          </a:p>
        </p:txBody>
      </p:sp>
      <p:sp>
        <p:nvSpPr>
          <p:cNvPr id="23" name="Rounded Rectangle 22"/>
          <p:cNvSpPr/>
          <p:nvPr/>
        </p:nvSpPr>
        <p:spPr>
          <a:xfrm>
            <a:off x="673912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4" name="TextBox 23"/>
          <p:cNvSpPr txBox="1"/>
          <p:nvPr/>
        </p:nvSpPr>
        <p:spPr>
          <a:xfrm>
            <a:off x="673912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5</a:t>
            </a:r>
          </a:p>
        </p:txBody>
      </p:sp>
      <p:sp>
        <p:nvSpPr>
          <p:cNvPr id="25" name="TextBox 24"/>
          <p:cNvSpPr txBox="1"/>
          <p:nvPr/>
        </p:nvSpPr>
        <p:spPr>
          <a:xfrm>
            <a:off x="673912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Detection</a:t>
            </a:r>
          </a:p>
        </p:txBody>
      </p:sp>
      <p:sp>
        <p:nvSpPr>
          <p:cNvPr id="26" name="TextBox 25"/>
          <p:cNvSpPr txBox="1"/>
          <p:nvPr/>
        </p:nvSpPr>
        <p:spPr>
          <a:xfrm>
            <a:off x="673912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Eleven rules, alerts</a:t>
            </a:r>
          </a:p>
        </p:txBody>
      </p:sp>
      <p:sp>
        <p:nvSpPr>
          <p:cNvPr id="27" name="Rounded Rectangle 26"/>
          <p:cNvSpPr/>
          <p:nvPr/>
        </p:nvSpPr>
        <p:spPr>
          <a:xfrm>
            <a:off x="797356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797356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6</a:t>
            </a:r>
          </a:p>
        </p:txBody>
      </p:sp>
      <p:sp>
        <p:nvSpPr>
          <p:cNvPr id="29" name="TextBox 28"/>
          <p:cNvSpPr txBox="1"/>
          <p:nvPr/>
        </p:nvSpPr>
        <p:spPr>
          <a:xfrm>
            <a:off x="797356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Reports</a:t>
            </a:r>
          </a:p>
        </p:txBody>
      </p:sp>
      <p:sp>
        <p:nvSpPr>
          <p:cNvPr id="30" name="TextBox 29"/>
          <p:cNvSpPr txBox="1"/>
          <p:nvPr/>
        </p:nvSpPr>
        <p:spPr>
          <a:xfrm>
            <a:off x="797356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Figures, exports, invoices</a:t>
            </a:r>
          </a:p>
        </p:txBody>
      </p:sp>
      <p:sp>
        <p:nvSpPr>
          <p:cNvPr id="31" name="Rounded Rectangle 30"/>
          <p:cNvSpPr/>
          <p:nvPr/>
        </p:nvSpPr>
        <p:spPr>
          <a:xfrm>
            <a:off x="920800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2" name="TextBox 31"/>
          <p:cNvSpPr txBox="1"/>
          <p:nvPr/>
        </p:nvSpPr>
        <p:spPr>
          <a:xfrm>
            <a:off x="920800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7</a:t>
            </a:r>
          </a:p>
        </p:txBody>
      </p:sp>
      <p:sp>
        <p:nvSpPr>
          <p:cNvPr id="33" name="TextBox 32"/>
          <p:cNvSpPr txBox="1"/>
          <p:nvPr/>
        </p:nvSpPr>
        <p:spPr>
          <a:xfrm>
            <a:off x="920800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Hardening</a:t>
            </a:r>
          </a:p>
        </p:txBody>
      </p:sp>
      <p:sp>
        <p:nvSpPr>
          <p:cNvPr id="34" name="TextBox 33"/>
          <p:cNvSpPr txBox="1"/>
          <p:nvPr/>
        </p:nvSpPr>
        <p:spPr>
          <a:xfrm>
            <a:off x="920800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Threat model, password step</a:t>
            </a:r>
          </a:p>
        </p:txBody>
      </p:sp>
      <p:sp>
        <p:nvSpPr>
          <p:cNvPr id="35" name="Rounded Rectangle 34"/>
          <p:cNvSpPr/>
          <p:nvPr/>
        </p:nvSpPr>
        <p:spPr>
          <a:xfrm>
            <a:off x="1044244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6" name="TextBox 35"/>
          <p:cNvSpPr txBox="1"/>
          <p:nvPr/>
        </p:nvSpPr>
        <p:spPr>
          <a:xfrm>
            <a:off x="1044244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8</a:t>
            </a:r>
          </a:p>
        </p:txBody>
      </p:sp>
      <p:sp>
        <p:nvSpPr>
          <p:cNvPr id="37" name="TextBox 36"/>
          <p:cNvSpPr txBox="1"/>
          <p:nvPr/>
        </p:nvSpPr>
        <p:spPr>
          <a:xfrm>
            <a:off x="1044244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Deploy &amp; present</a:t>
            </a:r>
          </a:p>
        </p:txBody>
      </p:sp>
      <p:sp>
        <p:nvSpPr>
          <p:cNvPr id="38" name="TextBox 37"/>
          <p:cNvSpPr txBox="1"/>
          <p:nvPr/>
        </p:nvSpPr>
        <p:spPr>
          <a:xfrm>
            <a:off x="1044244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Hosted test system, phone tests</a:t>
            </a:r>
          </a:p>
        </p:txBody>
      </p:sp>
      <p:sp>
        <p:nvSpPr>
          <p:cNvPr id="39" name="Rounded Rectangle 38"/>
          <p:cNvSpPr/>
          <p:nvPr/>
        </p:nvSpPr>
        <p:spPr>
          <a:xfrm>
            <a:off x="56692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0" name="TextBox 39"/>
          <p:cNvSpPr txBox="1"/>
          <p:nvPr/>
        </p:nvSpPr>
        <p:spPr>
          <a:xfrm>
            <a:off x="73152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Contract first</a:t>
            </a:r>
          </a:p>
        </p:txBody>
      </p:sp>
      <p:sp>
        <p:nvSpPr>
          <p:cNvPr id="41" name="TextBox 40"/>
          <p:cNvSpPr txBox="1"/>
          <p:nvPr/>
        </p:nvSpPr>
        <p:spPr>
          <a:xfrm>
            <a:off x="73152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OpenAPI contract is agreed before code; types are generated from it, so the dashboard, kiosk and API cannot drift apart.</a:t>
            </a:r>
          </a:p>
        </p:txBody>
      </p:sp>
      <p:sp>
        <p:nvSpPr>
          <p:cNvPr id="42" name="Rounded Rectangle 41"/>
          <p:cNvSpPr/>
          <p:nvPr/>
        </p:nvSpPr>
        <p:spPr>
          <a:xfrm>
            <a:off x="335584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3" name="TextBox 42"/>
          <p:cNvSpPr txBox="1"/>
          <p:nvPr/>
        </p:nvSpPr>
        <p:spPr>
          <a:xfrm>
            <a:off x="352044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One phase, one demo</a:t>
            </a:r>
          </a:p>
        </p:txBody>
      </p:sp>
      <p:sp>
        <p:nvSpPr>
          <p:cNvPr id="44" name="TextBox 43"/>
          <p:cNvSpPr txBox="1"/>
          <p:nvPr/>
        </p:nvSpPr>
        <p:spPr>
          <a:xfrm>
            <a:off x="352044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Each phase ended with a working demonstration, so the project was always in a state that could be shown.</a:t>
            </a:r>
          </a:p>
        </p:txBody>
      </p:sp>
      <p:sp>
        <p:nvSpPr>
          <p:cNvPr id="45" name="Rounded Rectangle 44"/>
          <p:cNvSpPr/>
          <p:nvPr/>
        </p:nvSpPr>
        <p:spPr>
          <a:xfrm>
            <a:off x="614476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6" name="TextBox 45"/>
          <p:cNvSpPr txBox="1"/>
          <p:nvPr/>
        </p:nvSpPr>
        <p:spPr>
          <a:xfrm>
            <a:off x="630936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Four reviews per change</a:t>
            </a:r>
          </a:p>
        </p:txBody>
      </p:sp>
      <p:sp>
        <p:nvSpPr>
          <p:cNvPr id="47" name="TextBox 46"/>
          <p:cNvSpPr txBox="1"/>
          <p:nvPr/>
        </p:nvSpPr>
        <p:spPr>
          <a:xfrm>
            <a:off x="630936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Architecture, code quality, full-stack seam and security reviews on every pull request, with findings fixed before merging.</a:t>
            </a:r>
          </a:p>
        </p:txBody>
      </p:sp>
      <p:sp>
        <p:nvSpPr>
          <p:cNvPr id="48" name="Rounded Rectangle 47"/>
          <p:cNvSpPr/>
          <p:nvPr/>
        </p:nvSpPr>
        <p:spPr>
          <a:xfrm>
            <a:off x="893368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9" name="TextBox 48"/>
          <p:cNvSpPr txBox="1"/>
          <p:nvPr/>
        </p:nvSpPr>
        <p:spPr>
          <a:xfrm>
            <a:off x="909828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Tests as the gate</a:t>
            </a:r>
          </a:p>
        </p:txBody>
      </p:sp>
      <p:sp>
        <p:nvSpPr>
          <p:cNvPr id="50" name="TextBox 49"/>
          <p:cNvSpPr txBox="1"/>
          <p:nvPr/>
        </p:nvSpPr>
        <p:spPr>
          <a:xfrm>
            <a:off x="909828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Lint, contract check, type check, unit and database-backed tests, and a build run on every push; nothing merges red.</a:t>
            </a:r>
          </a:p>
        </p:txBody>
      </p:sp>
      <p:sp>
        <p:nvSpPr>
          <p:cNvPr id="51" name="TextBox 50"/>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Fifteen weeks, two developers (dashboard and kiosk; API and gateway), one shared contract and one repository.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System design: four parts and one database</a:t>
            </a:r>
          </a:p>
        </p:txBody>
      </p:sp>
      <p:sp>
        <p:nvSpPr>
          <p:cNvPr id="3" name="Rounded Rectangle 2"/>
          <p:cNvSpPr/>
          <p:nvPr/>
        </p:nvSpPr>
        <p:spPr>
          <a:xfrm>
            <a:off x="56692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Dashboard</a:t>
            </a:r>
          </a:p>
        </p:txBody>
      </p:sp>
      <p:sp>
        <p:nvSpPr>
          <p:cNvPr id="5" name="TextBox 4"/>
          <p:cNvSpPr txBox="1"/>
          <p:nvPr/>
        </p:nvSpPr>
        <p:spPr>
          <a:xfrm>
            <a:off x="73152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What head office uses: employees, sites, attendance, payroll, reports, ghost detection, users.</a:t>
            </a:r>
          </a:p>
        </p:txBody>
      </p:sp>
      <p:sp>
        <p:nvSpPr>
          <p:cNvPr id="6" name="TextBox 5"/>
          <p:cNvSpPr txBox="1"/>
          <p:nvPr/>
        </p:nvSpPr>
        <p:spPr>
          <a:xfrm>
            <a:off x="73152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React 19 · Vite</a:t>
            </a:r>
          </a:p>
        </p:txBody>
      </p:sp>
      <p:sp>
        <p:nvSpPr>
          <p:cNvPr id="7" name="Rounded Rectangle 6"/>
          <p:cNvSpPr/>
          <p:nvPr/>
        </p:nvSpPr>
        <p:spPr>
          <a:xfrm>
            <a:off x="431596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448056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Kiosk</a:t>
            </a:r>
          </a:p>
        </p:txBody>
      </p:sp>
      <p:sp>
        <p:nvSpPr>
          <p:cNvPr id="9" name="TextBox 8"/>
          <p:cNvSpPr txBox="1"/>
          <p:nvPr/>
        </p:nvSpPr>
        <p:spPr>
          <a:xfrm>
            <a:off x="448056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phone at the gate. Start shift, End shift, and an admin menu to enrol faces and save fingerprints.</a:t>
            </a:r>
          </a:p>
        </p:txBody>
      </p:sp>
      <p:sp>
        <p:nvSpPr>
          <p:cNvPr id="10" name="TextBox 9"/>
          <p:cNvSpPr txBox="1"/>
          <p:nvPr/>
        </p:nvSpPr>
        <p:spPr>
          <a:xfrm>
            <a:off x="448056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React · ArcFace in the browser</a:t>
            </a:r>
          </a:p>
        </p:txBody>
      </p:sp>
      <p:sp>
        <p:nvSpPr>
          <p:cNvPr id="11" name="Rounded Rectangle 10"/>
          <p:cNvSpPr/>
          <p:nvPr/>
        </p:nvSpPr>
        <p:spPr>
          <a:xfrm>
            <a:off x="806500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Site gateway</a:t>
            </a:r>
          </a:p>
        </p:txBody>
      </p:sp>
      <p:sp>
        <p:nvSpPr>
          <p:cNvPr id="13" name="TextBox 12"/>
          <p:cNvSpPr txBox="1"/>
          <p:nvPr/>
        </p:nvSpPr>
        <p:spPr>
          <a:xfrm>
            <a:off x="822960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Talks to ZKTeco fingerprint terminals, keeps punches in an outbox when the internet is down.</a:t>
            </a:r>
          </a:p>
        </p:txBody>
      </p:sp>
      <p:sp>
        <p:nvSpPr>
          <p:cNvPr id="14" name="TextBox 13"/>
          <p:cNvSpPr txBox="1"/>
          <p:nvPr/>
        </p:nvSpPr>
        <p:spPr>
          <a:xfrm>
            <a:off x="822960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Node.js</a:t>
            </a:r>
          </a:p>
        </p:txBody>
      </p:sp>
      <p:sp>
        <p:nvSpPr>
          <p:cNvPr id="15" name="Down Arrow 14"/>
          <p:cNvSpPr/>
          <p:nvPr/>
        </p:nvSpPr>
        <p:spPr>
          <a:xfrm>
            <a:off x="216712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591616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966520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886200"/>
            <a:ext cx="11064240" cy="91440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841248" y="3941064"/>
            <a:ext cx="10515600" cy="822960"/>
          </a:xfrm>
          <a:prstGeom prst="rect">
            <a:avLst/>
          </a:prstGeom>
          <a:noFill/>
        </p:spPr>
        <p:txBody>
          <a:bodyPr wrap="square" lIns="45720" rIns="45720" tIns="27432" bIns="27432">
            <a:spAutoFit/>
          </a:bodyPr>
          <a:lstStyle/>
          <a:p>
            <a:pPr algn="l">
              <a:lnSpc>
                <a:spcPct val="108000"/>
              </a:lnSpc>
              <a:spcAft>
                <a:spcPts val="200"/>
              </a:spcAft>
            </a:pPr>
            <a:r>
              <a:rPr sz="1600" b="1">
                <a:solidFill>
                  <a:srgbClr val="FFFFFF"/>
                </a:solidFill>
                <a:latin typeface="Calibri"/>
              </a:rPr>
              <a:t>API  ·  NestJS 12 · Prisma 7</a:t>
            </a:r>
          </a:p>
          <a:p>
            <a:pPr algn="l">
              <a:lnSpc>
                <a:spcPct val="108000"/>
              </a:lnSpc>
              <a:spcAft>
                <a:spcPts val="400"/>
              </a:spcAft>
            </a:pPr>
            <a:r>
              <a:rPr sz="1200" b="0">
                <a:solidFill>
                  <a:srgbClr val="E9DFC9"/>
                </a:solidFill>
                <a:latin typeface="Calibri"/>
              </a:rPr>
              <a:t>The brain: every rule lives here. Four global guards on every request: sign-in, kiosk limit, role, password step. Nothing reaches the database except through it.</a:t>
            </a:r>
          </a:p>
        </p:txBody>
      </p:sp>
      <p:sp>
        <p:nvSpPr>
          <p:cNvPr id="20" name="Rounded Rectangle 19"/>
          <p:cNvSpPr/>
          <p:nvPr/>
        </p:nvSpPr>
        <p:spPr>
          <a:xfrm>
            <a:off x="566928" y="4910328"/>
            <a:ext cx="7223760" cy="868680"/>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1" name="TextBox 20"/>
          <p:cNvSpPr txBox="1"/>
          <p:nvPr/>
        </p:nvSpPr>
        <p:spPr>
          <a:xfrm>
            <a:off x="841248" y="4983480"/>
            <a:ext cx="6766560" cy="777240"/>
          </a:xfrm>
          <a:prstGeom prst="rect">
            <a:avLst/>
          </a:prstGeom>
          <a:noFill/>
        </p:spPr>
        <p:txBody>
          <a:bodyPr wrap="square" lIns="45720" rIns="45720" tIns="27432" bIns="27432">
            <a:spAutoFit/>
          </a:bodyPr>
          <a:lstStyle/>
          <a:p>
            <a:pPr algn="l">
              <a:lnSpc>
                <a:spcPct val="108000"/>
              </a:lnSpc>
              <a:spcAft>
                <a:spcPts val="200"/>
              </a:spcAft>
            </a:pPr>
            <a:r>
              <a:rPr sz="1500" b="1">
                <a:solidFill>
                  <a:srgbClr val="0B0B4A"/>
                </a:solidFill>
                <a:latin typeface="Calibri"/>
              </a:rPr>
              <a:t>PostgreSQL 17  ·  35 tables in 6 modules</a:t>
            </a:r>
          </a:p>
          <a:p>
            <a:pPr algn="l">
              <a:lnSpc>
                <a:spcPct val="108000"/>
              </a:lnSpc>
              <a:spcAft>
                <a:spcPts val="400"/>
              </a:spcAft>
            </a:pPr>
            <a:r>
              <a:rPr sz="1200" b="0">
                <a:solidFill>
                  <a:srgbClr val="0B0B4A"/>
                </a:solidFill>
                <a:latin typeface="Calibri"/>
              </a:rPr>
              <a:t>A module writes only its own tables. Evidence tables are append-only: a database trigger rejects edits.</a:t>
            </a:r>
          </a:p>
        </p:txBody>
      </p:sp>
      <p:sp>
        <p:nvSpPr>
          <p:cNvPr id="22" name="Rounded Rectangle 21"/>
          <p:cNvSpPr/>
          <p:nvPr/>
        </p:nvSpPr>
        <p:spPr>
          <a:xfrm>
            <a:off x="7973568" y="4910328"/>
            <a:ext cx="3657600" cy="868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3" name="TextBox 22"/>
          <p:cNvSpPr txBox="1"/>
          <p:nvPr/>
        </p:nvSpPr>
        <p:spPr>
          <a:xfrm>
            <a:off x="8202168" y="4983480"/>
            <a:ext cx="3291840" cy="777240"/>
          </a:xfrm>
          <a:prstGeom prst="rect">
            <a:avLst/>
          </a:prstGeom>
          <a:noFill/>
        </p:spPr>
        <p:txBody>
          <a:bodyPr wrap="square" lIns="45720" rIns="45720" tIns="27432" bIns="27432">
            <a:spAutoFit/>
          </a:bodyPr>
          <a:lstStyle/>
          <a:p>
            <a:pPr algn="l">
              <a:lnSpc>
                <a:spcPct val="108000"/>
              </a:lnSpc>
              <a:spcAft>
                <a:spcPts val="200"/>
              </a:spcAft>
            </a:pPr>
            <a:r>
              <a:rPr sz="1400" b="1">
                <a:solidFill>
                  <a:srgbClr val="000066"/>
                </a:solidFill>
                <a:latin typeface="Calibri"/>
              </a:rPr>
              <a:t>One written contract</a:t>
            </a:r>
          </a:p>
          <a:p>
            <a:pPr algn="l">
              <a:lnSpc>
                <a:spcPct val="108000"/>
              </a:lnSpc>
              <a:spcAft>
                <a:spcPts val="400"/>
              </a:spcAft>
            </a:pPr>
            <a:r>
              <a:rPr sz="1100" b="0">
                <a:solidFill>
                  <a:srgbClr val="1A1A2E"/>
                </a:solidFill>
                <a:latin typeface="Calibri"/>
              </a:rPr>
              <a:t>openapi.yaml: every request and response, agreed before code and checked in CI.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Implementation: the technology stack and why</a:t>
            </a:r>
          </a:p>
        </p:txBody>
      </p:sp>
      <p:graphicFrame>
        <p:nvGraphicFramePr>
          <p:cNvPr id="3" name="Table 2"/>
          <p:cNvGraphicFramePr>
            <a:graphicFrameLocks noGrp="1"/>
          </p:cNvGraphicFramePr>
          <p:nvPr/>
        </p:nvGraphicFramePr>
        <p:xfrm>
          <a:off x="566928" y="1783080"/>
          <a:ext cx="11064240" cy="3867912"/>
        </p:xfrm>
        <a:graphic>
          <a:graphicData uri="http://schemas.openxmlformats.org/drawingml/2006/table">
            <a:tbl>
              <a:tblPr firstRow="1" bandRow="1">
                <a:tableStyleId>{5C22544A-7EE6-4342-B048-85BDC9FD1C3A}</a:tableStyleId>
              </a:tblPr>
              <a:tblGrid>
                <a:gridCol w="1371600"/>
                <a:gridCol w="4206240"/>
                <a:gridCol w="5486400"/>
              </a:tblGrid>
              <a:tr h="429768">
                <a:tc>
                  <a:txBody>
                    <a:bodyPr wrap="square"/>
                    <a:lstStyle/>
                    <a:p>
                      <a:r>
                        <a:rPr sz="1200" b="1">
                          <a:solidFill>
                            <a:srgbClr val="FFFFFF"/>
                          </a:solidFill>
                          <a:latin typeface="Calibri"/>
                        </a:rPr>
                        <a:t>Layer</a:t>
                      </a:r>
                    </a:p>
                  </a:txBody>
                  <a:tcPr marL="73152" marR="73152" marT="36576" marB="36576" anchor="ctr">
                    <a:solidFill>
                      <a:srgbClr val="000066"/>
                    </a:solidFill>
                  </a:tcPr>
                </a:tc>
                <a:tc>
                  <a:txBody>
                    <a:bodyPr wrap="square"/>
                    <a:lstStyle/>
                    <a:p>
                      <a:r>
                        <a:rPr sz="1200" b="1">
                          <a:solidFill>
                            <a:srgbClr val="FFFFFF"/>
                          </a:solidFill>
                          <a:latin typeface="Calibri"/>
                        </a:rPr>
                        <a:t>Technology</a:t>
                      </a:r>
                    </a:p>
                  </a:txBody>
                  <a:tcPr marL="73152" marR="73152" marT="36576" marB="36576" anchor="ctr">
                    <a:solidFill>
                      <a:srgbClr val="000066"/>
                    </a:solidFill>
                  </a:tcPr>
                </a:tc>
                <a:tc>
                  <a:txBody>
                    <a:bodyPr wrap="square"/>
                    <a:lstStyle/>
                    <a:p>
                      <a:r>
                        <a:rPr sz="1200" b="1">
                          <a:solidFill>
                            <a:srgbClr val="FFFFFF"/>
                          </a:solidFill>
                          <a:latin typeface="Calibri"/>
                        </a:rPr>
                        <a:t>Why this choice</a:t>
                      </a:r>
                    </a:p>
                  </a:txBody>
                  <a:tcPr marL="73152" marR="73152" marT="36576" marB="36576" anchor="ctr">
                    <a:solidFill>
                      <a:srgbClr val="000066"/>
                    </a:solidFill>
                  </a:tcPr>
                </a:tc>
              </a:tr>
              <a:tr h="429768">
                <a:tc>
                  <a:txBody>
                    <a:bodyPr wrap="square"/>
                    <a:lstStyle/>
                    <a:p>
                      <a:r>
                        <a:rPr sz="1100" b="1">
                          <a:solidFill>
                            <a:srgbClr val="1A1A2E"/>
                          </a:solidFill>
                          <a:latin typeface="Calibri"/>
                        </a:rPr>
                        <a:t>Language</a:t>
                      </a:r>
                    </a:p>
                  </a:txBody>
                  <a:tcPr marL="73152" marR="73152" marT="36576" marB="36576" anchor="ctr">
                    <a:solidFill>
                      <a:srgbClr val="FFFFFF"/>
                    </a:solidFill>
                  </a:tcPr>
                </a:tc>
                <a:tc>
                  <a:txBody>
                    <a:bodyPr wrap="square"/>
                    <a:lstStyle/>
                    <a:p>
                      <a:r>
                        <a:rPr sz="1100" b="0">
                          <a:solidFill>
                            <a:srgbClr val="1A1A2E"/>
                          </a:solidFill>
                          <a:latin typeface="Calibri"/>
                        </a:rPr>
                        <a:t>TypeScript everywhere (strict)</a:t>
                      </a:r>
                    </a:p>
                  </a:txBody>
                  <a:tcPr marL="73152" marR="73152" marT="36576" marB="36576" anchor="ctr">
                    <a:solidFill>
                      <a:srgbClr val="FFFFFF"/>
                    </a:solidFill>
                  </a:tcPr>
                </a:tc>
                <a:tc>
                  <a:txBody>
                    <a:bodyPr wrap="square"/>
                    <a:lstStyle/>
                    <a:p>
                      <a:r>
                        <a:rPr sz="1100" b="0">
                          <a:solidFill>
                            <a:srgbClr val="1A1A2E"/>
                          </a:solidFill>
                          <a:latin typeface="Calibri"/>
                        </a:rPr>
                        <a:t>One language for all three apps and the API; the compiler catches drift against the contract</a:t>
                      </a:r>
                    </a:p>
                  </a:txBody>
                  <a:tcPr marL="73152" marR="73152" marT="36576" marB="36576" anchor="ctr">
                    <a:solidFill>
                      <a:srgbClr val="FFFFFF"/>
                    </a:solidFill>
                  </a:tcPr>
                </a:tc>
              </a:tr>
              <a:tr h="429768">
                <a:tc>
                  <a:txBody>
                    <a:bodyPr wrap="square"/>
                    <a:lstStyle/>
                    <a:p>
                      <a:r>
                        <a:rPr sz="1100" b="1">
                          <a:solidFill>
                            <a:srgbClr val="1A1A2E"/>
                          </a:solidFill>
                          <a:latin typeface="Calibri"/>
                        </a:rPr>
                        <a:t>API</a:t>
                      </a:r>
                    </a:p>
                  </a:txBody>
                  <a:tcPr marL="73152" marR="73152" marT="36576" marB="36576" anchor="ctr">
                    <a:solidFill>
                      <a:srgbClr val="F7F7FA"/>
                    </a:solidFill>
                  </a:tcPr>
                </a:tc>
                <a:tc>
                  <a:txBody>
                    <a:bodyPr wrap="square"/>
                    <a:lstStyle/>
                    <a:p>
                      <a:r>
                        <a:rPr sz="1100" b="0">
                          <a:solidFill>
                            <a:srgbClr val="1A1A2E"/>
                          </a:solidFill>
                          <a:latin typeface="Calibri"/>
                        </a:rPr>
                        <a:t>NestJS 12 on Express 5, Zod validation, Prisma 7</a:t>
                      </a:r>
                    </a:p>
                  </a:txBody>
                  <a:tcPr marL="73152" marR="73152" marT="36576" marB="36576" anchor="ctr">
                    <a:solidFill>
                      <a:srgbClr val="F7F7FA"/>
                    </a:solidFill>
                  </a:tcPr>
                </a:tc>
                <a:tc>
                  <a:txBody>
                    <a:bodyPr wrap="square"/>
                    <a:lstStyle/>
                    <a:p>
                      <a:r>
                        <a:rPr sz="1100" b="0">
                          <a:solidFill>
                            <a:srgbClr val="1A1A2E"/>
                          </a:solidFill>
                          <a:latin typeface="Calibri"/>
                        </a:rPr>
                        <a:t>Modules with clear boundaries, strict request validation, typed database access</a:t>
                      </a:r>
                    </a:p>
                  </a:txBody>
                  <a:tcPr marL="73152" marR="73152" marT="36576" marB="36576" anchor="ctr">
                    <a:solidFill>
                      <a:srgbClr val="F7F7FA"/>
                    </a:solidFill>
                  </a:tcPr>
                </a:tc>
              </a:tr>
              <a:tr h="429768">
                <a:tc>
                  <a:txBody>
                    <a:bodyPr wrap="square"/>
                    <a:lstStyle/>
                    <a:p>
                      <a:r>
                        <a:rPr sz="1100" b="1">
                          <a:solidFill>
                            <a:srgbClr val="1A1A2E"/>
                          </a:solidFill>
                          <a:latin typeface="Calibri"/>
                        </a:rPr>
                        <a:t>Database</a:t>
                      </a:r>
                    </a:p>
                  </a:txBody>
                  <a:tcPr marL="73152" marR="73152" marT="36576" marB="36576" anchor="ctr">
                    <a:solidFill>
                      <a:srgbClr val="FFFFFF"/>
                    </a:solidFill>
                  </a:tcPr>
                </a:tc>
                <a:tc>
                  <a:txBody>
                    <a:bodyPr wrap="square"/>
                    <a:lstStyle/>
                    <a:p>
                      <a:r>
                        <a:rPr sz="1100" b="0">
                          <a:solidFill>
                            <a:srgbClr val="1A1A2E"/>
                          </a:solidFill>
                          <a:latin typeface="Calibri"/>
                        </a:rPr>
                        <a:t>PostgreSQL 17 (hosted on Supabase for the test system)</a:t>
                      </a:r>
                    </a:p>
                  </a:txBody>
                  <a:tcPr marL="73152" marR="73152" marT="36576" marB="36576" anchor="ctr">
                    <a:solidFill>
                      <a:srgbClr val="FFFFFF"/>
                    </a:solidFill>
                  </a:tcPr>
                </a:tc>
                <a:tc>
                  <a:txBody>
                    <a:bodyPr wrap="square"/>
                    <a:lstStyle/>
                    <a:p>
                      <a:r>
                        <a:rPr sz="1100" b="0">
                          <a:solidFill>
                            <a:srgbClr val="1A1A2E"/>
                          </a:solidFill>
                          <a:latin typeface="Calibri"/>
                        </a:rPr>
                        <a:t>Constraints, triggers and row-level security enforce rules even outside the code</a:t>
                      </a:r>
                    </a:p>
                  </a:txBody>
                  <a:tcPr marL="73152" marR="73152" marT="36576" marB="36576" anchor="ctr">
                    <a:solidFill>
                      <a:srgbClr val="FFFFFF"/>
                    </a:solidFill>
                  </a:tcPr>
                </a:tc>
              </a:tr>
              <a:tr h="429768">
                <a:tc>
                  <a:txBody>
                    <a:bodyPr wrap="square"/>
                    <a:lstStyle/>
                    <a:p>
                      <a:r>
                        <a:rPr sz="1100" b="1">
                          <a:solidFill>
                            <a:srgbClr val="1A1A2E"/>
                          </a:solidFill>
                          <a:latin typeface="Calibri"/>
                        </a:rPr>
                        <a:t>Dashboard</a:t>
                      </a:r>
                    </a:p>
                  </a:txBody>
                  <a:tcPr marL="73152" marR="73152" marT="36576" marB="36576" anchor="ctr">
                    <a:solidFill>
                      <a:srgbClr val="F7F7FA"/>
                    </a:solidFill>
                  </a:tcPr>
                </a:tc>
                <a:tc>
                  <a:txBody>
                    <a:bodyPr wrap="square"/>
                    <a:lstStyle/>
                    <a:p>
                      <a:r>
                        <a:rPr sz="1100" b="0">
                          <a:solidFill>
                            <a:srgbClr val="1A1A2E"/>
                          </a:solidFill>
                          <a:latin typeface="Calibri"/>
                        </a:rPr>
                        <a:t>React 19, Vite, Tailwind CSS, shadcn/ui, TanStack Query</a:t>
                      </a:r>
                    </a:p>
                  </a:txBody>
                  <a:tcPr marL="73152" marR="73152" marT="36576" marB="36576" anchor="ctr">
                    <a:solidFill>
                      <a:srgbClr val="F7F7FA"/>
                    </a:solidFill>
                  </a:tcPr>
                </a:tc>
                <a:tc>
                  <a:txBody>
                    <a:bodyPr wrap="square"/>
                    <a:lstStyle/>
                    <a:p>
                      <a:r>
                        <a:rPr sz="1100" b="0">
                          <a:solidFill>
                            <a:srgbClr val="1A1A2E"/>
                          </a:solidFill>
                          <a:latin typeface="Calibri"/>
                        </a:rPr>
                        <a:t>Fast to build, accessible components, cached data fetching</a:t>
                      </a:r>
                    </a:p>
                  </a:txBody>
                  <a:tcPr marL="73152" marR="73152" marT="36576" marB="36576" anchor="ctr">
                    <a:solidFill>
                      <a:srgbClr val="F7F7FA"/>
                    </a:solidFill>
                  </a:tcPr>
                </a:tc>
              </a:tr>
              <a:tr h="429768">
                <a:tc>
                  <a:txBody>
                    <a:bodyPr wrap="square"/>
                    <a:lstStyle/>
                    <a:p>
                      <a:r>
                        <a:rPr sz="1100" b="1">
                          <a:solidFill>
                            <a:srgbClr val="1A1A2E"/>
                          </a:solidFill>
                          <a:latin typeface="Calibri"/>
                        </a:rPr>
                        <a:t>Kiosk</a:t>
                      </a:r>
                    </a:p>
                  </a:txBody>
                  <a:tcPr marL="73152" marR="73152" marT="36576" marB="36576" anchor="ctr">
                    <a:solidFill>
                      <a:srgbClr val="FFFFFF"/>
                    </a:solidFill>
                  </a:tcPr>
                </a:tc>
                <a:tc>
                  <a:txBody>
                    <a:bodyPr wrap="square"/>
                    <a:lstStyle/>
                    <a:p>
                      <a:r>
                        <a:rPr sz="1100" b="0">
                          <a:solidFill>
                            <a:srgbClr val="1A1A2E"/>
                          </a:solidFill>
                          <a:latin typeface="Calibri"/>
                        </a:rPr>
                        <a:t>React, Human (detection, mesh, liveness), ArcFace via onnxruntime-web, WebAuthn</a:t>
                      </a:r>
                    </a:p>
                  </a:txBody>
                  <a:tcPr marL="73152" marR="73152" marT="36576" marB="36576" anchor="ctr">
                    <a:solidFill>
                      <a:srgbClr val="FFFFFF"/>
                    </a:solidFill>
                  </a:tcPr>
                </a:tc>
                <a:tc>
                  <a:txBody>
                    <a:bodyPr wrap="square"/>
                    <a:lstStyle/>
                    <a:p>
                      <a:r>
                        <a:rPr sz="1100" b="0">
                          <a:solidFill>
                            <a:srgbClr val="1A1A2E"/>
                          </a:solidFill>
                          <a:latin typeface="Calibri"/>
                        </a:rPr>
                        <a:t>Face measured in the browser; the fingerprint uses the phone’s own sensor</a:t>
                      </a:r>
                    </a:p>
                  </a:txBody>
                  <a:tcPr marL="73152" marR="73152" marT="36576" marB="36576" anchor="ctr">
                    <a:solidFill>
                      <a:srgbClr val="FFFFFF"/>
                    </a:solidFill>
                  </a:tcPr>
                </a:tc>
              </a:tr>
              <a:tr h="429768">
                <a:tc>
                  <a:txBody>
                    <a:bodyPr wrap="square"/>
                    <a:lstStyle/>
                    <a:p>
                      <a:r>
                        <a:rPr sz="1100" b="1">
                          <a:solidFill>
                            <a:srgbClr val="1A1A2E"/>
                          </a:solidFill>
                          <a:latin typeface="Calibri"/>
                        </a:rPr>
                        <a:t>Contract</a:t>
                      </a:r>
                    </a:p>
                  </a:txBody>
                  <a:tcPr marL="73152" marR="73152" marT="36576" marB="36576" anchor="ctr">
                    <a:solidFill>
                      <a:srgbClr val="F7F7FA"/>
                    </a:solidFill>
                  </a:tcPr>
                </a:tc>
                <a:tc>
                  <a:txBody>
                    <a:bodyPr wrap="square"/>
                    <a:lstStyle/>
                    <a:p>
                      <a:r>
                        <a:rPr sz="1100" b="0">
                          <a:solidFill>
                            <a:srgbClr val="1A1A2E"/>
                          </a:solidFill>
                          <a:latin typeface="Calibri"/>
                        </a:rPr>
                        <a:t>OpenAPI 3.1 with generated types</a:t>
                      </a:r>
                    </a:p>
                  </a:txBody>
                  <a:tcPr marL="73152" marR="73152" marT="36576" marB="36576" anchor="ctr">
                    <a:solidFill>
                      <a:srgbClr val="F7F7FA"/>
                    </a:solidFill>
                  </a:tcPr>
                </a:tc>
                <a:tc>
                  <a:txBody>
                    <a:bodyPr wrap="square"/>
                    <a:lstStyle/>
                    <a:p>
                      <a:r>
                        <a:rPr sz="1100" b="0">
                          <a:solidFill>
                            <a:srgbClr val="1A1A2E"/>
                          </a:solidFill>
                          <a:latin typeface="Calibri"/>
                        </a:rPr>
                        <a:t>Front and back built in parallel against one agreement</a:t>
                      </a:r>
                    </a:p>
                  </a:txBody>
                  <a:tcPr marL="73152" marR="73152" marT="36576" marB="36576" anchor="ctr">
                    <a:solidFill>
                      <a:srgbClr val="F7F7FA"/>
                    </a:solidFill>
                  </a:tcPr>
                </a:tc>
              </a:tr>
              <a:tr h="429768">
                <a:tc>
                  <a:txBody>
                    <a:bodyPr wrap="square"/>
                    <a:lstStyle/>
                    <a:p>
                      <a:r>
                        <a:rPr sz="1100" b="1">
                          <a:solidFill>
                            <a:srgbClr val="1A1A2E"/>
                          </a:solidFill>
                          <a:latin typeface="Calibri"/>
                        </a:rPr>
                        <a:t>Quality</a:t>
                      </a:r>
                    </a:p>
                  </a:txBody>
                  <a:tcPr marL="73152" marR="73152" marT="36576" marB="36576" anchor="ctr">
                    <a:solidFill>
                      <a:srgbClr val="FFFFFF"/>
                    </a:solidFill>
                  </a:tcPr>
                </a:tc>
                <a:tc>
                  <a:txBody>
                    <a:bodyPr wrap="square"/>
                    <a:lstStyle/>
                    <a:p>
                      <a:r>
                        <a:rPr sz="1100" b="0">
                          <a:solidFill>
                            <a:srgbClr val="1A1A2E"/>
                          </a:solidFill>
                          <a:latin typeface="Calibri"/>
                        </a:rPr>
                        <a:t>Vitest, Biome, GitHub Actions, Dependabot</a:t>
                      </a:r>
                    </a:p>
                  </a:txBody>
                  <a:tcPr marL="73152" marR="73152" marT="36576" marB="36576" anchor="ctr">
                    <a:solidFill>
                      <a:srgbClr val="FFFFFF"/>
                    </a:solidFill>
                  </a:tcPr>
                </a:tc>
                <a:tc>
                  <a:txBody>
                    <a:bodyPr wrap="square"/>
                    <a:lstStyle/>
                    <a:p>
                      <a:r>
                        <a:rPr sz="1100" b="0">
                          <a:solidFill>
                            <a:srgbClr val="1A1A2E"/>
                          </a:solidFill>
                          <a:latin typeface="Calibri"/>
                        </a:rPr>
                        <a:t>Every push is linted, type-checked, tested and built; dependencies are watched</a:t>
                      </a:r>
                    </a:p>
                  </a:txBody>
                  <a:tcPr marL="73152" marR="73152" marT="36576" marB="36576" anchor="ctr">
                    <a:solidFill>
                      <a:srgbClr val="FFFFFF"/>
                    </a:solidFill>
                  </a:tcPr>
                </a:tc>
              </a:tr>
              <a:tr h="429768">
                <a:tc>
                  <a:txBody>
                    <a:bodyPr wrap="square"/>
                    <a:lstStyle/>
                    <a:p>
                      <a:r>
                        <a:rPr sz="1100" b="1">
                          <a:solidFill>
                            <a:srgbClr val="1A1A2E"/>
                          </a:solidFill>
                          <a:latin typeface="Calibri"/>
                        </a:rPr>
                        <a:t>Hosting</a:t>
                      </a:r>
                    </a:p>
                  </a:txBody>
                  <a:tcPr marL="73152" marR="73152" marT="36576" marB="36576" anchor="ctr">
                    <a:solidFill>
                      <a:srgbClr val="F7F7FA"/>
                    </a:solidFill>
                  </a:tcPr>
                </a:tc>
                <a:tc>
                  <a:txBody>
                    <a:bodyPr wrap="square"/>
                    <a:lstStyle/>
                    <a:p>
                      <a:r>
                        <a:rPr sz="1100" b="0">
                          <a:solidFill>
                            <a:srgbClr val="1A1A2E"/>
                          </a:solidFill>
                          <a:latin typeface="Calibri"/>
                        </a:rPr>
                        <a:t>Vercel (dashboard, kiosk, API) and Supabase</a:t>
                      </a:r>
                    </a:p>
                  </a:txBody>
                  <a:tcPr marL="73152" marR="73152" marT="36576" marB="36576" anchor="ctr">
                    <a:solidFill>
                      <a:srgbClr val="F7F7FA"/>
                    </a:solidFill>
                  </a:tcPr>
                </a:tc>
                <a:tc>
                  <a:txBody>
                    <a:bodyPr wrap="square"/>
                    <a:lstStyle/>
                    <a:p>
                      <a:r>
                        <a:rPr sz="1100" b="0">
                          <a:solidFill>
                            <a:srgbClr val="1A1A2E"/>
                          </a:solidFill>
                          <a:latin typeface="Calibri"/>
                        </a:rPr>
                        <a:t>A public test system the examiners can open today</a:t>
                      </a:r>
                    </a:p>
                  </a:txBody>
                  <a:tcPr marL="73152" marR="73152" marT="36576" marB="36576" anchor="ctr">
                    <a:solidFill>
                      <a:srgbClr val="F7F7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Data design: six modules, thirty-five tables</a:t>
            </a:r>
          </a:p>
        </p:txBody>
      </p:sp>
      <p:sp>
        <p:nvSpPr>
          <p:cNvPr id="3" name="Rounded Rectangle 2"/>
          <p:cNvSpPr/>
          <p:nvPr/>
        </p:nvSpPr>
        <p:spPr>
          <a:xfrm>
            <a:off x="56692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Identity</a:t>
            </a:r>
          </a:p>
        </p:txBody>
      </p:sp>
      <p:sp>
        <p:nvSpPr>
          <p:cNvPr id="5" name="TextBox 4"/>
          <p:cNvSpPr txBox="1"/>
          <p:nvPr/>
        </p:nvSpPr>
        <p:spPr>
          <a:xfrm>
            <a:off x="73152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Companies, users, sessions, sign-in attempts, the audit log.</a:t>
            </a:r>
          </a:p>
        </p:txBody>
      </p:sp>
      <p:sp>
        <p:nvSpPr>
          <p:cNvPr id="6" name="TextBox 5"/>
          <p:cNvSpPr txBox="1"/>
          <p:nvPr/>
        </p:nvSpPr>
        <p:spPr>
          <a:xfrm>
            <a:off x="294436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5 tables</a:t>
            </a:r>
          </a:p>
        </p:txBody>
      </p:sp>
      <p:sp>
        <p:nvSpPr>
          <p:cNvPr id="7" name="Rounded Rectangle 6"/>
          <p:cNvSpPr/>
          <p:nvPr/>
        </p:nvSpPr>
        <p:spPr>
          <a:xfrm>
            <a:off x="431596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448056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Workforce</a:t>
            </a:r>
          </a:p>
        </p:txBody>
      </p:sp>
      <p:sp>
        <p:nvSpPr>
          <p:cNvPr id="9" name="TextBox 8"/>
          <p:cNvSpPr txBox="1"/>
          <p:nvPr/>
        </p:nvSpPr>
        <p:spPr>
          <a:xfrm>
            <a:off x="448056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Employees, employment periods, sites, posts, shift patterns, postings.</a:t>
            </a:r>
          </a:p>
        </p:txBody>
      </p:sp>
      <p:sp>
        <p:nvSpPr>
          <p:cNvPr id="10" name="TextBox 9"/>
          <p:cNvSpPr txBox="1"/>
          <p:nvPr/>
        </p:nvSpPr>
        <p:spPr>
          <a:xfrm>
            <a:off x="669340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6 tables</a:t>
            </a:r>
          </a:p>
        </p:txBody>
      </p:sp>
      <p:sp>
        <p:nvSpPr>
          <p:cNvPr id="11" name="Rounded Rectangle 10"/>
          <p:cNvSpPr/>
          <p:nvPr/>
        </p:nvSpPr>
        <p:spPr>
          <a:xfrm>
            <a:off x="806500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Attendance</a:t>
            </a:r>
          </a:p>
        </p:txBody>
      </p:sp>
      <p:sp>
        <p:nvSpPr>
          <p:cNvPr id="13" name="TextBox 12"/>
          <p:cNvSpPr txBox="1"/>
          <p:nvPr/>
        </p:nvSpPr>
        <p:spPr>
          <a:xfrm>
            <a:off x="822960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Devices, punches, shifts, exceptions, consents, face templates, fingerprint keys, kiosk attempts.</a:t>
            </a:r>
          </a:p>
        </p:txBody>
      </p:sp>
      <p:sp>
        <p:nvSpPr>
          <p:cNvPr id="14" name="TextBox 13"/>
          <p:cNvSpPr txBox="1"/>
          <p:nvPr/>
        </p:nvSpPr>
        <p:spPr>
          <a:xfrm>
            <a:off x="1044244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12 tables</a:t>
            </a:r>
          </a:p>
        </p:txBody>
      </p:sp>
      <p:sp>
        <p:nvSpPr>
          <p:cNvPr id="15" name="Rounded Rectangle 14"/>
          <p:cNvSpPr/>
          <p:nvPr/>
        </p:nvSpPr>
        <p:spPr>
          <a:xfrm>
            <a:off x="56692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Detection</a:t>
            </a:r>
          </a:p>
        </p:txBody>
      </p:sp>
      <p:sp>
        <p:nvSpPr>
          <p:cNvPr id="17" name="TextBox 16"/>
          <p:cNvSpPr txBox="1"/>
          <p:nvPr/>
        </p:nvSpPr>
        <p:spPr>
          <a:xfrm>
            <a:off x="73152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Rules, alerts and the checks that produced them.</a:t>
            </a:r>
          </a:p>
        </p:txBody>
      </p:sp>
      <p:sp>
        <p:nvSpPr>
          <p:cNvPr id="18" name="TextBox 17"/>
          <p:cNvSpPr txBox="1"/>
          <p:nvPr/>
        </p:nvSpPr>
        <p:spPr>
          <a:xfrm>
            <a:off x="294436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3 tables</a:t>
            </a:r>
          </a:p>
        </p:txBody>
      </p:sp>
      <p:sp>
        <p:nvSpPr>
          <p:cNvPr id="19" name="Rounded Rectangle 18"/>
          <p:cNvSpPr/>
          <p:nvPr/>
        </p:nvSpPr>
        <p:spPr>
          <a:xfrm>
            <a:off x="431596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448056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Payroll</a:t>
            </a:r>
          </a:p>
        </p:txBody>
      </p:sp>
      <p:sp>
        <p:nvSpPr>
          <p:cNvPr id="21" name="TextBox 20"/>
          <p:cNvSpPr txBox="1"/>
          <p:nvPr/>
        </p:nvSpPr>
        <p:spPr>
          <a:xfrm>
            <a:off x="448056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Pay terms, payment details, tax tables, periods, runs, lines, payslips.</a:t>
            </a:r>
          </a:p>
        </p:txBody>
      </p:sp>
      <p:sp>
        <p:nvSpPr>
          <p:cNvPr id="22" name="TextBox 21"/>
          <p:cNvSpPr txBox="1"/>
          <p:nvPr/>
        </p:nvSpPr>
        <p:spPr>
          <a:xfrm>
            <a:off x="669340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8 tables</a:t>
            </a:r>
          </a:p>
        </p:txBody>
      </p:sp>
      <p:sp>
        <p:nvSpPr>
          <p:cNvPr id="23" name="Rounded Rectangle 22"/>
          <p:cNvSpPr/>
          <p:nvPr/>
        </p:nvSpPr>
        <p:spPr>
          <a:xfrm>
            <a:off x="806500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4" name="TextBox 23"/>
          <p:cNvSpPr txBox="1"/>
          <p:nvPr/>
        </p:nvSpPr>
        <p:spPr>
          <a:xfrm>
            <a:off x="822960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Company</a:t>
            </a:r>
          </a:p>
        </p:txBody>
      </p:sp>
      <p:sp>
        <p:nvSpPr>
          <p:cNvPr id="25" name="TextBox 24"/>
          <p:cNvSpPr txBox="1"/>
          <p:nvPr/>
        </p:nvSpPr>
        <p:spPr>
          <a:xfrm>
            <a:off x="822960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The company and its bank account, from which the monthly bank file is paid.</a:t>
            </a:r>
          </a:p>
        </p:txBody>
      </p:sp>
      <p:sp>
        <p:nvSpPr>
          <p:cNvPr id="26" name="TextBox 25"/>
          <p:cNvSpPr txBox="1"/>
          <p:nvPr/>
        </p:nvSpPr>
        <p:spPr>
          <a:xfrm>
            <a:off x="1044244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1 table</a:t>
            </a:r>
          </a:p>
        </p:txBody>
      </p:sp>
      <p:sp>
        <p:nvSpPr>
          <p:cNvPr id="27" name="Rounded Rectangle 26"/>
          <p:cNvSpPr/>
          <p:nvPr/>
        </p:nvSpPr>
        <p:spPr>
          <a:xfrm>
            <a:off x="566928" y="4983480"/>
            <a:ext cx="11064240" cy="86868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841248" y="5056632"/>
            <a:ext cx="10515600" cy="777240"/>
          </a:xfrm>
          <a:prstGeom prst="rect">
            <a:avLst/>
          </a:prstGeom>
          <a:noFill/>
        </p:spPr>
        <p:txBody>
          <a:bodyPr wrap="square" lIns="45720" rIns="45720" tIns="27432" bIns="27432">
            <a:spAutoFit/>
          </a:bodyPr>
          <a:lstStyle/>
          <a:p>
            <a:pPr algn="l">
              <a:lnSpc>
                <a:spcPct val="108000"/>
              </a:lnSpc>
              <a:spcAft>
                <a:spcPts val="200"/>
              </a:spcAft>
            </a:pPr>
            <a:r>
              <a:rPr sz="1300" b="1">
                <a:solidFill>
                  <a:srgbClr val="E9DFC9"/>
                </a:solidFill>
                <a:latin typeface="Calibri"/>
              </a:rPr>
              <a:t>Rules the database enforces itself</a:t>
            </a:r>
          </a:p>
          <a:p>
            <a:pPr algn="l">
              <a:lnSpc>
                <a:spcPct val="108000"/>
              </a:lnSpc>
              <a:spcAft>
                <a:spcPts val="400"/>
              </a:spcAft>
            </a:pPr>
            <a:r>
              <a:rPr sz="1100" b="0">
                <a:solidFill>
                  <a:srgbClr val="FFFFFF"/>
                </a:solidFill>
                <a:latin typeface="Calibri"/>
              </a:rPr>
              <a:t>Money is whole pesewas, never decimals. People are never deleted; a leaver becomes TERMINATED. Punches, consents, audit lines and locked runs are append-only. One approved run per month. Every face template is encrypted with a key held outside the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Identity and access</a:t>
            </a:r>
          </a:p>
        </p:txBody>
      </p:sp>
      <p:graphicFrame>
        <p:nvGraphicFramePr>
          <p:cNvPr id="3" name="Table 2"/>
          <p:cNvGraphicFramePr>
            <a:graphicFrameLocks noGrp="1"/>
          </p:cNvGraphicFramePr>
          <p:nvPr/>
        </p:nvGraphicFramePr>
        <p:xfrm>
          <a:off x="566928" y="1783080"/>
          <a:ext cx="6583680" cy="2560320"/>
        </p:xfrm>
        <a:graphic>
          <a:graphicData uri="http://schemas.openxmlformats.org/drawingml/2006/table">
            <a:tbl>
              <a:tblPr firstRow="1" bandRow="1">
                <a:tableStyleId>{5C22544A-7EE6-4342-B048-85BDC9FD1C3A}</a:tableStyleId>
              </a:tblPr>
              <a:tblGrid>
                <a:gridCol w="1737360"/>
                <a:gridCol w="4846320"/>
              </a:tblGrid>
              <a:tr h="512064">
                <a:tc>
                  <a:txBody>
                    <a:bodyPr wrap="square"/>
                    <a:lstStyle/>
                    <a:p>
                      <a:r>
                        <a:rPr sz="1200" b="1">
                          <a:solidFill>
                            <a:srgbClr val="FFFFFF"/>
                          </a:solidFill>
                          <a:latin typeface="Calibri"/>
                        </a:rPr>
                        <a:t>Role</a:t>
                      </a:r>
                    </a:p>
                  </a:txBody>
                  <a:tcPr marL="73152" marR="73152" marT="36576" marB="36576" anchor="ctr">
                    <a:solidFill>
                      <a:srgbClr val="000066"/>
                    </a:solidFill>
                  </a:tcPr>
                </a:tc>
                <a:tc>
                  <a:txBody>
                    <a:bodyPr wrap="square"/>
                    <a:lstStyle/>
                    <a:p>
                      <a:r>
                        <a:rPr sz="1200" b="1">
                          <a:solidFill>
                            <a:srgbClr val="FFFFFF"/>
                          </a:solidFill>
                          <a:latin typeface="Calibri"/>
                        </a:rPr>
                        <a:t>Sees and does</a:t>
                      </a:r>
                    </a:p>
                  </a:txBody>
                  <a:tcPr marL="73152" marR="73152" marT="36576" marB="36576" anchor="ctr">
                    <a:solidFill>
                      <a:srgbClr val="000066"/>
                    </a:solidFill>
                  </a:tcPr>
                </a:tc>
              </a:tr>
              <a:tr h="512064">
                <a:tc>
                  <a:txBody>
                    <a:bodyPr wrap="square"/>
                    <a:lstStyle/>
                    <a:p>
                      <a:r>
                        <a:rPr sz="1200" b="0">
                          <a:solidFill>
                            <a:srgbClr val="1A1A2E"/>
                          </a:solidFill>
                          <a:latin typeface="Calibri"/>
                        </a:rPr>
                        <a:t>Administrator</a:t>
                      </a:r>
                    </a:p>
                  </a:txBody>
                  <a:tcPr marL="73152" marR="73152" marT="36576" marB="36576" anchor="ctr">
                    <a:solidFill>
                      <a:srgbClr val="FFFFFF"/>
                    </a:solidFill>
                  </a:tcPr>
                </a:tc>
                <a:tc>
                  <a:txBody>
                    <a:bodyPr wrap="square"/>
                    <a:lstStyle/>
                    <a:p>
                      <a:r>
                        <a:rPr sz="1200" b="0">
                          <a:solidFill>
                            <a:srgbClr val="1A1A2E"/>
                          </a:solidFill>
                          <a:latin typeface="Calibri"/>
                        </a:rPr>
                        <a:t>Everything: users, devices, biometrics, approving pay, detection rules</a:t>
                      </a:r>
                    </a:p>
                  </a:txBody>
                  <a:tcPr marL="73152" marR="73152" marT="36576" marB="36576" anchor="ctr">
                    <a:solidFill>
                      <a:srgbClr val="FFFFFF"/>
                    </a:solidFill>
                  </a:tcPr>
                </a:tc>
              </a:tr>
              <a:tr h="512064">
                <a:tc>
                  <a:txBody>
                    <a:bodyPr wrap="square"/>
                    <a:lstStyle/>
                    <a:p>
                      <a:r>
                        <a:rPr sz="1200" b="0">
                          <a:solidFill>
                            <a:srgbClr val="1A1A2E"/>
                          </a:solidFill>
                          <a:latin typeface="Calibri"/>
                        </a:rPr>
                        <a:t>HR and payroll</a:t>
                      </a:r>
                    </a:p>
                  </a:txBody>
                  <a:tcPr marL="73152" marR="73152" marT="36576" marB="36576" anchor="ctr">
                    <a:solidFill>
                      <a:srgbClr val="F7F7FA"/>
                    </a:solidFill>
                  </a:tcPr>
                </a:tc>
                <a:tc>
                  <a:txBody>
                    <a:bodyPr wrap="square"/>
                    <a:lstStyle/>
                    <a:p>
                      <a:r>
                        <a:rPr sz="1200" b="0">
                          <a:solidFill>
                            <a:srgbClr val="1A1A2E"/>
                          </a:solidFill>
                          <a:latin typeface="Calibri"/>
                        </a:rPr>
                        <a:t>People, pay terms and bank details, preparing payroll runs, reports</a:t>
                      </a:r>
                    </a:p>
                  </a:txBody>
                  <a:tcPr marL="73152" marR="73152" marT="36576" marB="36576" anchor="ctr">
                    <a:solidFill>
                      <a:srgbClr val="F7F7FA"/>
                    </a:solidFill>
                  </a:tcPr>
                </a:tc>
              </a:tr>
              <a:tr h="512064">
                <a:tc>
                  <a:txBody>
                    <a:bodyPr wrap="square"/>
                    <a:lstStyle/>
                    <a:p>
                      <a:r>
                        <a:rPr sz="1200" b="0">
                          <a:solidFill>
                            <a:srgbClr val="1A1A2E"/>
                          </a:solidFill>
                          <a:latin typeface="Calibri"/>
                        </a:rPr>
                        <a:t>Supervisor</a:t>
                      </a:r>
                    </a:p>
                  </a:txBody>
                  <a:tcPr marL="73152" marR="73152" marT="36576" marB="36576" anchor="ctr">
                    <a:solidFill>
                      <a:srgbClr val="FFFFFF"/>
                    </a:solidFill>
                  </a:tcPr>
                </a:tc>
                <a:tc>
                  <a:txBody>
                    <a:bodyPr wrap="square"/>
                    <a:lstStyle/>
                    <a:p>
                      <a:r>
                        <a:rPr sz="1200" b="0">
                          <a:solidFill>
                            <a:srgbClr val="1A1A2E"/>
                          </a:solidFill>
                          <a:latin typeface="Calibri"/>
                        </a:rPr>
                        <a:t>Attendance and rosters, only for the sites they are posted to; may co-sign a clock-in</a:t>
                      </a:r>
                    </a:p>
                  </a:txBody>
                  <a:tcPr marL="73152" marR="73152" marT="36576" marB="36576" anchor="ctr">
                    <a:solidFill>
                      <a:srgbClr val="FFFFFF"/>
                    </a:solidFill>
                  </a:tcPr>
                </a:tc>
              </a:tr>
              <a:tr h="512064">
                <a:tc>
                  <a:txBody>
                    <a:bodyPr wrap="square"/>
                    <a:lstStyle/>
                    <a:p>
                      <a:r>
                        <a:rPr sz="1200" b="0">
                          <a:solidFill>
                            <a:srgbClr val="1A1A2E"/>
                          </a:solidFill>
                          <a:latin typeface="Calibri"/>
                        </a:rPr>
                        <a:t>Guard</a:t>
                      </a:r>
                    </a:p>
                  </a:txBody>
                  <a:tcPr marL="73152" marR="73152" marT="36576" marB="36576" anchor="ctr">
                    <a:solidFill>
                      <a:srgbClr val="F7F7FA"/>
                    </a:solidFill>
                  </a:tcPr>
                </a:tc>
                <a:tc>
                  <a:txBody>
                    <a:bodyPr wrap="square"/>
                    <a:lstStyle/>
                    <a:p>
                      <a:r>
                        <a:rPr sz="1200" b="0">
                          <a:solidFill>
                            <a:srgbClr val="1A1A2E"/>
                          </a:solidFill>
                          <a:latin typeface="Calibri"/>
                        </a:rPr>
                        <a:t>Their own record, attendance and payslips</a:t>
                      </a:r>
                    </a:p>
                  </a:txBody>
                  <a:tcPr marL="73152" marR="73152" marT="36576" marB="36576" anchor="ctr">
                    <a:solidFill>
                      <a:srgbClr val="F7F7FA"/>
                    </a:solidFill>
                  </a:tcPr>
                </a:tc>
              </a:tr>
            </a:tbl>
          </a:graphicData>
        </a:graphic>
      </p:graphicFrame>
      <p:sp>
        <p:nvSpPr>
          <p:cNvPr id="4" name="Rounded Rectangle 3"/>
          <p:cNvSpPr/>
          <p:nvPr/>
        </p:nvSpPr>
        <p:spPr>
          <a:xfrm>
            <a:off x="7424928" y="1783080"/>
            <a:ext cx="4206240" cy="1737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5" name="TextBox 4"/>
          <p:cNvSpPr txBox="1"/>
          <p:nvPr/>
        </p:nvSpPr>
        <p:spPr>
          <a:xfrm>
            <a:off x="7589520" y="1911096"/>
            <a:ext cx="391363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Signing in</a:t>
            </a:r>
          </a:p>
        </p:txBody>
      </p:sp>
      <p:sp>
        <p:nvSpPr>
          <p:cNvPr id="6" name="TextBox 5"/>
          <p:cNvSpPr txBox="1"/>
          <p:nvPr/>
        </p:nvSpPr>
        <p:spPr>
          <a:xfrm>
            <a:off x="7589520" y="2386584"/>
            <a:ext cx="3877056" cy="1005840"/>
          </a:xfrm>
          <a:prstGeom prst="rect">
            <a:avLst/>
          </a:prstGeom>
          <a:noFill/>
        </p:spPr>
        <p:txBody>
          <a:bodyPr wrap="square" lIns="45720" rIns="45720" tIns="27432" bIns="27432">
            <a:spAutoFit/>
          </a:bodyPr>
          <a:lstStyle/>
          <a:p>
            <a:pPr algn="l">
              <a:lnSpc>
                <a:spcPct val="108000"/>
              </a:lnSpc>
              <a:spcAft>
                <a:spcPts val="300"/>
              </a:spcAft>
            </a:pPr>
            <a:r>
              <a:rPr sz="1050" b="0">
                <a:solidFill>
                  <a:srgbClr val="1A1A2E"/>
                </a:solidFill>
                <a:latin typeface="Calibri"/>
              </a:rPr>
              <a:t>•  Password (scrypt-hashed) plus a six-digit authenticator code for administrators and payroll staff</a:t>
            </a:r>
          </a:p>
          <a:p>
            <a:pPr algn="l">
              <a:lnSpc>
                <a:spcPct val="108000"/>
              </a:lnSpc>
              <a:spcAft>
                <a:spcPts val="300"/>
              </a:spcAft>
            </a:pPr>
            <a:r>
              <a:rPr sz="1050" b="0">
                <a:solidFill>
                  <a:srgbClr val="1A1A2E"/>
                </a:solidFill>
                <a:latin typeface="Calibri"/>
              </a:rPr>
              <a:t>•  Five wrong passwords lock the email for fifteen minutes</a:t>
            </a:r>
          </a:p>
          <a:p>
            <a:pPr algn="l">
              <a:lnSpc>
                <a:spcPct val="108000"/>
              </a:lnSpc>
              <a:spcAft>
                <a:spcPts val="300"/>
              </a:spcAft>
            </a:pPr>
            <a:r>
              <a:rPr sz="1050" b="0">
                <a:solidFill>
                  <a:srgbClr val="1A1A2E"/>
                </a:solidFill>
                <a:latin typeface="Calibri"/>
              </a:rPr>
              <a:t>•  Short-lived access tokens; refresh tokens rotate and are revoked on reuse</a:t>
            </a:r>
          </a:p>
        </p:txBody>
      </p:sp>
      <p:sp>
        <p:nvSpPr>
          <p:cNvPr id="7" name="Rounded Rectangle 6"/>
          <p:cNvSpPr/>
          <p:nvPr/>
        </p:nvSpPr>
        <p:spPr>
          <a:xfrm>
            <a:off x="7424928" y="3657599"/>
            <a:ext cx="4206240" cy="2194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7589520" y="3785615"/>
            <a:ext cx="391363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The password step</a:t>
            </a:r>
          </a:p>
        </p:txBody>
      </p:sp>
      <p:sp>
        <p:nvSpPr>
          <p:cNvPr id="9" name="TextBox 8"/>
          <p:cNvSpPr txBox="1"/>
          <p:nvPr/>
        </p:nvSpPr>
        <p:spPr>
          <a:xfrm>
            <a:off x="7589520" y="4261103"/>
            <a:ext cx="3877056" cy="1463040"/>
          </a:xfrm>
          <a:prstGeom prst="rect">
            <a:avLst/>
          </a:prstGeom>
          <a:noFill/>
        </p:spPr>
        <p:txBody>
          <a:bodyPr wrap="square" lIns="45720" rIns="45720" tIns="27432" bIns="27432">
            <a:spAutoFit/>
          </a:bodyPr>
          <a:lstStyle/>
          <a:p>
            <a:pPr algn="l">
              <a:lnSpc>
                <a:spcPct val="108000"/>
              </a:lnSpc>
              <a:spcAft>
                <a:spcPts val="300"/>
              </a:spcAft>
            </a:pPr>
            <a:r>
              <a:rPr sz="1050" b="0">
                <a:solidFill>
                  <a:srgbClr val="1A1A2E"/>
                </a:solidFill>
                <a:latin typeface="Calibri"/>
              </a:rPr>
              <a:t>•  Any administrator can act alone; nobody waits for a second approver</a:t>
            </a:r>
          </a:p>
          <a:p>
            <a:pPr algn="l">
              <a:lnSpc>
                <a:spcPct val="108000"/>
              </a:lnSpc>
              <a:spcAft>
                <a:spcPts val="300"/>
              </a:spcAft>
            </a:pPr>
            <a:r>
              <a:rPr sz="1050" b="0">
                <a:solidFill>
                  <a:srgbClr val="1A1A2E"/>
                </a:solidFill>
                <a:latin typeface="Calibri"/>
              </a:rPr>
              <a:t>•  Sensitive actions (approving pay, wiping a face, creating an account, switching on a device) ask for the administrator’s own password once, then stay quiet for five minutes</a:t>
            </a:r>
          </a:p>
          <a:p>
            <a:pPr algn="l">
              <a:lnSpc>
                <a:spcPct val="108000"/>
              </a:lnSpc>
              <a:spcAft>
                <a:spcPts val="300"/>
              </a:spcAft>
            </a:pPr>
            <a:r>
              <a:rPr sz="1050" b="0">
                <a:solidFill>
                  <a:srgbClr val="1A1A2E"/>
                </a:solidFill>
                <a:latin typeface="Calibri"/>
              </a:rPr>
              <a:t>•  Every action is written to the audit log with who, what and when</a:t>
            </a:r>
          </a:p>
        </p:txBody>
      </p:sp>
      <p:sp>
        <p:nvSpPr>
          <p:cNvPr id="10" name="TextBox 9"/>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Role checks happen on the server on every request, not only by hiding buttons.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Biometrics: the face, the fingerprint and consent</a:t>
            </a:r>
          </a:p>
        </p:txBody>
      </p:sp>
      <p:sp>
        <p:nvSpPr>
          <p:cNvPr id="3" name="Rounded Rectangle 2"/>
          <p:cNvSpPr/>
          <p:nvPr/>
        </p:nvSpPr>
        <p:spPr>
          <a:xfrm>
            <a:off x="566928" y="1783080"/>
            <a:ext cx="36118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How a face is matched</a:t>
            </a:r>
          </a:p>
        </p:txBody>
      </p:sp>
      <p:sp>
        <p:nvSpPr>
          <p:cNvPr id="5" name="TextBox 4"/>
          <p:cNvSpPr txBox="1"/>
          <p:nvPr/>
        </p:nvSpPr>
        <p:spPr>
          <a:xfrm>
            <a:off x="731520" y="2386584"/>
            <a:ext cx="328269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The kiosk finds the face, checks liveness and asks for a head turn (left or right at random), which a printed photo cannot do</a:t>
            </a:r>
          </a:p>
          <a:p>
            <a:pPr algn="l">
              <a:lnSpc>
                <a:spcPct val="108000"/>
              </a:lnSpc>
              <a:spcAft>
                <a:spcPts val="300"/>
              </a:spcAft>
            </a:pPr>
            <a:r>
              <a:rPr sz="1100" b="0">
                <a:solidFill>
                  <a:srgbClr val="1A1A2E"/>
                </a:solidFill>
                <a:latin typeface="Calibri"/>
              </a:rPr>
              <a:t>•  ArcFace turns the aligned face into 512 numbers; no photo is kept anywhere</a:t>
            </a:r>
          </a:p>
          <a:p>
            <a:pPr algn="l">
              <a:lnSpc>
                <a:spcPct val="108000"/>
              </a:lnSpc>
              <a:spcAft>
                <a:spcPts val="300"/>
              </a:spcAft>
            </a:pPr>
            <a:r>
              <a:rPr sz="1100" b="0">
                <a:solidFill>
                  <a:srgbClr val="1A1A2E"/>
                </a:solidFill>
                <a:latin typeface="Calibri"/>
              </a:rPr>
              <a:t>•  The server compares those numbers only with workers posted to that site, by cosine similarity</a:t>
            </a:r>
          </a:p>
          <a:p>
            <a:pPr algn="l">
              <a:lnSpc>
                <a:spcPct val="108000"/>
              </a:lnSpc>
              <a:spcAft>
                <a:spcPts val="300"/>
              </a:spcAft>
            </a:pPr>
            <a:r>
              <a:rPr sz="1100" b="0">
                <a:solidFill>
                  <a:srgbClr val="1A1A2E"/>
                </a:solidFill>
                <a:latin typeface="Calibri"/>
              </a:rPr>
              <a:t>•  A match needs a score of at least 0.40 and a lead of 0.05 over the next person; otherwise "Not recognised"</a:t>
            </a:r>
          </a:p>
        </p:txBody>
      </p:sp>
      <p:sp>
        <p:nvSpPr>
          <p:cNvPr id="6" name="Rounded Rectangle 5"/>
          <p:cNvSpPr/>
          <p:nvPr/>
        </p:nvSpPr>
        <p:spPr>
          <a:xfrm>
            <a:off x="4315967" y="1783080"/>
            <a:ext cx="36118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4480559" y="191109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Enrolment and duplicates</a:t>
            </a:r>
          </a:p>
        </p:txBody>
      </p:sp>
      <p:sp>
        <p:nvSpPr>
          <p:cNvPr id="8" name="TextBox 7"/>
          <p:cNvSpPr txBox="1"/>
          <p:nvPr/>
        </p:nvSpPr>
        <p:spPr>
          <a:xfrm>
            <a:off x="4480559" y="2386584"/>
            <a:ext cx="328269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Only an administrator enrols, after signing in on the kiosk</a:t>
            </a:r>
          </a:p>
          <a:p>
            <a:pPr algn="l">
              <a:lnSpc>
                <a:spcPct val="108000"/>
              </a:lnSpc>
              <a:spcAft>
                <a:spcPts val="300"/>
              </a:spcAft>
            </a:pPr>
            <a:r>
              <a:rPr sz="1100" b="0">
                <a:solidFill>
                  <a:srgbClr val="1A1A2E"/>
                </a:solidFill>
                <a:latin typeface="Calibri"/>
              </a:rPr>
              <a:t>•  The worker hears the consent words and confirms the last four digits of their Ghana Card</a:t>
            </a:r>
          </a:p>
          <a:p>
            <a:pPr algn="l">
              <a:lnSpc>
                <a:spcPct val="108000"/>
              </a:lnSpc>
              <a:spcAft>
                <a:spcPts val="300"/>
              </a:spcAft>
            </a:pPr>
            <a:r>
              <a:rPr sz="1100" b="0">
                <a:solidFill>
                  <a:srgbClr val="1A1A2E"/>
                </a:solidFill>
                <a:latin typeface="Calibri"/>
              </a:rPr>
              <a:t>•  Three captures must agree with each other (0.70)</a:t>
            </a:r>
          </a:p>
          <a:p>
            <a:pPr algn="l">
              <a:lnSpc>
                <a:spcPct val="108000"/>
              </a:lnSpc>
              <a:spcAft>
                <a:spcPts val="300"/>
              </a:spcAft>
            </a:pPr>
            <a:r>
              <a:rPr sz="1100" b="0">
                <a:solidFill>
                  <a:srgbClr val="1A1A2E"/>
                </a:solidFill>
                <a:latin typeface="Calibri"/>
              </a:rPr>
              <a:t>•  A new face closer than 0.35 to anyone already enrolled is held for review: one person cannot exist under two names</a:t>
            </a:r>
          </a:p>
          <a:p>
            <a:pPr algn="l">
              <a:lnSpc>
                <a:spcPct val="108000"/>
              </a:lnSpc>
              <a:spcAft>
                <a:spcPts val="300"/>
              </a:spcAft>
            </a:pPr>
            <a:r>
              <a:rPr sz="1100" b="0">
                <a:solidFill>
                  <a:srgbClr val="1A1A2E"/>
                </a:solidFill>
                <a:latin typeface="Calibri"/>
              </a:rPr>
              <a:t>•  A fingerprint can be saved on the kiosk’s own sensor (WebAuthn) as a second way in</a:t>
            </a:r>
          </a:p>
        </p:txBody>
      </p:sp>
      <p:sp>
        <p:nvSpPr>
          <p:cNvPr id="9" name="Rounded Rectangle 8"/>
          <p:cNvSpPr/>
          <p:nvPr/>
        </p:nvSpPr>
        <p:spPr>
          <a:xfrm>
            <a:off x="8065007" y="1783080"/>
            <a:ext cx="35661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8229599" y="1911096"/>
            <a:ext cx="32735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Privacy by design</a:t>
            </a:r>
          </a:p>
        </p:txBody>
      </p:sp>
      <p:sp>
        <p:nvSpPr>
          <p:cNvPr id="11" name="TextBox 10"/>
          <p:cNvSpPr txBox="1"/>
          <p:nvPr/>
        </p:nvSpPr>
        <p:spPr>
          <a:xfrm>
            <a:off x="8229599" y="2386584"/>
            <a:ext cx="323697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Consent recorded first, with the exact wording version</a:t>
            </a:r>
          </a:p>
          <a:p>
            <a:pPr algn="l">
              <a:lnSpc>
                <a:spcPct val="108000"/>
              </a:lnSpc>
              <a:spcAft>
                <a:spcPts val="300"/>
              </a:spcAft>
            </a:pPr>
            <a:r>
              <a:rPr sz="1100" b="0">
                <a:solidFill>
                  <a:srgbClr val="1A1A2E"/>
                </a:solidFill>
                <a:latin typeface="Calibri"/>
              </a:rPr>
              <a:t>•  Templates are encrypted with a key held outside the database</a:t>
            </a:r>
          </a:p>
          <a:p>
            <a:pPr algn="l">
              <a:lnSpc>
                <a:spcPct val="108000"/>
              </a:lnSpc>
              <a:spcAft>
                <a:spcPts val="300"/>
              </a:spcAft>
            </a:pPr>
            <a:r>
              <a:rPr sz="1100" b="0">
                <a:solidFill>
                  <a:srgbClr val="1A1A2E"/>
                </a:solidFill>
                <a:latin typeface="Calibri"/>
              </a:rPr>
              <a:t>•  Deleted 90 days after a worker leaves; the record of work stays</a:t>
            </a:r>
          </a:p>
          <a:p>
            <a:pPr algn="l">
              <a:lnSpc>
                <a:spcPct val="108000"/>
              </a:lnSpc>
              <a:spcAft>
                <a:spcPts val="300"/>
              </a:spcAft>
            </a:pPr>
            <a:r>
              <a:rPr sz="1100" b="0">
                <a:solidFill>
                  <a:srgbClr val="1A1A2E"/>
                </a:solidFill>
                <a:latin typeface="Calibri"/>
              </a:rPr>
              <a:t>•  Workers may refuse: a supervisor co-signs their clock-in instead, at full pay</a:t>
            </a:r>
          </a:p>
          <a:p>
            <a:pPr algn="l">
              <a:lnSpc>
                <a:spcPct val="108000"/>
              </a:lnSpc>
              <a:spcAft>
                <a:spcPts val="300"/>
              </a:spcAft>
            </a:pPr>
            <a:r>
              <a:rPr sz="1100" b="0">
                <a:solidFill>
                  <a:srgbClr val="1A1A2E"/>
                </a:solidFill>
                <a:latin typeface="Calibri"/>
              </a:rPr>
              <a:t>•  Aligned with Ghana’s Data Protection Act, 2012 (Act 843)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Attendance: from a face at the gate to payable hours</a:t>
            </a:r>
          </a:p>
        </p:txBody>
      </p:sp>
      <p:sp>
        <p:nvSpPr>
          <p:cNvPr id="3" name="Pentagon 2"/>
          <p:cNvSpPr/>
          <p:nvPr/>
        </p:nvSpPr>
        <p:spPr>
          <a:xfrm>
            <a:off x="566928" y="1828800"/>
            <a:ext cx="2168956"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Start shift</a:t>
            </a:r>
          </a:p>
        </p:txBody>
      </p:sp>
      <p:sp>
        <p:nvSpPr>
          <p:cNvPr id="4" name="Chevron 3"/>
          <p:cNvSpPr/>
          <p:nvPr/>
        </p:nvSpPr>
        <p:spPr>
          <a:xfrm>
            <a:off x="279074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Head turn and match</a:t>
            </a:r>
          </a:p>
        </p:txBody>
      </p:sp>
      <p:sp>
        <p:nvSpPr>
          <p:cNvPr id="5" name="Chevron 4"/>
          <p:cNvSpPr/>
          <p:nvPr/>
        </p:nvSpPr>
        <p:spPr>
          <a:xfrm>
            <a:off x="501456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Signed punch stored</a:t>
            </a:r>
          </a:p>
        </p:txBody>
      </p:sp>
      <p:sp>
        <p:nvSpPr>
          <p:cNvPr id="6" name="Chevron 5"/>
          <p:cNvSpPr/>
          <p:nvPr/>
        </p:nvSpPr>
        <p:spPr>
          <a:xfrm>
            <a:off x="723838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Paired into a shift</a:t>
            </a:r>
          </a:p>
        </p:txBody>
      </p:sp>
      <p:sp>
        <p:nvSpPr>
          <p:cNvPr id="7" name="Chevron 6"/>
          <p:cNvSpPr/>
          <p:nvPr/>
        </p:nvSpPr>
        <p:spPr>
          <a:xfrm>
            <a:off x="9462208" y="1828800"/>
            <a:ext cx="2168956"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Counted hours</a:t>
            </a:r>
          </a:p>
        </p:txBody>
      </p:sp>
      <p:sp>
        <p:nvSpPr>
          <p:cNvPr id="8" name="Rounded Rectangle 7"/>
          <p:cNvSpPr/>
          <p:nvPr/>
        </p:nvSpPr>
        <p:spPr>
          <a:xfrm>
            <a:off x="566928" y="2880360"/>
            <a:ext cx="361188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731520" y="300837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Devices sign everything</a:t>
            </a:r>
          </a:p>
        </p:txBody>
      </p:sp>
      <p:sp>
        <p:nvSpPr>
          <p:cNvPr id="10" name="TextBox 9"/>
          <p:cNvSpPr txBox="1"/>
          <p:nvPr/>
        </p:nvSpPr>
        <p:spPr>
          <a:xfrm>
            <a:off x="731520" y="3483864"/>
            <a:ext cx="328269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Each device has its own secret key, born switched off until an administrator switches it on. Every request is signed; a stale or wrong signature is refused. A device belongs to one site for life.</a:t>
            </a:r>
          </a:p>
        </p:txBody>
      </p:sp>
      <p:sp>
        <p:nvSpPr>
          <p:cNvPr id="11" name="Rounded Rectangle 10"/>
          <p:cNvSpPr/>
          <p:nvPr/>
        </p:nvSpPr>
        <p:spPr>
          <a:xfrm>
            <a:off x="4315967" y="2880360"/>
            <a:ext cx="361188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4480559" y="300837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Exceptions go to a person</a:t>
            </a:r>
          </a:p>
        </p:txBody>
      </p:sp>
      <p:sp>
        <p:nvSpPr>
          <p:cNvPr id="13" name="TextBox 12"/>
          <p:cNvSpPr txBox="1"/>
          <p:nvPr/>
        </p:nvSpPr>
        <p:spPr>
          <a:xfrm>
            <a:off x="4480559" y="3483864"/>
            <a:ext cx="328269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missing clock-out, two shifts at once, a number nobody matches or a worker who may not clock in: each lands in an exception queue for a supervisor to settle in writing. Night shifts count on the day they started.</a:t>
            </a:r>
          </a:p>
        </p:txBody>
      </p:sp>
      <p:sp>
        <p:nvSpPr>
          <p:cNvPr id="14" name="Rounded Rectangle 13"/>
          <p:cNvSpPr/>
          <p:nvPr/>
        </p:nvSpPr>
        <p:spPr>
          <a:xfrm>
            <a:off x="8065007" y="2880360"/>
            <a:ext cx="356616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5" name="TextBox 14"/>
          <p:cNvSpPr txBox="1"/>
          <p:nvPr/>
        </p:nvSpPr>
        <p:spPr>
          <a:xfrm>
            <a:off x="8229599" y="3008376"/>
            <a:ext cx="32735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Fallbacks that stay honest</a:t>
            </a:r>
          </a:p>
        </p:txBody>
      </p:sp>
      <p:sp>
        <p:nvSpPr>
          <p:cNvPr id="16" name="TextBox 15"/>
          <p:cNvSpPr txBox="1"/>
          <p:nvPr/>
        </p:nvSpPr>
        <p:spPr>
          <a:xfrm>
            <a:off x="8229599" y="3483864"/>
            <a:ext cx="323697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worker without a face can clock in with a supervisor’s co-sign; such punches are flagged for detection. The live board shows every punch within five seconds; the kiosk works only online, so time always comes from the server.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Payroll: Ghanaian pay from verified attendance</a:t>
            </a:r>
          </a:p>
        </p:txBody>
      </p:sp>
      <p:sp>
        <p:nvSpPr>
          <p:cNvPr id="3" name="Pentagon 2"/>
          <p:cNvSpPr/>
          <p:nvPr/>
        </p:nvSpPr>
        <p:spPr>
          <a:xfrm>
            <a:off x="566928" y="1828800"/>
            <a:ext cx="1798320"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Open the month</a:t>
            </a:r>
          </a:p>
        </p:txBody>
      </p:sp>
      <p:sp>
        <p:nvSpPr>
          <p:cNvPr id="4" name="Chevron 3"/>
          <p:cNvSpPr/>
          <p:nvPr/>
        </p:nvSpPr>
        <p:spPr>
          <a:xfrm>
            <a:off x="2420112"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 out a run</a:t>
            </a:r>
          </a:p>
        </p:txBody>
      </p:sp>
      <p:sp>
        <p:nvSpPr>
          <p:cNvPr id="5" name="Chevron 4"/>
          <p:cNvSpPr/>
          <p:nvPr/>
        </p:nvSpPr>
        <p:spPr>
          <a:xfrm>
            <a:off x="4273296"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Submit</a:t>
            </a:r>
          </a:p>
        </p:txBody>
      </p:sp>
      <p:sp>
        <p:nvSpPr>
          <p:cNvPr id="6" name="Chevron 5"/>
          <p:cNvSpPr/>
          <p:nvPr/>
        </p:nvSpPr>
        <p:spPr>
          <a:xfrm>
            <a:off x="6126480"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 with a password</a:t>
            </a:r>
          </a:p>
        </p:txBody>
      </p:sp>
      <p:sp>
        <p:nvSpPr>
          <p:cNvPr id="7" name="Chevron 6"/>
          <p:cNvSpPr/>
          <p:nvPr/>
        </p:nvSpPr>
        <p:spPr>
          <a:xfrm>
            <a:off x="7979664"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Locked</a:t>
            </a:r>
          </a:p>
        </p:txBody>
      </p:sp>
      <p:sp>
        <p:nvSpPr>
          <p:cNvPr id="8" name="Chevron 7"/>
          <p:cNvSpPr/>
          <p:nvPr/>
        </p:nvSpPr>
        <p:spPr>
          <a:xfrm>
            <a:off x="9832848" y="1828800"/>
            <a:ext cx="1798320"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Pay and receipt</a:t>
            </a:r>
          </a:p>
        </p:txBody>
      </p:sp>
      <p:sp>
        <p:nvSpPr>
          <p:cNvPr id="9" name="Rounded Rectangle 8"/>
          <p:cNvSpPr/>
          <p:nvPr/>
        </p:nvSpPr>
        <p:spPr>
          <a:xfrm>
            <a:off x="566928" y="2880360"/>
            <a:ext cx="5394960" cy="29718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731520" y="300837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What a run calculates</a:t>
            </a:r>
          </a:p>
        </p:txBody>
      </p:sp>
      <p:sp>
        <p:nvSpPr>
          <p:cNvPr id="11" name="TextBox 10"/>
          <p:cNvSpPr txBox="1"/>
          <p:nvPr/>
        </p:nvSpPr>
        <p:spPr>
          <a:xfrm>
            <a:off x="731520" y="3483864"/>
            <a:ext cx="5065776" cy="22402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Basic pay pro-rated for days employed, overtime from counted hours, allowances and deductions from each worker’s pay terms</a:t>
            </a:r>
          </a:p>
          <a:p>
            <a:pPr algn="l">
              <a:lnSpc>
                <a:spcPct val="108000"/>
              </a:lnSpc>
              <a:spcAft>
                <a:spcPts val="300"/>
              </a:spcAft>
            </a:pPr>
            <a:r>
              <a:rPr sz="1200" b="0">
                <a:solidFill>
                  <a:srgbClr val="1A1A2E"/>
                </a:solidFill>
                <a:latin typeface="Calibri"/>
              </a:rPr>
              <a:t>•  SSNIT (5.5% employee, 13% employer) and PAYE through the graduated bands of the current tax table</a:t>
            </a:r>
          </a:p>
          <a:p>
            <a:pPr algn="l">
              <a:lnSpc>
                <a:spcPct val="108000"/>
              </a:lnSpc>
              <a:spcAft>
                <a:spcPts val="300"/>
              </a:spcAft>
            </a:pPr>
            <a:r>
              <a:rPr sz="1200" b="0">
                <a:solidFill>
                  <a:srgbClr val="1A1A2E"/>
                </a:solidFill>
                <a:latin typeface="Calibri"/>
              </a:rPr>
              <a:t>•  Whole pesewas everywhere; every input is copied onto the line so it can be re-checked years later</a:t>
            </a:r>
          </a:p>
          <a:p>
            <a:pPr algn="l">
              <a:lnSpc>
                <a:spcPct val="108000"/>
              </a:lnSpc>
              <a:spcAft>
                <a:spcPts val="300"/>
              </a:spcAft>
            </a:pPr>
            <a:r>
              <a:rPr sz="1200" b="0">
                <a:solidFill>
                  <a:srgbClr val="1A1A2E"/>
                </a:solidFill>
                <a:latin typeface="Calibri"/>
              </a:rPr>
              <a:t>•  A run that pays hours the attendance records do not support is refused until the shifts are settled</a:t>
            </a:r>
          </a:p>
        </p:txBody>
      </p:sp>
      <p:sp>
        <p:nvSpPr>
          <p:cNvPr id="12" name="Rounded Rectangle 11"/>
          <p:cNvSpPr/>
          <p:nvPr/>
        </p:nvSpPr>
        <p:spPr>
          <a:xfrm>
            <a:off x="6236208" y="2880360"/>
            <a:ext cx="5394960" cy="29718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6400800" y="300837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What comes out</a:t>
            </a:r>
          </a:p>
        </p:txBody>
      </p:sp>
      <p:sp>
        <p:nvSpPr>
          <p:cNvPr id="14" name="TextBox 13"/>
          <p:cNvSpPr txBox="1"/>
          <p:nvPr/>
        </p:nvSpPr>
        <p:spPr>
          <a:xfrm>
            <a:off x="6400800" y="3483864"/>
            <a:ext cx="5065776" cy="22402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Approval asks for the administrator’s password; from then on the database refuses any change to the figures</a:t>
            </a:r>
          </a:p>
          <a:p>
            <a:pPr algn="l">
              <a:lnSpc>
                <a:spcPct val="108000"/>
              </a:lnSpc>
              <a:spcAft>
                <a:spcPts val="300"/>
              </a:spcAft>
            </a:pPr>
            <a:r>
              <a:rPr sz="1200" b="0">
                <a:solidFill>
                  <a:srgbClr val="1A1A2E"/>
                </a:solidFill>
                <a:latin typeface="Calibri"/>
              </a:rPr>
              <a:t>•  Payslips (PDF) for every worker, made in the same transaction as the approval</a:t>
            </a:r>
          </a:p>
          <a:p>
            <a:pPr algn="l">
              <a:lnSpc>
                <a:spcPct val="108000"/>
              </a:lnSpc>
              <a:spcAft>
                <a:spcPts val="300"/>
              </a:spcAft>
            </a:pPr>
            <a:r>
              <a:rPr sz="1200" b="0">
                <a:solidFill>
                  <a:srgbClr val="1A1A2E"/>
                </a:solidFill>
                <a:latin typeface="Calibri"/>
              </a:rPr>
              <a:t>•  A bank file for the company’s bank, paid out of the company’s own account; marking it paid records the date and reference</a:t>
            </a:r>
          </a:p>
          <a:p>
            <a:pPr algn="l">
              <a:lnSpc>
                <a:spcPct val="108000"/>
              </a:lnSpc>
              <a:spcAft>
                <a:spcPts val="300"/>
              </a:spcAft>
            </a:pPr>
            <a:r>
              <a:rPr sz="1200" b="0">
                <a:solidFill>
                  <a:srgbClr val="1A1A2E"/>
                </a:solidFill>
                <a:latin typeface="Calibri"/>
              </a:rPr>
              <a:t>•  A salary payment receipt for the company, and a client invoice per site per month from the counted hours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Ghost detection: eleven rules that hunt pay without presence</a:t>
            </a:r>
          </a:p>
        </p:txBody>
      </p:sp>
      <p:sp>
        <p:nvSpPr>
          <p:cNvPr id="3" name="Rounded Rectangle 2"/>
          <p:cNvSpPr/>
          <p:nvPr/>
        </p:nvSpPr>
        <p:spPr>
          <a:xfrm>
            <a:off x="56692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67665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a:t>
            </a:r>
          </a:p>
        </p:txBody>
      </p:sp>
      <p:sp>
        <p:nvSpPr>
          <p:cNvPr id="5" name="TextBox 4"/>
          <p:cNvSpPr txBox="1"/>
          <p:nvPr/>
        </p:nvSpPr>
        <p:spPr>
          <a:xfrm>
            <a:off x="120700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Duplicate enrolment</a:t>
            </a:r>
          </a:p>
        </p:txBody>
      </p:sp>
      <p:sp>
        <p:nvSpPr>
          <p:cNvPr id="6" name="Rounded Rectangle 5"/>
          <p:cNvSpPr/>
          <p:nvPr/>
        </p:nvSpPr>
        <p:spPr>
          <a:xfrm>
            <a:off x="335584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46557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R2</a:t>
            </a:r>
          </a:p>
        </p:txBody>
      </p:sp>
      <p:sp>
        <p:nvSpPr>
          <p:cNvPr id="8" name="TextBox 7"/>
          <p:cNvSpPr txBox="1"/>
          <p:nvPr/>
        </p:nvSpPr>
        <p:spPr>
          <a:xfrm>
            <a:off x="399592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Identity collision</a:t>
            </a:r>
          </a:p>
        </p:txBody>
      </p:sp>
      <p:sp>
        <p:nvSpPr>
          <p:cNvPr id="9" name="Rounded Rectangle 8"/>
          <p:cNvSpPr/>
          <p:nvPr/>
        </p:nvSpPr>
        <p:spPr>
          <a:xfrm>
            <a:off x="614476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25449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R3</a:t>
            </a:r>
          </a:p>
        </p:txBody>
      </p:sp>
      <p:sp>
        <p:nvSpPr>
          <p:cNvPr id="11" name="TextBox 10"/>
          <p:cNvSpPr txBox="1"/>
          <p:nvPr/>
        </p:nvSpPr>
        <p:spPr>
          <a:xfrm>
            <a:off x="678484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Paid without presence</a:t>
            </a:r>
          </a:p>
        </p:txBody>
      </p:sp>
      <p:sp>
        <p:nvSpPr>
          <p:cNvPr id="12" name="Rounded Rectangle 11"/>
          <p:cNvSpPr/>
          <p:nvPr/>
        </p:nvSpPr>
        <p:spPr>
          <a:xfrm>
            <a:off x="893368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904341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R4</a:t>
            </a:r>
          </a:p>
        </p:txBody>
      </p:sp>
      <p:sp>
        <p:nvSpPr>
          <p:cNvPr id="14" name="TextBox 13"/>
          <p:cNvSpPr txBox="1"/>
          <p:nvPr/>
        </p:nvSpPr>
        <p:spPr>
          <a:xfrm>
            <a:off x="957376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Bilocation</a:t>
            </a:r>
          </a:p>
        </p:txBody>
      </p:sp>
      <p:sp>
        <p:nvSpPr>
          <p:cNvPr id="15" name="Rounded Rectangle 14"/>
          <p:cNvSpPr/>
          <p:nvPr/>
        </p:nvSpPr>
        <p:spPr>
          <a:xfrm>
            <a:off x="56692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67665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R5</a:t>
            </a:r>
          </a:p>
        </p:txBody>
      </p:sp>
      <p:sp>
        <p:nvSpPr>
          <p:cNvPr id="17" name="TextBox 16"/>
          <p:cNvSpPr txBox="1"/>
          <p:nvPr/>
        </p:nvSpPr>
        <p:spPr>
          <a:xfrm>
            <a:off x="120700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Never seen</a:t>
            </a:r>
          </a:p>
        </p:txBody>
      </p:sp>
      <p:sp>
        <p:nvSpPr>
          <p:cNvPr id="18" name="Rounded Rectangle 17"/>
          <p:cNvSpPr/>
          <p:nvPr/>
        </p:nvSpPr>
        <p:spPr>
          <a:xfrm>
            <a:off x="335584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346557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R6</a:t>
            </a:r>
          </a:p>
        </p:txBody>
      </p:sp>
      <p:sp>
        <p:nvSpPr>
          <p:cNvPr id="20" name="TextBox 19"/>
          <p:cNvSpPr txBox="1"/>
          <p:nvPr/>
        </p:nvSpPr>
        <p:spPr>
          <a:xfrm>
            <a:off x="399592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Terminated but active</a:t>
            </a:r>
          </a:p>
        </p:txBody>
      </p:sp>
      <p:sp>
        <p:nvSpPr>
          <p:cNvPr id="21" name="Rounded Rectangle 20"/>
          <p:cNvSpPr/>
          <p:nvPr/>
        </p:nvSpPr>
        <p:spPr>
          <a:xfrm>
            <a:off x="614476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2" name="TextBox 21"/>
          <p:cNvSpPr txBox="1"/>
          <p:nvPr/>
        </p:nvSpPr>
        <p:spPr>
          <a:xfrm>
            <a:off x="625449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R7</a:t>
            </a:r>
          </a:p>
        </p:txBody>
      </p:sp>
      <p:sp>
        <p:nvSpPr>
          <p:cNvPr id="23" name="TextBox 22"/>
          <p:cNvSpPr txBox="1"/>
          <p:nvPr/>
        </p:nvSpPr>
        <p:spPr>
          <a:xfrm>
            <a:off x="678484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Fallback abuse</a:t>
            </a:r>
          </a:p>
        </p:txBody>
      </p:sp>
      <p:sp>
        <p:nvSpPr>
          <p:cNvPr id="24" name="Rounded Rectangle 23"/>
          <p:cNvSpPr/>
          <p:nvPr/>
        </p:nvSpPr>
        <p:spPr>
          <a:xfrm>
            <a:off x="893368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5" name="TextBox 24"/>
          <p:cNvSpPr txBox="1"/>
          <p:nvPr/>
        </p:nvSpPr>
        <p:spPr>
          <a:xfrm>
            <a:off x="904341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R8</a:t>
            </a:r>
          </a:p>
        </p:txBody>
      </p:sp>
      <p:sp>
        <p:nvSpPr>
          <p:cNvPr id="26" name="TextBox 25"/>
          <p:cNvSpPr txBox="1"/>
          <p:nvPr/>
        </p:nvSpPr>
        <p:spPr>
          <a:xfrm>
            <a:off x="957376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Robot regularity</a:t>
            </a:r>
          </a:p>
        </p:txBody>
      </p:sp>
      <p:sp>
        <p:nvSpPr>
          <p:cNvPr id="27" name="Rounded Rectangle 26"/>
          <p:cNvSpPr/>
          <p:nvPr/>
        </p:nvSpPr>
        <p:spPr>
          <a:xfrm>
            <a:off x="56692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67665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R9</a:t>
            </a:r>
          </a:p>
        </p:txBody>
      </p:sp>
      <p:sp>
        <p:nvSpPr>
          <p:cNvPr id="29" name="TextBox 28"/>
          <p:cNvSpPr txBox="1"/>
          <p:nvPr/>
        </p:nvSpPr>
        <p:spPr>
          <a:xfrm>
            <a:off x="120700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Device anomaly</a:t>
            </a:r>
          </a:p>
        </p:txBody>
      </p:sp>
      <p:sp>
        <p:nvSpPr>
          <p:cNvPr id="30" name="Rounded Rectangle 29"/>
          <p:cNvSpPr/>
          <p:nvPr/>
        </p:nvSpPr>
        <p:spPr>
          <a:xfrm>
            <a:off x="335584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1" name="TextBox 30"/>
          <p:cNvSpPr txBox="1"/>
          <p:nvPr/>
        </p:nvSpPr>
        <p:spPr>
          <a:xfrm>
            <a:off x="346557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R10</a:t>
            </a:r>
          </a:p>
        </p:txBody>
      </p:sp>
      <p:sp>
        <p:nvSpPr>
          <p:cNvPr id="32" name="TextBox 31"/>
          <p:cNvSpPr txBox="1"/>
          <p:nvPr/>
        </p:nvSpPr>
        <p:spPr>
          <a:xfrm>
            <a:off x="399592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Orphan punches</a:t>
            </a:r>
          </a:p>
        </p:txBody>
      </p:sp>
      <p:sp>
        <p:nvSpPr>
          <p:cNvPr id="33" name="Rounded Rectangle 32"/>
          <p:cNvSpPr/>
          <p:nvPr/>
        </p:nvSpPr>
        <p:spPr>
          <a:xfrm>
            <a:off x="614476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4" name="TextBox 33"/>
          <p:cNvSpPr txBox="1"/>
          <p:nvPr/>
        </p:nvSpPr>
        <p:spPr>
          <a:xfrm>
            <a:off x="625449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R11</a:t>
            </a:r>
          </a:p>
        </p:txBody>
      </p:sp>
      <p:sp>
        <p:nvSpPr>
          <p:cNvPr id="35" name="TextBox 34"/>
          <p:cNvSpPr txBox="1"/>
          <p:nvPr/>
        </p:nvSpPr>
        <p:spPr>
          <a:xfrm>
            <a:off x="678484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Conflicted decision</a:t>
            </a:r>
          </a:p>
        </p:txBody>
      </p:sp>
      <p:sp>
        <p:nvSpPr>
          <p:cNvPr id="36" name="Pentagon 35"/>
          <p:cNvSpPr/>
          <p:nvPr/>
        </p:nvSpPr>
        <p:spPr>
          <a:xfrm>
            <a:off x="566928" y="3931920"/>
            <a:ext cx="2724912" cy="77724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"Run the rules now" or every night</a:t>
            </a:r>
          </a:p>
        </p:txBody>
      </p:sp>
      <p:sp>
        <p:nvSpPr>
          <p:cNvPr id="37" name="Chevron 36"/>
          <p:cNvSpPr/>
          <p:nvPr/>
        </p:nvSpPr>
        <p:spPr>
          <a:xfrm>
            <a:off x="3346704" y="3931920"/>
            <a:ext cx="2724912" cy="77724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An alert, with the rows it looked at</a:t>
            </a:r>
          </a:p>
        </p:txBody>
      </p:sp>
      <p:sp>
        <p:nvSpPr>
          <p:cNvPr id="38" name="Chevron 37"/>
          <p:cNvSpPr/>
          <p:nvPr/>
        </p:nvSpPr>
        <p:spPr>
          <a:xfrm>
            <a:off x="6126480" y="3931920"/>
            <a:ext cx="2724912" cy="77724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 human answers in writing</a:t>
            </a:r>
          </a:p>
        </p:txBody>
      </p:sp>
      <p:sp>
        <p:nvSpPr>
          <p:cNvPr id="39" name="Chevron 38"/>
          <p:cNvSpPr/>
          <p:nvPr/>
        </p:nvSpPr>
        <p:spPr>
          <a:xfrm>
            <a:off x="8906256" y="3931920"/>
            <a:ext cx="2724912" cy="77724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The answer is audited</a:t>
            </a:r>
          </a:p>
        </p:txBody>
      </p:sp>
      <p:sp>
        <p:nvSpPr>
          <p:cNvPr id="40" name="Rounded Rectangle 39"/>
          <p:cNvSpPr/>
          <p:nvPr/>
        </p:nvSpPr>
        <p:spPr>
          <a:xfrm>
            <a:off x="566928" y="4892040"/>
            <a:ext cx="11064240" cy="91440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1" name="TextBox 40"/>
          <p:cNvSpPr txBox="1"/>
          <p:nvPr/>
        </p:nvSpPr>
        <p:spPr>
          <a:xfrm>
            <a:off x="841248" y="4983480"/>
            <a:ext cx="10515600" cy="777240"/>
          </a:xfrm>
          <a:prstGeom prst="rect">
            <a:avLst/>
          </a:prstGeom>
          <a:noFill/>
        </p:spPr>
        <p:txBody>
          <a:bodyPr wrap="square" lIns="45720" rIns="45720" tIns="27432" bIns="27432">
            <a:spAutoFit/>
          </a:bodyPr>
          <a:lstStyle/>
          <a:p>
            <a:pPr algn="l">
              <a:lnSpc>
                <a:spcPct val="108000"/>
              </a:lnSpc>
              <a:spcAft>
                <a:spcPts val="200"/>
              </a:spcAft>
            </a:pPr>
            <a:r>
              <a:rPr sz="1400" b="1">
                <a:solidFill>
                  <a:srgbClr val="E9DFC9"/>
                </a:solidFill>
                <a:latin typeface="Calibri"/>
              </a:rPr>
              <a:t>A rule never punishes anybody.</a:t>
            </a:r>
          </a:p>
          <a:p>
            <a:pPr algn="l">
              <a:lnSpc>
                <a:spcPct val="108000"/>
              </a:lnSpc>
              <a:spcAft>
                <a:spcPts val="400"/>
              </a:spcAft>
            </a:pPr>
            <a:r>
              <a:rPr sz="1200" b="0">
                <a:solidFill>
                  <a:srgbClr val="FFFFFF"/>
                </a:solidFill>
                <a:latin typeface="Calibri"/>
              </a:rPr>
              <a:t>Detection raises a question with its evidence and a severity. A person decides, and the decision stays on record. Severity times frequency gives each worker a risk score, a place to start rather than a verdict.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Security and privacy</a:t>
            </a:r>
          </a:p>
        </p:txBody>
      </p:sp>
      <p:sp>
        <p:nvSpPr>
          <p:cNvPr id="3" name="Rounded Rectangle 2"/>
          <p:cNvSpPr/>
          <p:nvPr/>
        </p:nvSpPr>
        <p:spPr>
          <a:xfrm>
            <a:off x="5669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Evidence is never edited</a:t>
            </a:r>
          </a:p>
        </p:txBody>
      </p:sp>
      <p:sp>
        <p:nvSpPr>
          <p:cNvPr id="6" name="TextBox 5"/>
          <p:cNvSpPr txBox="1"/>
          <p:nvPr/>
        </p:nvSpPr>
        <p:spPr>
          <a:xfrm>
            <a:off x="7315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Punches, consents, audit lines and locked runs are append-only; a database trigger rejects changes. A correction is a new row that says what it corrects.</a:t>
            </a:r>
          </a:p>
        </p:txBody>
      </p:sp>
      <p:sp>
        <p:nvSpPr>
          <p:cNvPr id="7" name="Rounded Rectangle 6"/>
          <p:cNvSpPr/>
          <p:nvPr/>
        </p:nvSpPr>
        <p:spPr>
          <a:xfrm>
            <a:off x="33101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34747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39684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Sensitive actions need a password</a:t>
            </a:r>
          </a:p>
        </p:txBody>
      </p:sp>
      <p:sp>
        <p:nvSpPr>
          <p:cNvPr id="10" name="TextBox 9"/>
          <p:cNvSpPr txBox="1"/>
          <p:nvPr/>
        </p:nvSpPr>
        <p:spPr>
          <a:xfrm>
            <a:off x="34747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Any administrator acts alone, but approving pay, wiping a face or creating an account first asks for their own password, once per five minutes, and is audited.</a:t>
            </a:r>
          </a:p>
        </p:txBody>
      </p:sp>
      <p:sp>
        <p:nvSpPr>
          <p:cNvPr id="11" name="Rounded Rectangle 10"/>
          <p:cNvSpPr/>
          <p:nvPr/>
        </p:nvSpPr>
        <p:spPr>
          <a:xfrm>
            <a:off x="60533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62179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67116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A rule never punishes anybody</a:t>
            </a:r>
          </a:p>
        </p:txBody>
      </p:sp>
      <p:sp>
        <p:nvSpPr>
          <p:cNvPr id="14" name="TextBox 13"/>
          <p:cNvSpPr txBox="1"/>
          <p:nvPr/>
        </p:nvSpPr>
        <p:spPr>
          <a:xfrm>
            <a:off x="62179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Detection raises questions; people decide, in writing.</a:t>
            </a:r>
          </a:p>
        </p:txBody>
      </p:sp>
      <p:sp>
        <p:nvSpPr>
          <p:cNvPr id="15" name="Rounded Rectangle 14"/>
          <p:cNvSpPr/>
          <p:nvPr/>
        </p:nvSpPr>
        <p:spPr>
          <a:xfrm>
            <a:off x="87965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Oval 15"/>
          <p:cNvSpPr/>
          <p:nvPr/>
        </p:nvSpPr>
        <p:spPr>
          <a:xfrm>
            <a:off x="89611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17" name="TextBox 16"/>
          <p:cNvSpPr txBox="1"/>
          <p:nvPr/>
        </p:nvSpPr>
        <p:spPr>
          <a:xfrm>
            <a:off x="94548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People are never deleted</a:t>
            </a:r>
          </a:p>
        </p:txBody>
      </p:sp>
      <p:sp>
        <p:nvSpPr>
          <p:cNvPr id="18" name="TextBox 17"/>
          <p:cNvSpPr txBox="1"/>
          <p:nvPr/>
        </p:nvSpPr>
        <p:spPr>
          <a:xfrm>
            <a:off x="89611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A leaver becomes TERMINATED, so history survives to be audited.</a:t>
            </a:r>
          </a:p>
        </p:txBody>
      </p:sp>
      <p:graphicFrame>
        <p:nvGraphicFramePr>
          <p:cNvPr id="19" name="Table 18"/>
          <p:cNvGraphicFramePr>
            <a:graphicFrameLocks noGrp="1"/>
          </p:cNvGraphicFramePr>
          <p:nvPr/>
        </p:nvGraphicFramePr>
        <p:xfrm>
          <a:off x="566928" y="3977640"/>
          <a:ext cx="11064240" cy="1975104"/>
        </p:xfrm>
        <a:graphic>
          <a:graphicData uri="http://schemas.openxmlformats.org/drawingml/2006/table">
            <a:tbl>
              <a:tblPr firstRow="1" bandRow="1">
                <a:tableStyleId>{5C22544A-7EE6-4342-B048-85BDC9FD1C3A}</a:tableStyleId>
              </a:tblPr>
              <a:tblGrid>
                <a:gridCol w="3017520"/>
                <a:gridCol w="8046720"/>
              </a:tblGrid>
              <a:tr h="329184">
                <a:tc>
                  <a:txBody>
                    <a:bodyPr wrap="square"/>
                    <a:lstStyle/>
                    <a:p>
                      <a:r>
                        <a:rPr sz="1100" b="1">
                          <a:solidFill>
                            <a:srgbClr val="FFFFFF"/>
                          </a:solidFill>
                          <a:latin typeface="Calibri"/>
                        </a:rPr>
                        <a:t>Threat</a:t>
                      </a:r>
                    </a:p>
                  </a:txBody>
                  <a:tcPr marL="73152" marR="73152" marT="36576" marB="36576" anchor="ctr">
                    <a:solidFill>
                      <a:srgbClr val="000066"/>
                    </a:solidFill>
                  </a:tcPr>
                </a:tc>
                <a:tc>
                  <a:txBody>
                    <a:bodyPr wrap="square"/>
                    <a:lstStyle/>
                    <a:p>
                      <a:r>
                        <a:rPr sz="1100" b="1">
                          <a:solidFill>
                            <a:srgbClr val="FFFFFF"/>
                          </a:solidFill>
                          <a:latin typeface="Calibri"/>
                        </a:rPr>
                        <a:t>Control</a:t>
                      </a:r>
                    </a:p>
                  </a:txBody>
                  <a:tcPr marL="73152" marR="73152" marT="36576" marB="36576" anchor="ctr">
                    <a:solidFill>
                      <a:srgbClr val="000066"/>
                    </a:solidFill>
                  </a:tcPr>
                </a:tc>
              </a:tr>
              <a:tr h="329184">
                <a:tc>
                  <a:txBody>
                    <a:bodyPr wrap="square"/>
                    <a:lstStyle/>
                    <a:p>
                      <a:r>
                        <a:rPr sz="1000" b="1">
                          <a:solidFill>
                            <a:srgbClr val="1A1A2E"/>
                          </a:solidFill>
                          <a:latin typeface="Calibri"/>
                        </a:rPr>
                        <a:t>A fake device sending punches</a:t>
                      </a:r>
                    </a:p>
                  </a:txBody>
                  <a:tcPr marL="73152" marR="73152" marT="36576" marB="36576" anchor="ctr">
                    <a:solidFill>
                      <a:srgbClr val="FFFFFF"/>
                    </a:solidFill>
                  </a:tcPr>
                </a:tc>
                <a:tc>
                  <a:txBody>
                    <a:bodyPr wrap="square"/>
                    <a:lstStyle/>
                    <a:p>
                      <a:r>
                        <a:rPr sz="1000" b="0">
                          <a:solidFill>
                            <a:srgbClr val="1A1A2E"/>
                          </a:solidFill>
                          <a:latin typeface="Calibri"/>
                        </a:rPr>
                        <a:t>Per-device secret key, signed requests, device born switched off, stale timestamps refused</a:t>
                      </a:r>
                    </a:p>
                  </a:txBody>
                  <a:tcPr marL="73152" marR="73152" marT="36576" marB="36576" anchor="ctr">
                    <a:solidFill>
                      <a:srgbClr val="FFFFFF"/>
                    </a:solidFill>
                  </a:tcPr>
                </a:tc>
              </a:tr>
              <a:tr h="329184">
                <a:tc>
                  <a:txBody>
                    <a:bodyPr wrap="square"/>
                    <a:lstStyle/>
                    <a:p>
                      <a:r>
                        <a:rPr sz="1000" b="1">
                          <a:solidFill>
                            <a:srgbClr val="1A1A2E"/>
                          </a:solidFill>
                          <a:latin typeface="Calibri"/>
                        </a:rPr>
                        <a:t>A stolen password</a:t>
                      </a:r>
                    </a:p>
                  </a:txBody>
                  <a:tcPr marL="73152" marR="73152" marT="36576" marB="36576" anchor="ctr">
                    <a:solidFill>
                      <a:srgbClr val="F7F7FA"/>
                    </a:solidFill>
                  </a:tcPr>
                </a:tc>
                <a:tc>
                  <a:txBody>
                    <a:bodyPr wrap="square"/>
                    <a:lstStyle/>
                    <a:p>
                      <a:r>
                        <a:rPr sz="1000" b="0">
                          <a:solidFill>
                            <a:srgbClr val="1A1A2E"/>
                          </a:solidFill>
                          <a:latin typeface="Calibri"/>
                        </a:rPr>
                        <a:t>Two-factor code for administrators and payroll staff; lockout after five wrong attempts</a:t>
                      </a:r>
                    </a:p>
                  </a:txBody>
                  <a:tcPr marL="73152" marR="73152" marT="36576" marB="36576" anchor="ctr">
                    <a:solidFill>
                      <a:srgbClr val="F7F7FA"/>
                    </a:solidFill>
                  </a:tcPr>
                </a:tc>
              </a:tr>
              <a:tr h="329184">
                <a:tc>
                  <a:txBody>
                    <a:bodyPr wrap="square"/>
                    <a:lstStyle/>
                    <a:p>
                      <a:r>
                        <a:rPr sz="1000" b="1">
                          <a:solidFill>
                            <a:srgbClr val="1A1A2E"/>
                          </a:solidFill>
                          <a:latin typeface="Calibri"/>
                        </a:rPr>
                        <a:t>Editing the past</a:t>
                      </a:r>
                    </a:p>
                  </a:txBody>
                  <a:tcPr marL="73152" marR="73152" marT="36576" marB="36576" anchor="ctr">
                    <a:solidFill>
                      <a:srgbClr val="FFFFFF"/>
                    </a:solidFill>
                  </a:tcPr>
                </a:tc>
                <a:tc>
                  <a:txBody>
                    <a:bodyPr wrap="square"/>
                    <a:lstStyle/>
                    <a:p>
                      <a:r>
                        <a:rPr sz="1000" b="0">
                          <a:solidFill>
                            <a:srgbClr val="1A1A2E"/>
                          </a:solidFill>
                          <a:latin typeface="Calibri"/>
                        </a:rPr>
                        <a:t>Append-only triggers; locked runs; audit log with IDs only, never personal data</a:t>
                      </a:r>
                    </a:p>
                  </a:txBody>
                  <a:tcPr marL="73152" marR="73152" marT="36576" marB="36576" anchor="ctr">
                    <a:solidFill>
                      <a:srgbClr val="FFFFFF"/>
                    </a:solidFill>
                  </a:tcPr>
                </a:tc>
              </a:tr>
              <a:tr h="329184">
                <a:tc>
                  <a:txBody>
                    <a:bodyPr wrap="square"/>
                    <a:lstStyle/>
                    <a:p>
                      <a:r>
                        <a:rPr sz="1000" b="1">
                          <a:solidFill>
                            <a:srgbClr val="1A1A2E"/>
                          </a:solidFill>
                          <a:latin typeface="Calibri"/>
                        </a:rPr>
                        <a:t>Biometric data leaking</a:t>
                      </a:r>
                    </a:p>
                  </a:txBody>
                  <a:tcPr marL="73152" marR="73152" marT="36576" marB="36576" anchor="ctr">
                    <a:solidFill>
                      <a:srgbClr val="F7F7FA"/>
                    </a:solidFill>
                  </a:tcPr>
                </a:tc>
                <a:tc>
                  <a:txBody>
                    <a:bodyPr wrap="square"/>
                    <a:lstStyle/>
                    <a:p>
                      <a:r>
                        <a:rPr sz="1000" b="0">
                          <a:solidFill>
                            <a:srgbClr val="1A1A2E"/>
                          </a:solidFill>
                          <a:latin typeface="Calibri"/>
                        </a:rPr>
                        <a:t>Templates only (no photos), encrypted at rest, deleted 90 days after leaving, never logged</a:t>
                      </a:r>
                    </a:p>
                  </a:txBody>
                  <a:tcPr marL="73152" marR="73152" marT="36576" marB="36576" anchor="ctr">
                    <a:solidFill>
                      <a:srgbClr val="F7F7FA"/>
                    </a:solidFill>
                  </a:tcPr>
                </a:tc>
              </a:tr>
              <a:tr h="329184">
                <a:tc>
                  <a:txBody>
                    <a:bodyPr wrap="square"/>
                    <a:lstStyle/>
                    <a:p>
                      <a:r>
                        <a:rPr sz="1000" b="1">
                          <a:solidFill>
                            <a:srgbClr val="1A1A2E"/>
                          </a:solidFill>
                          <a:latin typeface="Calibri"/>
                        </a:rPr>
                        <a:t>Injection, cross-site and dependency attacks</a:t>
                      </a:r>
                    </a:p>
                  </a:txBody>
                  <a:tcPr marL="73152" marR="73152" marT="36576" marB="36576" anchor="ctr">
                    <a:solidFill>
                      <a:srgbClr val="FFFFFF"/>
                    </a:solidFill>
                  </a:tcPr>
                </a:tc>
                <a:tc>
                  <a:txBody>
                    <a:bodyPr wrap="square"/>
                    <a:lstStyle/>
                    <a:p>
                      <a:r>
                        <a:rPr sz="1000" b="0">
                          <a:solidFill>
                            <a:srgbClr val="1A1A2E"/>
                          </a:solidFill>
                          <a:latin typeface="Calibri"/>
                        </a:rPr>
                        <a:t>Strict validation on every input, security headers, no dependency without a recorded decision</a:t>
                      </a:r>
                    </a:p>
                  </a:txBody>
                  <a:tcPr marL="73152" marR="73152" marT="36576" marB="36576"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Testing and results</a:t>
            </a:r>
          </a:p>
        </p:txBody>
      </p:sp>
      <p:sp>
        <p:nvSpPr>
          <p:cNvPr id="3" name="Rounded Rectangle 2"/>
          <p:cNvSpPr/>
          <p:nvPr/>
        </p:nvSpPr>
        <p:spPr>
          <a:xfrm>
            <a:off x="566928"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920</a:t>
            </a:r>
          </a:p>
        </p:txBody>
      </p:sp>
      <p:sp>
        <p:nvSpPr>
          <p:cNvPr id="5" name="TextBox 4"/>
          <p:cNvSpPr txBox="1"/>
          <p:nvPr/>
        </p:nvSpPr>
        <p:spPr>
          <a:xfrm>
            <a:off x="566928"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API checks: 431 unit, 489 database</a:t>
            </a:r>
          </a:p>
        </p:txBody>
      </p:sp>
      <p:sp>
        <p:nvSpPr>
          <p:cNvPr id="6" name="Rounded Rectangle 5"/>
          <p:cNvSpPr/>
          <p:nvPr/>
        </p:nvSpPr>
        <p:spPr>
          <a:xfrm>
            <a:off x="3374136"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374136"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394</a:t>
            </a:r>
          </a:p>
        </p:txBody>
      </p:sp>
      <p:sp>
        <p:nvSpPr>
          <p:cNvPr id="8" name="TextBox 7"/>
          <p:cNvSpPr txBox="1"/>
          <p:nvPr/>
        </p:nvSpPr>
        <p:spPr>
          <a:xfrm>
            <a:off x="3374136"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dashboard checks</a:t>
            </a:r>
          </a:p>
        </p:txBody>
      </p:sp>
      <p:sp>
        <p:nvSpPr>
          <p:cNvPr id="9" name="Rounded Rectangle 8"/>
          <p:cNvSpPr/>
          <p:nvPr/>
        </p:nvSpPr>
        <p:spPr>
          <a:xfrm>
            <a:off x="6181344"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181344"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156</a:t>
            </a:r>
          </a:p>
        </p:txBody>
      </p:sp>
      <p:sp>
        <p:nvSpPr>
          <p:cNvPr id="11" name="TextBox 10"/>
          <p:cNvSpPr txBox="1"/>
          <p:nvPr/>
        </p:nvSpPr>
        <p:spPr>
          <a:xfrm>
            <a:off x="6181344"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kiosk checks</a:t>
            </a:r>
          </a:p>
        </p:txBody>
      </p:sp>
      <p:sp>
        <p:nvSpPr>
          <p:cNvPr id="12" name="Rounded Rectangle 11"/>
          <p:cNvSpPr/>
          <p:nvPr/>
        </p:nvSpPr>
        <p:spPr>
          <a:xfrm>
            <a:off x="8988552"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8988552"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35</a:t>
            </a:r>
          </a:p>
        </p:txBody>
      </p:sp>
      <p:sp>
        <p:nvSpPr>
          <p:cNvPr id="14" name="TextBox 13"/>
          <p:cNvSpPr txBox="1"/>
          <p:nvPr/>
        </p:nvSpPr>
        <p:spPr>
          <a:xfrm>
            <a:off x="8988552"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gateway checks</a:t>
            </a:r>
          </a:p>
        </p:txBody>
      </p:sp>
      <p:sp>
        <p:nvSpPr>
          <p:cNvPr id="15" name="Rounded Rectangle 14"/>
          <p:cNvSpPr/>
          <p:nvPr/>
        </p:nvSpPr>
        <p:spPr>
          <a:xfrm>
            <a:off x="56692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How it was proved</a:t>
            </a:r>
          </a:p>
        </p:txBody>
      </p:sp>
      <p:sp>
        <p:nvSpPr>
          <p:cNvPr id="17" name="TextBox 16"/>
          <p:cNvSpPr txBox="1"/>
          <p:nvPr/>
        </p:nvSpPr>
        <p:spPr>
          <a:xfrm>
            <a:off x="73152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1,505 automated checks run on every push: lint, contract, types, tests, build</a:t>
            </a:r>
          </a:p>
          <a:p>
            <a:pPr algn="l">
              <a:lnSpc>
                <a:spcPct val="108000"/>
              </a:lnSpc>
              <a:spcAft>
                <a:spcPts val="300"/>
              </a:spcAft>
            </a:pPr>
            <a:r>
              <a:rPr sz="1200" b="0">
                <a:solidFill>
                  <a:srgbClr val="1A1A2E"/>
                </a:solidFill>
                <a:latin typeface="Calibri"/>
              </a:rPr>
              <a:t>•  Payroll checked to the pesewa against payslips worked out by hand</a:t>
            </a:r>
          </a:p>
          <a:p>
            <a:pPr algn="l">
              <a:lnSpc>
                <a:spcPct val="108000"/>
              </a:lnSpc>
              <a:spcAft>
                <a:spcPts val="300"/>
              </a:spcAft>
            </a:pPr>
            <a:r>
              <a:rPr sz="1200" b="0">
                <a:solidFill>
                  <a:srgbClr val="1A1A2E"/>
                </a:solidFill>
                <a:latin typeface="Calibri"/>
              </a:rPr>
              <a:t>•  Database rules proved against a real PostgreSQL, not a mock</a:t>
            </a:r>
          </a:p>
          <a:p>
            <a:pPr algn="l">
              <a:lnSpc>
                <a:spcPct val="108000"/>
              </a:lnSpc>
              <a:spcAft>
                <a:spcPts val="300"/>
              </a:spcAft>
            </a:pPr>
            <a:r>
              <a:rPr sz="1200" b="0">
                <a:solidFill>
                  <a:srgbClr val="1A1A2E"/>
                </a:solidFill>
                <a:latin typeface="Calibri"/>
              </a:rPr>
              <a:t>•  A test insists the contract’s list of password-protected routes and the code’s list are identical</a:t>
            </a:r>
          </a:p>
          <a:p>
            <a:pPr algn="l">
              <a:lnSpc>
                <a:spcPct val="108000"/>
              </a:lnSpc>
              <a:spcAft>
                <a:spcPts val="300"/>
              </a:spcAft>
            </a:pPr>
            <a:r>
              <a:rPr sz="1200" b="0">
                <a:solidFill>
                  <a:srgbClr val="1A1A2E"/>
                </a:solidFill>
                <a:latin typeface="Calibri"/>
              </a:rPr>
              <a:t>•  Four review lenses on every change; the whole-system review found twenty problems, all fixed with a test</a:t>
            </a:r>
          </a:p>
        </p:txBody>
      </p:sp>
      <p:sp>
        <p:nvSpPr>
          <p:cNvPr id="18" name="Rounded Rectangle 17"/>
          <p:cNvSpPr/>
          <p:nvPr/>
        </p:nvSpPr>
        <p:spPr>
          <a:xfrm>
            <a:off x="623620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640080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Face recognition results</a:t>
            </a:r>
          </a:p>
        </p:txBody>
      </p:sp>
      <p:sp>
        <p:nvSpPr>
          <p:cNvPr id="20" name="TextBox 19"/>
          <p:cNvSpPr txBox="1"/>
          <p:nvPr/>
        </p:nvSpPr>
        <p:spPr>
          <a:xfrm>
            <a:off x="640080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photo lab of 43 people measured the old model: strangers scored up to 0.79, too close to the same person. It was replaced with ArcFace</a:t>
            </a:r>
          </a:p>
          <a:p>
            <a:pPr algn="l">
              <a:lnSpc>
                <a:spcPct val="108000"/>
              </a:lnSpc>
              <a:spcAft>
                <a:spcPts val="300"/>
              </a:spcAft>
            </a:pPr>
            <a:r>
              <a:rPr sz="1200" b="0">
                <a:solidFill>
                  <a:srgbClr val="1A1A2E"/>
                </a:solidFill>
                <a:latin typeface="Calibri"/>
              </a:rPr>
              <a:t>•  With ArcFace the most stranger-like pair scored 0.21; the same person across different photographs about 0.90</a:t>
            </a:r>
          </a:p>
          <a:p>
            <a:pPr algn="l">
              <a:lnSpc>
                <a:spcPct val="108000"/>
              </a:lnSpc>
              <a:spcAft>
                <a:spcPts val="300"/>
              </a:spcAft>
            </a:pPr>
            <a:r>
              <a:rPr sz="1200" b="0">
                <a:solidFill>
                  <a:srgbClr val="1A1A2E"/>
                </a:solidFill>
                <a:latin typeface="Calibri"/>
              </a:rPr>
              <a:t>•  Equal-error rate 1.6% on all faces, 0% on clean single faces, with the threshold set at 0.40</a:t>
            </a:r>
          </a:p>
          <a:p>
            <a:pPr algn="l">
              <a:lnSpc>
                <a:spcPct val="108000"/>
              </a:lnSpc>
              <a:spcAft>
                <a:spcPts val="300"/>
              </a:spcAft>
            </a:pPr>
            <a:r>
              <a:rPr sz="1200" b="0">
                <a:solidFill>
                  <a:srgbClr val="1A1A2E"/>
                </a:solidFill>
                <a:latin typeface="Calibri"/>
              </a:rPr>
              <a:t>•  Real-phone tests confirmed a stranger is refused and an enrolled worker is greeted by name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Live demonstration</a:t>
            </a:r>
          </a:p>
        </p:txBody>
      </p:sp>
      <p:sp>
        <p:nvSpPr>
          <p:cNvPr id="3" name="Rounded Rectangle 2"/>
          <p:cNvSpPr/>
          <p:nvPr/>
        </p:nvSpPr>
        <p:spPr>
          <a:xfrm>
            <a:off x="56692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Enrol a guard</a:t>
            </a:r>
          </a:p>
        </p:txBody>
      </p:sp>
      <p:sp>
        <p:nvSpPr>
          <p:cNvPr id="6" name="TextBox 5"/>
          <p:cNvSpPr txBox="1"/>
          <p:nvPr/>
        </p:nvSpPr>
        <p:spPr>
          <a:xfrm>
            <a:off x="73152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On the kiosk: Admin, sign in, Enroll a worker’s face. Consent, Ghana Card digits, three captures, a head turn. Save a fingerprint.</a:t>
            </a:r>
          </a:p>
        </p:txBody>
      </p:sp>
      <p:sp>
        <p:nvSpPr>
          <p:cNvPr id="7" name="Rounded Rectangle 6"/>
          <p:cNvSpPr/>
          <p:nvPr/>
        </p:nvSpPr>
        <p:spPr>
          <a:xfrm>
            <a:off x="335584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352044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401421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Clock in and watch it land</a:t>
            </a:r>
          </a:p>
        </p:txBody>
      </p:sp>
      <p:sp>
        <p:nvSpPr>
          <p:cNvPr id="10" name="TextBox 9"/>
          <p:cNvSpPr txBox="1"/>
          <p:nvPr/>
        </p:nvSpPr>
        <p:spPr>
          <a:xfrm>
            <a:off x="352044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Start shift, head turn, "Hello, Kwame". The live board shows the punch within five seconds. A stranger is refused.</a:t>
            </a:r>
          </a:p>
        </p:txBody>
      </p:sp>
      <p:sp>
        <p:nvSpPr>
          <p:cNvPr id="11" name="Rounded Rectangle 10"/>
          <p:cNvSpPr/>
          <p:nvPr/>
        </p:nvSpPr>
        <p:spPr>
          <a:xfrm>
            <a:off x="614476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630936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680313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Pay the month</a:t>
            </a:r>
          </a:p>
        </p:txBody>
      </p:sp>
      <p:sp>
        <p:nvSpPr>
          <p:cNvPr id="14" name="TextBox 13"/>
          <p:cNvSpPr txBox="1"/>
          <p:nvPr/>
        </p:nvSpPr>
        <p:spPr>
          <a:xfrm>
            <a:off x="630936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Open the month, work out a run, send for approval, approve with a password, download a payslip and the bank file.</a:t>
            </a:r>
          </a:p>
        </p:txBody>
      </p:sp>
      <p:sp>
        <p:nvSpPr>
          <p:cNvPr id="15" name="Rounded Rectangle 14"/>
          <p:cNvSpPr/>
          <p:nvPr/>
        </p:nvSpPr>
        <p:spPr>
          <a:xfrm>
            <a:off x="893368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Oval 15"/>
          <p:cNvSpPr/>
          <p:nvPr/>
        </p:nvSpPr>
        <p:spPr>
          <a:xfrm>
            <a:off x="909828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17" name="TextBox 16"/>
          <p:cNvSpPr txBox="1"/>
          <p:nvPr/>
        </p:nvSpPr>
        <p:spPr>
          <a:xfrm>
            <a:off x="959205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Catch the ghosts</a:t>
            </a:r>
          </a:p>
        </p:txBody>
      </p:sp>
      <p:sp>
        <p:nvSpPr>
          <p:cNvPr id="18" name="TextBox 17"/>
          <p:cNvSpPr txBox="1"/>
          <p:nvPr/>
        </p:nvSpPr>
        <p:spPr>
          <a:xfrm>
            <a:off x="909828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Run the rules now. Open an alert for a worker paid but never seen, read its evidence, answer it in writing.</a:t>
            </a:r>
          </a:p>
        </p:txBody>
      </p:sp>
      <p:sp>
        <p:nvSpPr>
          <p:cNvPr id="19" name="Rounded Rectangle 18"/>
          <p:cNvSpPr/>
          <p:nvPr/>
        </p:nvSpPr>
        <p:spPr>
          <a:xfrm>
            <a:off x="566928" y="4480560"/>
            <a:ext cx="11064240" cy="1325880"/>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841248" y="4572000"/>
            <a:ext cx="10515600" cy="1188720"/>
          </a:xfrm>
          <a:prstGeom prst="rect">
            <a:avLst/>
          </a:prstGeom>
          <a:noFill/>
        </p:spPr>
        <p:txBody>
          <a:bodyPr wrap="square" lIns="45720" rIns="45720" tIns="27432" bIns="27432">
            <a:spAutoFit/>
          </a:bodyPr>
          <a:lstStyle/>
          <a:p>
            <a:pPr algn="l">
              <a:lnSpc>
                <a:spcPct val="108000"/>
              </a:lnSpc>
              <a:spcAft>
                <a:spcPts val="300"/>
              </a:spcAft>
            </a:pPr>
            <a:r>
              <a:rPr sz="1400" b="1">
                <a:solidFill>
                  <a:srgbClr val="0B0B4A"/>
                </a:solidFill>
                <a:latin typeface="Calibri"/>
              </a:rPr>
              <a:t>What to watch for</a:t>
            </a:r>
          </a:p>
          <a:p>
            <a:pPr algn="l">
              <a:lnSpc>
                <a:spcPct val="108000"/>
              </a:lnSpc>
              <a:spcAft>
                <a:spcPts val="400"/>
              </a:spcAft>
            </a:pPr>
            <a:r>
              <a:rPr sz="1200" b="0">
                <a:solidFill>
                  <a:srgbClr val="0B0B4A"/>
                </a:solidFill>
                <a:latin typeface="Calibri"/>
              </a:rPr>
              <a:t>The system is live at samtec-test.vercel.app (dashboard) and samtec-test-kiosk.vercel.app (kiosk). If a step refuses on stage, that is usually the feature working: a stranger is not recognised, a password is asked for, a run with unsupported hours is held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Limitations and future work</a:t>
            </a:r>
          </a:p>
        </p:txBody>
      </p:sp>
      <p:sp>
        <p:nvSpPr>
          <p:cNvPr id="3" name="Rounded Rectangle 2"/>
          <p:cNvSpPr/>
          <p:nvPr/>
        </p:nvSpPr>
        <p:spPr>
          <a:xfrm>
            <a:off x="566928" y="1783080"/>
            <a:ext cx="53949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A32B2B"/>
                </a:solidFill>
                <a:latin typeface="Calibri"/>
              </a:rPr>
              <a:t>Limitations we name ourselves</a:t>
            </a:r>
          </a:p>
        </p:txBody>
      </p:sp>
      <p:sp>
        <p:nvSpPr>
          <p:cNvPr id="5" name="TextBox 4"/>
          <p:cNvSpPr txBox="1"/>
          <p:nvPr/>
        </p:nvSpPr>
        <p:spPr>
          <a:xfrm>
            <a:off x="731520" y="2386584"/>
            <a:ext cx="506577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The browser’s anti-spoofing stops a printed photo and a screen, not a good mask</a:t>
            </a:r>
          </a:p>
          <a:p>
            <a:pPr algn="l">
              <a:lnSpc>
                <a:spcPct val="108000"/>
              </a:lnSpc>
              <a:spcAft>
                <a:spcPts val="300"/>
              </a:spcAft>
            </a:pPr>
            <a:r>
              <a:rPr sz="1200" b="0">
                <a:solidFill>
                  <a:srgbClr val="1A1A2E"/>
                </a:solidFill>
                <a:latin typeface="Calibri"/>
              </a:rPr>
              <a:t>•  Identical twins can defeat any face threshold; the answer is a second factor, not a bigger number</a:t>
            </a:r>
          </a:p>
          <a:p>
            <a:pPr algn="l">
              <a:lnSpc>
                <a:spcPct val="108000"/>
              </a:lnSpc>
              <a:spcAft>
                <a:spcPts val="300"/>
              </a:spcAft>
            </a:pPr>
            <a:r>
              <a:rPr sz="1200" b="0">
                <a:solidFill>
                  <a:srgbClr val="1A1A2E"/>
                </a:solidFill>
                <a:latin typeface="Calibri"/>
              </a:rPr>
              <a:t>•  A device fingerprint cannot say whose finger, so it is never used alone</a:t>
            </a:r>
          </a:p>
          <a:p>
            <a:pPr algn="l">
              <a:lnSpc>
                <a:spcPct val="108000"/>
              </a:lnSpc>
              <a:spcAft>
                <a:spcPts val="300"/>
              </a:spcAft>
            </a:pPr>
            <a:r>
              <a:rPr sz="1200" b="0">
                <a:solidFill>
                  <a:srgbClr val="1A1A2E"/>
                </a:solidFill>
                <a:latin typeface="Calibri"/>
              </a:rPr>
              <a:t>•  The face thresholds were set on a photo lab and real-phone tests; a pilot with volunteers is still owed before a paying client</a:t>
            </a:r>
          </a:p>
          <a:p>
            <a:pPr algn="l">
              <a:lnSpc>
                <a:spcPct val="108000"/>
              </a:lnSpc>
              <a:spcAft>
                <a:spcPts val="300"/>
              </a:spcAft>
            </a:pPr>
            <a:r>
              <a:rPr sz="1200" b="0">
                <a:solidFill>
                  <a:srgbClr val="1A1A2E"/>
                </a:solidFill>
                <a:latin typeface="Calibri"/>
              </a:rPr>
              <a:t>•  The kiosk needs the internet: nothing is recorded offline, by design, so time always comes from the server</a:t>
            </a:r>
          </a:p>
        </p:txBody>
      </p:sp>
      <p:sp>
        <p:nvSpPr>
          <p:cNvPr id="6" name="Rounded Rectangle 5"/>
          <p:cNvSpPr/>
          <p:nvPr/>
        </p:nvSpPr>
        <p:spPr>
          <a:xfrm>
            <a:off x="6236208" y="1783080"/>
            <a:ext cx="53949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Future work</a:t>
            </a:r>
          </a:p>
        </p:txBody>
      </p:sp>
      <p:sp>
        <p:nvSpPr>
          <p:cNvPr id="8" name="TextBox 7"/>
          <p:cNvSpPr txBox="1"/>
          <p:nvPr/>
        </p:nvSpPr>
        <p:spPr>
          <a:xfrm>
            <a:off x="6400800" y="2386584"/>
            <a:ext cx="506577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pilot at one client site, tuning the thresholds and publishing the numbers</a:t>
            </a:r>
          </a:p>
          <a:p>
            <a:pPr algn="l">
              <a:lnSpc>
                <a:spcPct val="108000"/>
              </a:lnSpc>
              <a:spcAft>
                <a:spcPts val="300"/>
              </a:spcAft>
            </a:pPr>
            <a:r>
              <a:rPr sz="1200" b="0">
                <a:solidFill>
                  <a:srgbClr val="1A1A2E"/>
                </a:solidFill>
                <a:latin typeface="Calibri"/>
              </a:rPr>
              <a:t>•  Infrared or 3D terminals at the sites for stronger anti-spoofing</a:t>
            </a:r>
          </a:p>
          <a:p>
            <a:pPr algn="l">
              <a:lnSpc>
                <a:spcPct val="108000"/>
              </a:lnSpc>
              <a:spcAft>
                <a:spcPts val="300"/>
              </a:spcAft>
            </a:pPr>
            <a:r>
              <a:rPr sz="1200" b="0">
                <a:solidFill>
                  <a:srgbClr val="1A1A2E"/>
                </a:solidFill>
                <a:latin typeface="Calibri"/>
              </a:rPr>
              <a:t>•  A production environment separate from the test system, with backups rehearsed</a:t>
            </a:r>
          </a:p>
          <a:p>
            <a:pPr algn="l">
              <a:lnSpc>
                <a:spcPct val="108000"/>
              </a:lnSpc>
              <a:spcAft>
                <a:spcPts val="300"/>
              </a:spcAft>
            </a:pPr>
            <a:r>
              <a:rPr sz="1200" b="0">
                <a:solidFill>
                  <a:srgbClr val="1A1A2E"/>
                </a:solidFill>
                <a:latin typeface="Calibri"/>
              </a:rPr>
              <a:t>•  A direct link to the bank or mobile-money payouts, replacing the exported file</a:t>
            </a:r>
          </a:p>
          <a:p>
            <a:pPr algn="l">
              <a:lnSpc>
                <a:spcPct val="108000"/>
              </a:lnSpc>
              <a:spcAft>
                <a:spcPts val="300"/>
              </a:spcAft>
            </a:pPr>
            <a:r>
              <a:rPr sz="1200" b="0">
                <a:solidFill>
                  <a:srgbClr val="1A1A2E"/>
                </a:solidFill>
                <a:latin typeface="Calibri"/>
              </a:rPr>
              <a:t>•  Leave, loans and shift planning on top of the same evidence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Conclusion</a:t>
            </a:r>
          </a:p>
        </p:txBody>
      </p:sp>
      <p:sp>
        <p:nvSpPr>
          <p:cNvPr id="3" name="Rounded Rectangle 2"/>
          <p:cNvSpPr/>
          <p:nvPr/>
        </p:nvSpPr>
        <p:spPr>
          <a:xfrm>
            <a:off x="566928" y="1783080"/>
            <a:ext cx="11064240" cy="11887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965960"/>
            <a:ext cx="10515600" cy="914400"/>
          </a:xfrm>
          <a:prstGeom prst="rect">
            <a:avLst/>
          </a:prstGeom>
          <a:noFill/>
        </p:spPr>
        <p:txBody>
          <a:bodyPr wrap="square" lIns="45720" rIns="45720" tIns="27432" bIns="27432">
            <a:spAutoFit/>
          </a:bodyPr>
          <a:lstStyle/>
          <a:p>
            <a:pPr algn="ctr">
              <a:lnSpc>
                <a:spcPct val="108000"/>
              </a:lnSpc>
              <a:spcAft>
                <a:spcPts val="400"/>
              </a:spcAft>
            </a:pPr>
            <a:r>
              <a:rPr sz="2200" b="1">
                <a:solidFill>
                  <a:srgbClr val="FFFFFF"/>
                </a:solidFill>
                <a:latin typeface="Calibri"/>
              </a:rPr>
              <a:t>SAMTEC pays people from evidence, and keeps the evidence.</a:t>
            </a:r>
          </a:p>
          <a:p>
            <a:pPr algn="ctr">
              <a:lnSpc>
                <a:spcPct val="108000"/>
              </a:lnSpc>
              <a:spcAft>
                <a:spcPts val="400"/>
              </a:spcAft>
            </a:pPr>
            <a:r>
              <a:rPr sz="1400" b="0">
                <a:solidFill>
                  <a:srgbClr val="E9DFC9"/>
                </a:solidFill>
                <a:latin typeface="Calibri"/>
              </a:rPr>
              <a:t>Identity, presence and pay in one chain that cannot be edited afterwards.</a:t>
            </a:r>
          </a:p>
        </p:txBody>
      </p:sp>
      <p:sp>
        <p:nvSpPr>
          <p:cNvPr id="5" name="Rounded Rectangle 4"/>
          <p:cNvSpPr/>
          <p:nvPr/>
        </p:nvSpPr>
        <p:spPr>
          <a:xfrm>
            <a:off x="56692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6" name="TextBox 5"/>
          <p:cNvSpPr txBox="1"/>
          <p:nvPr/>
        </p:nvSpPr>
        <p:spPr>
          <a:xfrm>
            <a:off x="73152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Built</a:t>
            </a:r>
          </a:p>
        </p:txBody>
      </p:sp>
      <p:sp>
        <p:nvSpPr>
          <p:cNvPr id="7" name="TextBox 6"/>
          <p:cNvSpPr txBox="1"/>
          <p:nvPr/>
        </p:nvSpPr>
        <p:spPr>
          <a:xfrm>
            <a:off x="73152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complete, deployed system: dashboard, kiosk, gateway and API, with a database that enforces its own rules.</a:t>
            </a:r>
          </a:p>
        </p:txBody>
      </p:sp>
      <p:sp>
        <p:nvSpPr>
          <p:cNvPr id="8" name="Rounded Rectangle 7"/>
          <p:cNvSpPr/>
          <p:nvPr/>
        </p:nvSpPr>
        <p:spPr>
          <a:xfrm>
            <a:off x="431596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448056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Proved</a:t>
            </a:r>
          </a:p>
        </p:txBody>
      </p:sp>
      <p:sp>
        <p:nvSpPr>
          <p:cNvPr id="10" name="TextBox 9"/>
          <p:cNvSpPr txBox="1"/>
          <p:nvPr/>
        </p:nvSpPr>
        <p:spPr>
          <a:xfrm>
            <a:off x="448056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Over 1,500 automated checks, payroll to the pesewa, a measured and replaced face model, four reviews on every change.</a:t>
            </a:r>
          </a:p>
        </p:txBody>
      </p:sp>
      <p:sp>
        <p:nvSpPr>
          <p:cNvPr id="11" name="Rounded Rectangle 10"/>
          <p:cNvSpPr/>
          <p:nvPr/>
        </p:nvSpPr>
        <p:spPr>
          <a:xfrm>
            <a:off x="806500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Decided</a:t>
            </a:r>
          </a:p>
        </p:txBody>
      </p:sp>
      <p:sp>
        <p:nvSpPr>
          <p:cNvPr id="13" name="TextBox 12"/>
          <p:cNvSpPr txBox="1"/>
          <p:nvPr/>
        </p:nvSpPr>
        <p:spPr>
          <a:xfrm>
            <a:off x="822960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company kiosk, not the guard’s phone; the password step instead of a second approver; evidence that is never edited.</a:t>
            </a:r>
          </a:p>
        </p:txBody>
      </p:sp>
      <p:sp>
        <p:nvSpPr>
          <p:cNvPr id="14" name="TextBox 1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Any administrator can act, but sensitive actions need their password, everything is in the audit log, and ghost detection still flags suspicious patterns.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References</a:t>
            </a:r>
          </a:p>
        </p:txBody>
      </p:sp>
      <p:sp>
        <p:nvSpPr>
          <p:cNvPr id="3" name="TextBox 2"/>
          <p:cNvSpPr txBox="1"/>
          <p:nvPr/>
        </p:nvSpPr>
        <p:spPr>
          <a:xfrm>
            <a:off x="566928" y="1783080"/>
            <a:ext cx="11064240" cy="4206240"/>
          </a:xfrm>
          <a:prstGeom prst="rect">
            <a:avLst/>
          </a:prstGeom>
          <a:noFill/>
        </p:spPr>
        <p:txBody>
          <a:bodyPr wrap="square" lIns="45720" rIns="45720" tIns="27432" bIns="27432">
            <a:spAutoFit/>
          </a:bodyPr>
          <a:lstStyle/>
          <a:p>
            <a:pPr algn="l">
              <a:lnSpc>
                <a:spcPct val="108000"/>
              </a:lnSpc>
              <a:spcAft>
                <a:spcPts val="600"/>
              </a:spcAft>
            </a:pPr>
            <a:r>
              <a:rPr sz="1200" b="0">
                <a:solidFill>
                  <a:srgbClr val="1A1A2E"/>
                </a:solidFill>
                <a:latin typeface="Calibri"/>
              </a:rPr>
              <a:t>•  Deng, J., Guo, J., Xue, N. and Zafeiriou, S. (2019). ArcFace: Additive Angular Margin Loss for Deep Face Recognition. IEEE/CVF Conference on Computer Vision and Pattern Recognition (CVPR), pp. 4690–4699.</a:t>
            </a:r>
          </a:p>
          <a:p>
            <a:pPr algn="l">
              <a:lnSpc>
                <a:spcPct val="108000"/>
              </a:lnSpc>
              <a:spcAft>
                <a:spcPts val="600"/>
              </a:spcAft>
            </a:pPr>
            <a:r>
              <a:rPr sz="1200" b="0">
                <a:solidFill>
                  <a:srgbClr val="1A1A2E"/>
                </a:solidFill>
                <a:latin typeface="Calibri"/>
              </a:rPr>
              <a:t>•  Republic of Ghana (2012). Data Protection Act, 2012 (Act 843). Accra: Government Printer.</a:t>
            </a:r>
          </a:p>
          <a:p>
            <a:pPr algn="l">
              <a:lnSpc>
                <a:spcPct val="108000"/>
              </a:lnSpc>
              <a:spcAft>
                <a:spcPts val="600"/>
              </a:spcAft>
            </a:pPr>
            <a:r>
              <a:rPr sz="1200" b="0">
                <a:solidFill>
                  <a:srgbClr val="1A1A2E"/>
                </a:solidFill>
                <a:latin typeface="Calibri"/>
              </a:rPr>
              <a:t>•  Republic of Ghana (2008). National Pensions Act, 2008 (Act 766), as amended. Accra.</a:t>
            </a:r>
          </a:p>
          <a:p>
            <a:pPr algn="l">
              <a:lnSpc>
                <a:spcPct val="108000"/>
              </a:lnSpc>
              <a:spcAft>
                <a:spcPts val="600"/>
              </a:spcAft>
            </a:pPr>
            <a:r>
              <a:rPr sz="1200" b="0">
                <a:solidFill>
                  <a:srgbClr val="1A1A2E"/>
                </a:solidFill>
                <a:latin typeface="Calibri"/>
              </a:rPr>
              <a:t>•  Ghana Revenue Authority (2026). Income tax rates for resident individuals (PAYE). Accra: GRA.</a:t>
            </a:r>
          </a:p>
          <a:p>
            <a:pPr algn="l">
              <a:lnSpc>
                <a:spcPct val="108000"/>
              </a:lnSpc>
              <a:spcAft>
                <a:spcPts val="600"/>
              </a:spcAft>
            </a:pPr>
            <a:r>
              <a:rPr sz="1200" b="0">
                <a:solidFill>
                  <a:srgbClr val="1A1A2E"/>
                </a:solidFill>
                <a:latin typeface="Calibri"/>
              </a:rPr>
              <a:t>•  OWASP Foundation (2023). OWASP API Security Top 10 – 2023. owasp.org.</a:t>
            </a:r>
          </a:p>
          <a:p>
            <a:pPr algn="l">
              <a:lnSpc>
                <a:spcPct val="108000"/>
              </a:lnSpc>
              <a:spcAft>
                <a:spcPts val="600"/>
              </a:spcAft>
            </a:pPr>
            <a:r>
              <a:rPr sz="1200" b="0">
                <a:solidFill>
                  <a:srgbClr val="1A1A2E"/>
                </a:solidFill>
                <a:latin typeface="Calibri"/>
              </a:rPr>
              <a:t>•  National Institute of Standards and Technology (2017, updated). SP 800-63B: Digital Identity Guidelines – Authentication and Lifecycle Management.</a:t>
            </a:r>
          </a:p>
          <a:p>
            <a:pPr algn="l">
              <a:lnSpc>
                <a:spcPct val="108000"/>
              </a:lnSpc>
              <a:spcAft>
                <a:spcPts val="600"/>
              </a:spcAft>
            </a:pPr>
            <a:r>
              <a:rPr sz="1200" b="0">
                <a:solidFill>
                  <a:srgbClr val="1A1A2E"/>
                </a:solidFill>
                <a:latin typeface="Calibri"/>
              </a:rPr>
              <a:t>•  W3C (2021). Web Authentication: An API for accessing Public Key Credentials, Level 2 (WebAuthn).</a:t>
            </a:r>
          </a:p>
          <a:p>
            <a:pPr algn="l">
              <a:lnSpc>
                <a:spcPct val="108000"/>
              </a:lnSpc>
              <a:spcAft>
                <a:spcPts val="600"/>
              </a:spcAft>
            </a:pPr>
            <a:r>
              <a:rPr sz="1200" b="0">
                <a:solidFill>
                  <a:srgbClr val="1A1A2E"/>
                </a:solidFill>
                <a:latin typeface="Calibri"/>
              </a:rPr>
              <a:t>•  Nottingham, M. and Wilde, E. (2023). RFC 9457: Problem Details for HTTP APIs. IETF.</a:t>
            </a:r>
          </a:p>
          <a:p>
            <a:pPr algn="l">
              <a:lnSpc>
                <a:spcPct val="108000"/>
              </a:lnSpc>
              <a:spcAft>
                <a:spcPts val="600"/>
              </a:spcAft>
            </a:pPr>
            <a:r>
              <a:rPr sz="1200" b="0">
                <a:solidFill>
                  <a:srgbClr val="1A1A2E"/>
                </a:solidFill>
                <a:latin typeface="Calibri"/>
              </a:rPr>
              <a:t>•  OpenAPI Initiative (2021). OpenAPI Specification 3.1.0.</a:t>
            </a:r>
          </a:p>
          <a:p>
            <a:pPr algn="l">
              <a:lnSpc>
                <a:spcPct val="108000"/>
              </a:lnSpc>
              <a:spcAft>
                <a:spcPts val="600"/>
              </a:spcAft>
            </a:pPr>
            <a:r>
              <a:rPr sz="1200" b="0">
                <a:solidFill>
                  <a:srgbClr val="1A1A2E"/>
                </a:solidFill>
                <a:latin typeface="Calibri"/>
              </a:rPr>
              <a:t>•  Project documentation: design plan, security chapter, face-threshold report and defence pack, in the SAMTEC repository (docs/plan, docs/guides).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Thank you</a:t>
            </a:r>
          </a:p>
        </p:txBody>
      </p:sp>
      <p:sp>
        <p:nvSpPr>
          <p:cNvPr id="3" name="Rounded Rectangle 2"/>
          <p:cNvSpPr/>
          <p:nvPr/>
        </p:nvSpPr>
        <p:spPr>
          <a:xfrm>
            <a:off x="566928" y="2148840"/>
            <a:ext cx="11064240" cy="237744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2514600"/>
            <a:ext cx="10515600" cy="1737360"/>
          </a:xfrm>
          <a:prstGeom prst="rect">
            <a:avLst/>
          </a:prstGeom>
          <a:noFill/>
        </p:spPr>
        <p:txBody>
          <a:bodyPr wrap="square" lIns="45720" rIns="45720" tIns="27432" bIns="27432">
            <a:spAutoFit/>
          </a:bodyPr>
          <a:lstStyle/>
          <a:p>
            <a:pPr algn="ctr">
              <a:lnSpc>
                <a:spcPct val="108000"/>
              </a:lnSpc>
              <a:spcAft>
                <a:spcPts val="800"/>
              </a:spcAft>
            </a:pPr>
            <a:r>
              <a:rPr sz="3600" b="1">
                <a:solidFill>
                  <a:srgbClr val="FFFFFF"/>
                </a:solidFill>
                <a:latin typeface="Calibri"/>
              </a:rPr>
              <a:t>Questions</a:t>
            </a:r>
          </a:p>
          <a:p>
            <a:pPr algn="ctr">
              <a:lnSpc>
                <a:spcPct val="108000"/>
              </a:lnSpc>
              <a:spcAft>
                <a:spcPts val="400"/>
              </a:spcAft>
            </a:pPr>
            <a:r>
              <a:rPr sz="1400" b="0">
                <a:solidFill>
                  <a:srgbClr val="E9DFC9"/>
                </a:solidFill>
                <a:latin typeface="Calibri"/>
              </a:rPr>
              <a:t>Dashboard: samtec-test.vercel.app    ·    Kiosk: samtec-test-kiosk.vercel.app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1128</Words>
  <Application>Microsoft Office PowerPoint</Application>
  <PresentationFormat>Widescreen</PresentationFormat>
  <Paragraphs>103</Paragraphs>
  <Slides>8</Slides>
  <Notes>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vt:i4>
      </vt:variant>
    </vt:vector>
  </HeadingPairs>
  <TitlesOfParts>
    <vt:vector size="16" baseType="lpstr">
      <vt:lpstr>MS PGothic</vt:lpstr>
      <vt:lpstr>Aptos</vt:lpstr>
      <vt:lpstr>Aptos Display</vt:lpstr>
      <vt:lpstr>Arial</vt:lpstr>
      <vt:lpstr>Calibri</vt:lpstr>
      <vt:lpstr>Times New Roman</vt:lpstr>
      <vt:lpstr>Office Theme</vt:lpstr>
      <vt:lpstr>1_Office Theme</vt:lpstr>
      <vt:lpstr>FINAL YEAR PROJECT PRESENTATION &amp; DEMO </vt:lpstr>
      <vt:lpstr>OUTLINE OF  PRESENTATION</vt:lpstr>
      <vt:lpstr>Introduction</vt:lpstr>
      <vt:lpstr>Aims and Objectives</vt:lpstr>
      <vt:lpstr>Related Work</vt:lpstr>
      <vt:lpstr>Proposed Solution</vt:lpstr>
      <vt:lpstr>End Slide</vt:lpstr>
      <vt:lpstr>FINAL YEAR PROJECT PRESENTATION &amp; DEMO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Prempeh Sharon</cp:lastModifiedBy>
  <cp:revision>1</cp:revision>
  <dcterms:created xsi:type="dcterms:W3CDTF">2025-09-15T15:38:40Z</dcterms:created>
  <dcterms:modified xsi:type="dcterms:W3CDTF">2025-09-15T15:40:01Z</dcterms:modified>
</cp:coreProperties>
</file>