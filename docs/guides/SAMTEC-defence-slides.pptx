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opening with no slide on screen if you can. "A security company in Ghana pays hundreds of guards every month. Nobody in the head office can see who actually stood at a gate last night." Then the one sentence: SAMTEC pays people from evidence, and keeps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frauds follow from one blind spot. Ghost workers: a name on the payroll that no real person works for. Buddy punching: a real guard signing in for a friend who stayed home. Both are paid with real money,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guard proves they are present with their face, on a company device at the site. That proof becomes a worked shift. The shift becomes pay, calculated to Ghana's PAYE and SSNIT rules. A second person must approve the pay, and then it is locked so nobody, not even an administrator, can quietly change it. And every night, eleven rules hunt through the data for pay without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apps and one database. The API is the brain; every rule lives there. The dashboard is what the office staff see. The kiosk is the phone at the gate, deliberately tiny, with nobody signed in on its everyday screen, because a phone on a wall is the least private computer in the company. They all speak to the API through one written contract, so the parts cannot drift apart. The database has thirty-five tables in six modules, and one rule keeps it clean: a module writes only to its own tables. Payroll never touches the attendance tables; it asks the attendance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evidence is never edited. Punches, consent records, audit lines and locked pay runs are append-only in the database itself; a trigger rejects changes, so even an administrator cannot rewrite history. Second: nobody important acts alone. Approving pay, deciding a duplicate face, creating an administrator, each needs a second person, and the database checks it, not just the screen. Third: a rule never punishes anybody. Detection raises a question with evidence; a human answers it in writing, and the answer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modules. Identity: sign-in, two-factor, roles and the audit log. Workforce: employees, sites, posts, shifts. Attendance: devices, punches, worked shifts and the exception queue. Biometrics: consent, face templates and fingerprint keys. Payroll: months, tax tables, runs, lines and payslips. Detection: the eleven rules and their alerts. Each module writes only to its own tables, which is why I can reason about each part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kiosk; in production a phone mounted at the site. An administrator signs in, for fifteen minutes only, to put a new guard on the system. First, consent: the exact legal wording comes from the server, and the worker's answer is stored with the version and a fingerprint of that text, so we can always prove what they agreed to. Then three face captures, each with a fresh head turn so a photograph cannot enrol. No photo is ever stored: the face becomes 1,024 numbers, encrypted before they reach the database. DO: Admin, sign in, consent, Ghana Card digits, three captures, enrolled.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everyday moment. The guard walks up, turns their head the way the kiosk asks, left or right is random so two printed photos do not work, and that is all they do. DO: Start shift, head turn, the name appears, watch the Live board show the clock-in within five seconds. Notice what the kiosk never shows: a score, or who somebody almost matched. There is even a test that reads the whole screen and fails if a score ever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month end, HR calculates the run. Every guard's confirmed hours become pay: basic pro-rated for days employed, overtime, SSNIT, then PAYE through the graduated bands. Money is always whole pesewas, never a decimal, because decimals lose money. And every input is copied onto the line, so this run can be re-checked years from now without reading anything else. DO: open the run, show the lines,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prepared this run, so the system will not let me approve it. A different person must. DO: approve as the second account. The moment it is approved it locks; the database refuses any change to the figures from now on, and the payslip PDF is written in the same transaction, so what was sent is exactly what exists. DO: open a payslip PDF, show the bank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reason the system exists. The seeded data has planted frauds in it. I press one button. DO: Ghost detection, Run the rules now, open one alert. An employee who is paid but never clocked in. The rule does not punish anyone; it raises this question, with the rows it looked at, and a human answers it in writing. The answer is audited. Eleven rules run like this every night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fourteen hundred automated checks run on every change: 897 on the API, 383 on the dashboard, 106 on the kiosk, 35 on the gateway, including money calculated to the pesewa against payslips we worked by hand, and database rules proved against a real PostgreSQL. Every phase went through four reviews, and each serious finding was handed to a sceptic told to refute it. The whole-system review found twenty real problems; three were serious; all twenty are fixed, each with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name the limits myself. The browser's anti-spoofing stops a printed photo, not a good mask; production uses infrared terminals. A device fingerprint cannot say whose finger, so it is never used alone. Identical twins can defeat any face threshold, we measured it, so the answer is a second factor, not a bigger number. And the face-matching thresholds still need a pilot with real volunteers before a paying client. Every number I did quote comes from a run anyone can repeat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data safety: templates, never photos; encrypted; consent recorded word for word; wiped ninety days after someone leaves. Logs hold IDs, not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the on-phone check with real faces, a pilot with volunteers to tune the thresholds, infrared terminals at the sites, and then a first paying client. The gateway is already proven against a fake terminal; the real device is bought when a client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sentence. Then the one rule for questions: when you do not know, say "I don't know, but I know where it is written", and name the document. That is a strong answer. Guessing is the only losing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3A"/>
        </a:solidFill>
      </p:bgPr>
    </p:bg>
    <p:spTree>
      <p:nvGrpSpPr>
        <p:cNvPr id="1" name=""/>
        <p:cNvGrpSpPr/>
        <p:nvPr/>
      </p:nvGrpSpPr>
      <p:grpSpPr>
        <a:xfrm>
          <a:off x="0" y="0"/>
          <a:ext cx="0" cy="0"/>
          <a:chOff x="0" y="0"/>
          <a:chExt cx="0" cy="0"/>
        </a:xfrm>
      </p:grpSpPr>
      <p:sp>
        <p:nvSpPr>
          <p:cNvPr id="2" name="Shape 0"/>
          <p:cNvSpPr/>
          <p:nvPr/>
        </p:nvSpPr>
        <p:spPr>
          <a:xfrm>
            <a:off x="457200" y="548640"/>
            <a:ext cx="640080" cy="640080"/>
          </a:xfrm>
          <a:prstGeom prst="ellipse">
            <a:avLst/>
          </a:prstGeom>
          <a:solidFill>
            <a:srgbClr val="E8B542"/>
          </a:solidFill>
          <a:ln w="12700">
            <a:solidFill>
              <a:srgbClr val="E8B542"/>
            </a:solidFill>
            <a:prstDash val="solid"/>
          </a:ln>
        </p:spPr>
      </p:sp>
      <p:sp>
        <p:nvSpPr>
          <p:cNvPr id="3" name="Text 1"/>
          <p:cNvSpPr txBox="1"/>
          <p:nvPr/>
        </p:nvSpPr>
        <p:spPr>
          <a:xfrm>
            <a:off x="457200" y="548640"/>
            <a:ext cx="640080" cy="640080"/>
          </a:xfrm>
          <a:prstGeom prst="rect">
            <a:avLst/>
          </a:prstGeom>
          <a:noFill/>
          <a:ln/>
        </p:spPr>
        <p:txBody>
          <a:bodyPr wrap="square" lIns="0" tIns="0" rIns="0" bIns="0" rtlCol="0" anchor="ctr"/>
          <a:lstStyle/>
          <a:p>
            <a:pPr algn="ctr" indent="0" marL="0">
              <a:buNone/>
            </a:pPr>
            <a:r>
              <a:rPr lang="en-US" sz="2600" b="1" dirty="0">
                <a:solidFill>
                  <a:srgbClr val="13213A"/>
                </a:solidFill>
                <a:latin typeface="Calibri" pitchFamily="34" charset="0"/>
                <a:ea typeface="Calibri" pitchFamily="34" charset="-122"/>
                <a:cs typeface="Calibri" pitchFamily="34" charset="-120"/>
              </a:rPr>
              <a:t>S</a:t>
            </a:r>
            <a:endParaRPr lang="en-US" sz="2600" dirty="0"/>
          </a:p>
        </p:txBody>
      </p:sp>
      <p:sp>
        <p:nvSpPr>
          <p:cNvPr id="4" name="Text 2"/>
          <p:cNvSpPr txBox="1"/>
          <p:nvPr/>
        </p:nvSpPr>
        <p:spPr>
          <a:xfrm>
            <a:off x="1234440" y="566928"/>
            <a:ext cx="4572000" cy="603504"/>
          </a:xfrm>
          <a:prstGeom prst="rect">
            <a:avLst/>
          </a:prstGeom>
          <a:noFill/>
          <a:ln/>
        </p:spPr>
        <p:txBody>
          <a:bodyPr wrap="square" lIns="0" tIns="0" rIns="0" bIns="0" rtlCol="0" anchor="ctr"/>
          <a:lstStyle/>
          <a:p>
            <a:pPr indent="0" marL="0">
              <a:buNone/>
            </a:pPr>
            <a:r>
              <a:rPr lang="en-US" sz="2400" b="1" spc="400" kern="0" dirty="0">
                <a:solidFill>
                  <a:srgbClr val="FFFFFF"/>
                </a:solidFill>
                <a:latin typeface="Calibri" pitchFamily="34" charset="0"/>
                <a:ea typeface="Calibri" pitchFamily="34" charset="-122"/>
                <a:cs typeface="Calibri" pitchFamily="34" charset="-120"/>
              </a:rPr>
              <a:t>SAMTEC</a:t>
            </a:r>
            <a:endParaRPr lang="en-US" sz="2400" dirty="0"/>
          </a:p>
        </p:txBody>
      </p:sp>
      <p:sp>
        <p:nvSpPr>
          <p:cNvPr id="5" name="Text 3"/>
          <p:cNvSpPr txBox="1"/>
          <p:nvPr/>
        </p:nvSpPr>
        <p:spPr>
          <a:xfrm>
            <a:off x="457200" y="1737360"/>
            <a:ext cx="822960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Biometric attendance and payroll for security companies in Ghana</a:t>
            </a:r>
            <a:endParaRPr lang="en-US" sz="3000" dirty="0"/>
          </a:p>
        </p:txBody>
      </p:sp>
      <p:sp>
        <p:nvSpPr>
          <p:cNvPr id="6" name="Text 4"/>
          <p:cNvSpPr txBox="1"/>
          <p:nvPr/>
        </p:nvSpPr>
        <p:spPr>
          <a:xfrm>
            <a:off x="457200" y="2697480"/>
            <a:ext cx="8229600" cy="457200"/>
          </a:xfrm>
          <a:prstGeom prst="rect">
            <a:avLst/>
          </a:prstGeom>
          <a:noFill/>
          <a:ln/>
        </p:spPr>
        <p:txBody>
          <a:bodyPr wrap="square" lIns="0" tIns="0" rIns="0" bIns="0" rtlCol="0" anchor="ctr"/>
          <a:lstStyle/>
          <a:p>
            <a:pPr indent="0" marL="0">
              <a:buNone/>
            </a:pPr>
            <a:r>
              <a:rPr lang="en-US" sz="1800" i="1" dirty="0">
                <a:solidFill>
                  <a:srgbClr val="E8B542"/>
                </a:solidFill>
                <a:latin typeface="Calibri" pitchFamily="34" charset="0"/>
                <a:ea typeface="Calibri" pitchFamily="34" charset="-122"/>
                <a:cs typeface="Calibri" pitchFamily="34" charset="-120"/>
              </a:rPr>
              <a:t>It pays people from evidence, and keeps the evidence.</a:t>
            </a:r>
            <a:endParaRPr lang="en-US" sz="1800" dirty="0"/>
          </a:p>
        </p:txBody>
      </p:sp>
      <p:sp>
        <p:nvSpPr>
          <p:cNvPr id="7" name="Text 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dirty="0">
                <a:solidFill>
                  <a:srgbClr val="C9D1E0"/>
                </a:solidFill>
                <a:latin typeface="Calibri" pitchFamily="34" charset="0"/>
                <a:ea typeface="Calibri" pitchFamily="34" charset="-122"/>
                <a:cs typeface="Calibri" pitchFamily="34" charset="-120"/>
              </a:rPr>
              <a:t>Final-year project defence  ·  Samuel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The problem</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Real money leaves every month for presence nobody can prove</a:t>
            </a:r>
            <a:endParaRPr lang="en-US" sz="1400" dirty="0"/>
          </a:p>
        </p:txBody>
      </p:sp>
      <p:sp>
        <p:nvSpPr>
          <p:cNvPr id="4" name="Shape 2"/>
          <p:cNvSpPr/>
          <p:nvPr/>
        </p:nvSpPr>
        <p:spPr>
          <a:xfrm>
            <a:off x="457200" y="1554480"/>
            <a:ext cx="3977640" cy="2377440"/>
          </a:xfrm>
          <a:prstGeom prst="roundRect">
            <a:avLst>
              <a:gd name="adj" fmla="val 4615"/>
            </a:avLst>
          </a:prstGeom>
          <a:solidFill>
            <a:srgbClr val="EEF0F4"/>
          </a:solidFill>
          <a:ln w="12700">
            <a:solidFill>
              <a:srgbClr val="EEF0F4"/>
            </a:solidFill>
            <a:prstDash val="solid"/>
          </a:ln>
        </p:spPr>
      </p:sp>
      <p:sp>
        <p:nvSpPr>
          <p:cNvPr id="5" name="Shape 3"/>
          <p:cNvSpPr/>
          <p:nvPr/>
        </p:nvSpPr>
        <p:spPr>
          <a:xfrm>
            <a:off x="658368" y="1755648"/>
            <a:ext cx="347472" cy="347472"/>
          </a:xfrm>
          <a:prstGeom prst="ellipse">
            <a:avLst/>
          </a:prstGeom>
          <a:solidFill>
            <a:srgbClr val="E8B542"/>
          </a:solidFill>
          <a:ln w="12700">
            <a:solidFill>
              <a:srgbClr val="E8B542"/>
            </a:solidFill>
            <a:prstDash val="solid"/>
          </a:ln>
        </p:spPr>
      </p:sp>
      <p:sp>
        <p:nvSpPr>
          <p:cNvPr id="6" name="Text 4"/>
          <p:cNvSpPr txBox="1"/>
          <p:nvPr/>
        </p:nvSpPr>
        <p:spPr>
          <a:xfrm>
            <a:off x="658368" y="175564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221284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Ghost workers</a:t>
            </a:r>
            <a:endParaRPr lang="en-US" sz="1600" dirty="0"/>
          </a:p>
        </p:txBody>
      </p:sp>
      <p:sp>
        <p:nvSpPr>
          <p:cNvPr id="8" name="Text 6"/>
          <p:cNvSpPr txBox="1"/>
          <p:nvPr/>
        </p:nvSpPr>
        <p:spPr>
          <a:xfrm>
            <a:off x="658368" y="2596896"/>
            <a:ext cx="3575304" cy="1225296"/>
          </a:xfrm>
          <a:prstGeom prst="rect">
            <a:avLst/>
          </a:prstGeom>
          <a:noFill/>
          <a:ln/>
        </p:spPr>
        <p:txBody>
          <a:bodyPr wrap="square" lIns="0" tIns="0" rIns="0" bIns="0" rtlCol="0" anchor="t"/>
          <a:lstStyle/>
          <a:p>
            <a:pPr indent="0" marL="0">
              <a:buNone/>
            </a:pPr>
            <a:r>
              <a:rPr lang="en-US" sz="1400" dirty="0">
                <a:solidFill>
                  <a:srgbClr val="66708A"/>
                </a:solidFill>
                <a:latin typeface="Calibri" pitchFamily="34" charset="0"/>
                <a:ea typeface="Calibri" pitchFamily="34" charset="-122"/>
                <a:cs typeface="Calibri" pitchFamily="34" charset="-120"/>
              </a:rPr>
              <a:t>A name on the payroll that no real person works for. The pay is collected by somebody else, every month, and the office never sees a face.</a:t>
            </a:r>
            <a:endParaRPr lang="en-US" sz="1400" dirty="0"/>
          </a:p>
        </p:txBody>
      </p:sp>
      <p:sp>
        <p:nvSpPr>
          <p:cNvPr id="9" name="Shape 7"/>
          <p:cNvSpPr/>
          <p:nvPr/>
        </p:nvSpPr>
        <p:spPr>
          <a:xfrm>
            <a:off x="4709160" y="1554480"/>
            <a:ext cx="3977640" cy="2377440"/>
          </a:xfrm>
          <a:prstGeom prst="roundRect">
            <a:avLst>
              <a:gd name="adj" fmla="val 4615"/>
            </a:avLst>
          </a:prstGeom>
          <a:solidFill>
            <a:srgbClr val="EEF0F4"/>
          </a:solidFill>
          <a:ln w="12700">
            <a:solidFill>
              <a:srgbClr val="EEF0F4"/>
            </a:solidFill>
            <a:prstDash val="solid"/>
          </a:ln>
        </p:spPr>
      </p:sp>
      <p:sp>
        <p:nvSpPr>
          <p:cNvPr id="10" name="Shape 8"/>
          <p:cNvSpPr/>
          <p:nvPr/>
        </p:nvSpPr>
        <p:spPr>
          <a:xfrm>
            <a:off x="4910328" y="1755648"/>
            <a:ext cx="347472" cy="347472"/>
          </a:xfrm>
          <a:prstGeom prst="ellipse">
            <a:avLst/>
          </a:prstGeom>
          <a:solidFill>
            <a:srgbClr val="E8B542"/>
          </a:solidFill>
          <a:ln w="12700">
            <a:solidFill>
              <a:srgbClr val="E8B542"/>
            </a:solidFill>
            <a:prstDash val="solid"/>
          </a:ln>
        </p:spPr>
      </p:sp>
      <p:sp>
        <p:nvSpPr>
          <p:cNvPr id="11" name="Text 9"/>
          <p:cNvSpPr txBox="1"/>
          <p:nvPr/>
        </p:nvSpPr>
        <p:spPr>
          <a:xfrm>
            <a:off x="4910328" y="175564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910328" y="221284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Buddy punching</a:t>
            </a:r>
            <a:endParaRPr lang="en-US" sz="1600" dirty="0"/>
          </a:p>
        </p:txBody>
      </p:sp>
      <p:sp>
        <p:nvSpPr>
          <p:cNvPr id="13" name="Text 11"/>
          <p:cNvSpPr txBox="1"/>
          <p:nvPr/>
        </p:nvSpPr>
        <p:spPr>
          <a:xfrm>
            <a:off x="4910328" y="2596896"/>
            <a:ext cx="3575304" cy="1225296"/>
          </a:xfrm>
          <a:prstGeom prst="rect">
            <a:avLst/>
          </a:prstGeom>
          <a:noFill/>
          <a:ln/>
        </p:spPr>
        <p:txBody>
          <a:bodyPr wrap="square" lIns="0" tIns="0" rIns="0" bIns="0" rtlCol="0" anchor="t"/>
          <a:lstStyle/>
          <a:p>
            <a:pPr indent="0" marL="0">
              <a:buNone/>
            </a:pPr>
            <a:r>
              <a:rPr lang="en-US" sz="1400" dirty="0">
                <a:solidFill>
                  <a:srgbClr val="66708A"/>
                </a:solidFill>
                <a:latin typeface="Calibri" pitchFamily="34" charset="0"/>
                <a:ea typeface="Calibri" pitchFamily="34" charset="-122"/>
                <a:cs typeface="Calibri" pitchFamily="34" charset="-120"/>
              </a:rPr>
              <a:t>A real guard signs in for a friend who stayed at home. Two names are paid; one person stood at the gate.</a:t>
            </a:r>
            <a:endParaRPr lang="en-US" sz="1400" dirty="0"/>
          </a:p>
        </p:txBody>
      </p:sp>
      <p:sp>
        <p:nvSpPr>
          <p:cNvPr id="14" name="Text 12"/>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500" b="1" dirty="0">
                <a:solidFill>
                  <a:srgbClr val="13213A"/>
                </a:solidFill>
                <a:latin typeface="Calibri" pitchFamily="34" charset="0"/>
                <a:ea typeface="Calibri" pitchFamily="34" charset="-122"/>
                <a:cs typeface="Calibri" pitchFamily="34" charset="-120"/>
              </a:rPr>
              <a:t>Both are paid with real money. Neither can be seen from the head office.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SAMTEC does, in one chain</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C9D1E0"/>
                </a:solidFill>
                <a:latin typeface="Calibri" pitchFamily="34" charset="0"/>
                <a:ea typeface="Calibri" pitchFamily="34" charset="-122"/>
                <a:cs typeface="Calibri" pitchFamily="34" charset="-120"/>
              </a:rPr>
              <a:t>Every question later is really a question about this line</a:t>
            </a:r>
            <a:endParaRPr lang="en-US" sz="1400" dirty="0"/>
          </a:p>
        </p:txBody>
      </p:sp>
      <p:sp>
        <p:nvSpPr>
          <p:cNvPr id="4" name="Shape 2"/>
          <p:cNvSpPr/>
          <p:nvPr/>
        </p:nvSpPr>
        <p:spPr>
          <a:xfrm>
            <a:off x="457200" y="1920240"/>
            <a:ext cx="1158240" cy="868680"/>
          </a:xfrm>
          <a:prstGeom prst="roundRect">
            <a:avLst>
              <a:gd name="adj" fmla="val 10526"/>
            </a:avLst>
          </a:prstGeom>
          <a:solidFill>
            <a:srgbClr val="1C2743"/>
          </a:solidFill>
          <a:ln w="12700">
            <a:solidFill>
              <a:srgbClr val="1C2743"/>
            </a:solidFill>
            <a:prstDash val="solid"/>
          </a:ln>
        </p:spPr>
      </p:sp>
      <p:sp>
        <p:nvSpPr>
          <p:cNvPr id="5" name="Text 3"/>
          <p:cNvSpPr txBox="1"/>
          <p:nvPr/>
        </p:nvSpPr>
        <p:spPr>
          <a:xfrm>
            <a:off x="457200"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Face at the gate</a:t>
            </a:r>
            <a:endParaRPr lang="en-US" sz="1250" dirty="0"/>
          </a:p>
        </p:txBody>
      </p:sp>
      <p:sp>
        <p:nvSpPr>
          <p:cNvPr id="6" name="Shape 4"/>
          <p:cNvSpPr/>
          <p:nvPr/>
        </p:nvSpPr>
        <p:spPr>
          <a:xfrm>
            <a:off x="1652016" y="2354580"/>
            <a:ext cx="182880" cy="0"/>
          </a:xfrm>
          <a:prstGeom prst="line">
            <a:avLst/>
          </a:prstGeom>
          <a:noFill/>
          <a:ln w="19050">
            <a:solidFill>
              <a:srgbClr val="C9D1E0"/>
            </a:solidFill>
            <a:prstDash val="solid"/>
            <a:tailEnd type="triangle"/>
          </a:ln>
        </p:spPr>
      </p:sp>
      <p:sp>
        <p:nvSpPr>
          <p:cNvPr id="7" name="Shape 5"/>
          <p:cNvSpPr/>
          <p:nvPr/>
        </p:nvSpPr>
        <p:spPr>
          <a:xfrm>
            <a:off x="1871472" y="1920240"/>
            <a:ext cx="1158240" cy="868680"/>
          </a:xfrm>
          <a:prstGeom prst="roundRect">
            <a:avLst>
              <a:gd name="adj" fmla="val 10526"/>
            </a:avLst>
          </a:prstGeom>
          <a:solidFill>
            <a:srgbClr val="1C2743"/>
          </a:solidFill>
          <a:ln w="12700">
            <a:solidFill>
              <a:srgbClr val="1C2743"/>
            </a:solidFill>
            <a:prstDash val="solid"/>
          </a:ln>
        </p:spPr>
      </p:sp>
      <p:sp>
        <p:nvSpPr>
          <p:cNvPr id="8" name="Text 6"/>
          <p:cNvSpPr txBox="1"/>
          <p:nvPr/>
        </p:nvSpPr>
        <p:spPr>
          <a:xfrm>
            <a:off x="1871472"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Punch</a:t>
            </a:r>
            <a:endParaRPr lang="en-US" sz="1250" dirty="0"/>
          </a:p>
        </p:txBody>
      </p:sp>
      <p:sp>
        <p:nvSpPr>
          <p:cNvPr id="9" name="Shape 7"/>
          <p:cNvSpPr/>
          <p:nvPr/>
        </p:nvSpPr>
        <p:spPr>
          <a:xfrm>
            <a:off x="3066288" y="2354580"/>
            <a:ext cx="182880" cy="0"/>
          </a:xfrm>
          <a:prstGeom prst="line">
            <a:avLst/>
          </a:prstGeom>
          <a:noFill/>
          <a:ln w="19050">
            <a:solidFill>
              <a:srgbClr val="C9D1E0"/>
            </a:solidFill>
            <a:prstDash val="solid"/>
            <a:tailEnd type="triangle"/>
          </a:ln>
        </p:spPr>
      </p:sp>
      <p:sp>
        <p:nvSpPr>
          <p:cNvPr id="10" name="Shape 8"/>
          <p:cNvSpPr/>
          <p:nvPr/>
        </p:nvSpPr>
        <p:spPr>
          <a:xfrm>
            <a:off x="3285744" y="1920240"/>
            <a:ext cx="1158240" cy="868680"/>
          </a:xfrm>
          <a:prstGeom prst="roundRect">
            <a:avLst>
              <a:gd name="adj" fmla="val 10526"/>
            </a:avLst>
          </a:prstGeom>
          <a:solidFill>
            <a:srgbClr val="1C2743"/>
          </a:solidFill>
          <a:ln w="12700">
            <a:solidFill>
              <a:srgbClr val="1C2743"/>
            </a:solidFill>
            <a:prstDash val="solid"/>
          </a:ln>
        </p:spPr>
      </p:sp>
      <p:sp>
        <p:nvSpPr>
          <p:cNvPr id="11" name="Text 9"/>
          <p:cNvSpPr txBox="1"/>
          <p:nvPr/>
        </p:nvSpPr>
        <p:spPr>
          <a:xfrm>
            <a:off x="3285744"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Worked shift</a:t>
            </a:r>
            <a:endParaRPr lang="en-US" sz="1250" dirty="0"/>
          </a:p>
        </p:txBody>
      </p:sp>
      <p:sp>
        <p:nvSpPr>
          <p:cNvPr id="12" name="Shape 10"/>
          <p:cNvSpPr/>
          <p:nvPr/>
        </p:nvSpPr>
        <p:spPr>
          <a:xfrm>
            <a:off x="4480560" y="2354580"/>
            <a:ext cx="182880" cy="0"/>
          </a:xfrm>
          <a:prstGeom prst="line">
            <a:avLst/>
          </a:prstGeom>
          <a:noFill/>
          <a:ln w="19050">
            <a:solidFill>
              <a:srgbClr val="C9D1E0"/>
            </a:solidFill>
            <a:prstDash val="solid"/>
            <a:tailEnd type="triangle"/>
          </a:ln>
        </p:spPr>
      </p:sp>
      <p:sp>
        <p:nvSpPr>
          <p:cNvPr id="13" name="Shape 11"/>
          <p:cNvSpPr/>
          <p:nvPr/>
        </p:nvSpPr>
        <p:spPr>
          <a:xfrm>
            <a:off x="4700016" y="1920240"/>
            <a:ext cx="1158240" cy="868680"/>
          </a:xfrm>
          <a:prstGeom prst="roundRect">
            <a:avLst>
              <a:gd name="adj" fmla="val 10526"/>
            </a:avLst>
          </a:prstGeom>
          <a:solidFill>
            <a:srgbClr val="1C2743"/>
          </a:solidFill>
          <a:ln w="12700">
            <a:solidFill>
              <a:srgbClr val="1C2743"/>
            </a:solidFill>
            <a:prstDash val="solid"/>
          </a:ln>
        </p:spPr>
      </p:sp>
      <p:sp>
        <p:nvSpPr>
          <p:cNvPr id="14" name="Text 12"/>
          <p:cNvSpPr txBox="1"/>
          <p:nvPr/>
        </p:nvSpPr>
        <p:spPr>
          <a:xfrm>
            <a:off x="4700016"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Pay</a:t>
            </a:r>
            <a:endParaRPr lang="en-US" sz="1250" dirty="0"/>
          </a:p>
        </p:txBody>
      </p:sp>
      <p:sp>
        <p:nvSpPr>
          <p:cNvPr id="15" name="Shape 13"/>
          <p:cNvSpPr/>
          <p:nvPr/>
        </p:nvSpPr>
        <p:spPr>
          <a:xfrm>
            <a:off x="5894832" y="2354580"/>
            <a:ext cx="182880" cy="0"/>
          </a:xfrm>
          <a:prstGeom prst="line">
            <a:avLst/>
          </a:prstGeom>
          <a:noFill/>
          <a:ln w="19050">
            <a:solidFill>
              <a:srgbClr val="C9D1E0"/>
            </a:solidFill>
            <a:prstDash val="solid"/>
            <a:tailEnd type="triangle"/>
          </a:ln>
        </p:spPr>
      </p:sp>
      <p:sp>
        <p:nvSpPr>
          <p:cNvPr id="16" name="Shape 14"/>
          <p:cNvSpPr/>
          <p:nvPr/>
        </p:nvSpPr>
        <p:spPr>
          <a:xfrm>
            <a:off x="6114288" y="1920240"/>
            <a:ext cx="1158240" cy="868680"/>
          </a:xfrm>
          <a:prstGeom prst="roundRect">
            <a:avLst>
              <a:gd name="adj" fmla="val 10526"/>
            </a:avLst>
          </a:prstGeom>
          <a:solidFill>
            <a:srgbClr val="1C2743"/>
          </a:solidFill>
          <a:ln w="12700">
            <a:solidFill>
              <a:srgbClr val="1C2743"/>
            </a:solidFill>
            <a:prstDash val="solid"/>
          </a:ln>
        </p:spPr>
      </p:sp>
      <p:sp>
        <p:nvSpPr>
          <p:cNvPr id="17" name="Text 15"/>
          <p:cNvSpPr txBox="1"/>
          <p:nvPr/>
        </p:nvSpPr>
        <p:spPr>
          <a:xfrm>
            <a:off x="6114288"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Second person approves</a:t>
            </a:r>
            <a:endParaRPr lang="en-US" sz="1250" dirty="0"/>
          </a:p>
        </p:txBody>
      </p:sp>
      <p:sp>
        <p:nvSpPr>
          <p:cNvPr id="18" name="Shape 16"/>
          <p:cNvSpPr/>
          <p:nvPr/>
        </p:nvSpPr>
        <p:spPr>
          <a:xfrm>
            <a:off x="7309104" y="2354580"/>
            <a:ext cx="182880" cy="0"/>
          </a:xfrm>
          <a:prstGeom prst="line">
            <a:avLst/>
          </a:prstGeom>
          <a:noFill/>
          <a:ln w="19050">
            <a:solidFill>
              <a:srgbClr val="C9D1E0"/>
            </a:solidFill>
            <a:prstDash val="solid"/>
            <a:tailEnd type="triangle"/>
          </a:ln>
        </p:spPr>
      </p:sp>
      <p:sp>
        <p:nvSpPr>
          <p:cNvPr id="19" name="Shape 17"/>
          <p:cNvSpPr/>
          <p:nvPr/>
        </p:nvSpPr>
        <p:spPr>
          <a:xfrm>
            <a:off x="7528560" y="1920240"/>
            <a:ext cx="1158240" cy="868680"/>
          </a:xfrm>
          <a:prstGeom prst="roundRect">
            <a:avLst>
              <a:gd name="adj" fmla="val 10526"/>
            </a:avLst>
          </a:prstGeom>
          <a:solidFill>
            <a:srgbClr val="E8B542"/>
          </a:solidFill>
          <a:ln w="12700">
            <a:solidFill>
              <a:srgbClr val="E8B542"/>
            </a:solidFill>
            <a:prstDash val="solid"/>
          </a:ln>
        </p:spPr>
      </p:sp>
      <p:sp>
        <p:nvSpPr>
          <p:cNvPr id="20" name="Text 18"/>
          <p:cNvSpPr txBox="1"/>
          <p:nvPr/>
        </p:nvSpPr>
        <p:spPr>
          <a:xfrm>
            <a:off x="7528560" y="1920240"/>
            <a:ext cx="1158240" cy="868680"/>
          </a:xfrm>
          <a:prstGeom prst="rect">
            <a:avLst/>
          </a:prstGeom>
          <a:noFill/>
          <a:ln/>
        </p:spPr>
        <p:txBody>
          <a:bodyPr wrap="square" lIns="635" tIns="635" rIns="635" bIns="635" rtlCol="0" anchor="ctr"/>
          <a:lstStyle/>
          <a:p>
            <a:pPr algn="ctr" indent="0" marL="0">
              <a:buNone/>
            </a:pPr>
            <a:r>
              <a:rPr lang="en-US" sz="1250" b="1" dirty="0">
                <a:solidFill>
                  <a:srgbClr val="13213A"/>
                </a:solidFill>
                <a:latin typeface="Calibri" pitchFamily="34" charset="0"/>
                <a:ea typeface="Calibri" pitchFamily="34" charset="-122"/>
                <a:cs typeface="Calibri" pitchFamily="34" charset="-120"/>
              </a:rPr>
              <a:t>Locked</a:t>
            </a:r>
            <a:endParaRPr lang="en-US" sz="1250" dirty="0"/>
          </a:p>
        </p:txBody>
      </p:sp>
      <p:sp>
        <p:nvSpPr>
          <p:cNvPr id="21" name="Shape 19"/>
          <p:cNvSpPr/>
          <p:nvPr/>
        </p:nvSpPr>
        <p:spPr>
          <a:xfrm>
            <a:off x="1828800" y="3246120"/>
            <a:ext cx="5486400" cy="548640"/>
          </a:xfrm>
          <a:prstGeom prst="roundRect">
            <a:avLst>
              <a:gd name="adj" fmla="val 16667"/>
            </a:avLst>
          </a:prstGeom>
          <a:solidFill>
            <a:srgbClr val="1C2743"/>
          </a:solidFill>
          <a:ln w="12700">
            <a:solidFill>
              <a:srgbClr val="E8B542"/>
            </a:solidFill>
            <a:prstDash val="solid"/>
          </a:ln>
        </p:spPr>
      </p:sp>
      <p:sp>
        <p:nvSpPr>
          <p:cNvPr id="22" name="Text 20"/>
          <p:cNvSpPr txBox="1"/>
          <p:nvPr/>
        </p:nvSpPr>
        <p:spPr>
          <a:xfrm>
            <a:off x="1828800" y="3246120"/>
            <a:ext cx="5486400" cy="548640"/>
          </a:xfrm>
          <a:prstGeom prst="rect">
            <a:avLst/>
          </a:prstGeom>
          <a:noFill/>
          <a:ln/>
        </p:spPr>
        <p:txBody>
          <a:bodyPr wrap="square" lIns="0" tIns="0" rIns="0" bIns="0" rtlCol="0" anchor="ctr"/>
          <a:lstStyle/>
          <a:p>
            <a:pPr algn="ctr" indent="0" marL="0">
              <a:buNone/>
            </a:pPr>
            <a:r>
              <a:rPr lang="en-US" sz="1400" b="1" dirty="0">
                <a:solidFill>
                  <a:srgbClr val="E8B542"/>
                </a:solidFill>
                <a:latin typeface="Calibri" pitchFamily="34" charset="0"/>
                <a:ea typeface="Calibri" pitchFamily="34" charset="-122"/>
                <a:cs typeface="Calibri" pitchFamily="34" charset="-120"/>
              </a:rPr>
              <a:t>Eleven rules watch the whole chain, every night</a:t>
            </a:r>
            <a:endParaRPr lang="en-US" sz="1400" dirty="0"/>
          </a:p>
        </p:txBody>
      </p:sp>
      <p:sp>
        <p:nvSpPr>
          <p:cNvPr id="23" name="Text 21"/>
          <p:cNvSpPr txBox="1"/>
          <p:nvPr/>
        </p:nvSpPr>
        <p:spPr>
          <a:xfrm>
            <a:off x="457200" y="3977640"/>
            <a:ext cx="8229600" cy="685800"/>
          </a:xfrm>
          <a:prstGeom prst="rect">
            <a:avLst/>
          </a:prstGeom>
          <a:noFill/>
          <a:ln/>
        </p:spPr>
        <p:txBody>
          <a:bodyPr wrap="square" lIns="0" tIns="0" rIns="0" bIns="0" rtlCol="0" anchor="t"/>
          <a:lstStyle/>
          <a:p>
            <a:pPr indent="0" marL="0">
              <a:buNone/>
            </a:pPr>
            <a:r>
              <a:rPr lang="en-US" sz="1300" dirty="0">
                <a:solidFill>
                  <a:srgbClr val="C9D1E0"/>
                </a:solidFill>
                <a:latin typeface="Calibri" pitchFamily="34" charset="0"/>
                <a:ea typeface="Calibri" pitchFamily="34" charset="-122"/>
                <a:cs typeface="Calibri" pitchFamily="34" charset="-120"/>
              </a:rPr>
              <a:t>A guard proves presence with their face, on a company device at the site. That proof becomes a shift, the shift becomes pay, a second person approves it, and then nobody can quietly change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How it is built</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Three apps and one database, joined by one written contract</a:t>
            </a:r>
            <a:endParaRPr lang="en-US" sz="1400" dirty="0"/>
          </a:p>
        </p:txBody>
      </p:sp>
      <p:sp>
        <p:nvSpPr>
          <p:cNvPr id="4" name="Shape 2"/>
          <p:cNvSpPr/>
          <p:nvPr/>
        </p:nvSpPr>
        <p:spPr>
          <a:xfrm>
            <a:off x="457200" y="1463040"/>
            <a:ext cx="2606040" cy="1783080"/>
          </a:xfrm>
          <a:prstGeom prst="roundRect">
            <a:avLst>
              <a:gd name="adj" fmla="val 6154"/>
            </a:avLst>
          </a:prstGeom>
          <a:solidFill>
            <a:srgbClr val="EEF0F4"/>
          </a:solidFill>
          <a:ln w="12700">
            <a:solidFill>
              <a:srgbClr val="EEF0F4"/>
            </a:solidFill>
            <a:prstDash val="solid"/>
          </a:ln>
        </p:spPr>
      </p:sp>
      <p:sp>
        <p:nvSpPr>
          <p:cNvPr id="5" name="Shape 3"/>
          <p:cNvSpPr/>
          <p:nvPr/>
        </p:nvSpPr>
        <p:spPr>
          <a:xfrm>
            <a:off x="658368" y="1664208"/>
            <a:ext cx="347472" cy="347472"/>
          </a:xfrm>
          <a:prstGeom prst="ellipse">
            <a:avLst/>
          </a:prstGeom>
          <a:solidFill>
            <a:srgbClr val="E8B542"/>
          </a:solidFill>
          <a:ln w="12700">
            <a:solidFill>
              <a:srgbClr val="E8B542"/>
            </a:solidFill>
            <a:prstDash val="solid"/>
          </a:ln>
        </p:spPr>
      </p:sp>
      <p:sp>
        <p:nvSpPr>
          <p:cNvPr id="6" name="Text 4"/>
          <p:cNvSpPr txBox="1"/>
          <p:nvPr/>
        </p:nvSpPr>
        <p:spPr>
          <a:xfrm>
            <a:off x="65836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A</a:t>
            </a:r>
            <a:endParaRPr lang="en-US" sz="1300" dirty="0"/>
          </a:p>
        </p:txBody>
      </p:sp>
      <p:sp>
        <p:nvSpPr>
          <p:cNvPr id="7" name="Text 5"/>
          <p:cNvSpPr txBox="1"/>
          <p:nvPr/>
        </p:nvSpPr>
        <p:spPr>
          <a:xfrm>
            <a:off x="658368" y="21214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API</a:t>
            </a:r>
            <a:endParaRPr lang="en-US" sz="1600" dirty="0"/>
          </a:p>
        </p:txBody>
      </p:sp>
      <p:sp>
        <p:nvSpPr>
          <p:cNvPr id="8" name="Text 6"/>
          <p:cNvSpPr txBox="1"/>
          <p:nvPr/>
        </p:nvSpPr>
        <p:spPr>
          <a:xfrm>
            <a:off x="658368" y="2505456"/>
            <a:ext cx="2203704" cy="63093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The brain. Every rule lives here, and nothing reaches the database except through it.</a:t>
            </a:r>
            <a:endParaRPr lang="en-US" sz="1250" dirty="0"/>
          </a:p>
        </p:txBody>
      </p:sp>
      <p:sp>
        <p:nvSpPr>
          <p:cNvPr id="9" name="Shape 7"/>
          <p:cNvSpPr/>
          <p:nvPr/>
        </p:nvSpPr>
        <p:spPr>
          <a:xfrm>
            <a:off x="3268980" y="1463040"/>
            <a:ext cx="2606040" cy="1783080"/>
          </a:xfrm>
          <a:prstGeom prst="roundRect">
            <a:avLst>
              <a:gd name="adj" fmla="val 6154"/>
            </a:avLst>
          </a:prstGeom>
          <a:solidFill>
            <a:srgbClr val="EEF0F4"/>
          </a:solidFill>
          <a:ln w="12700">
            <a:solidFill>
              <a:srgbClr val="EEF0F4"/>
            </a:solidFill>
            <a:prstDash val="solid"/>
          </a:ln>
        </p:spPr>
      </p:sp>
      <p:sp>
        <p:nvSpPr>
          <p:cNvPr id="10" name="Shape 8"/>
          <p:cNvSpPr/>
          <p:nvPr/>
        </p:nvSpPr>
        <p:spPr>
          <a:xfrm>
            <a:off x="3470148" y="1664208"/>
            <a:ext cx="347472" cy="347472"/>
          </a:xfrm>
          <a:prstGeom prst="ellipse">
            <a:avLst/>
          </a:prstGeom>
          <a:solidFill>
            <a:srgbClr val="E8B542"/>
          </a:solidFill>
          <a:ln w="12700">
            <a:solidFill>
              <a:srgbClr val="E8B542"/>
            </a:solidFill>
            <a:prstDash val="solid"/>
          </a:ln>
        </p:spPr>
      </p:sp>
      <p:sp>
        <p:nvSpPr>
          <p:cNvPr id="11" name="Text 9"/>
          <p:cNvSpPr txBox="1"/>
          <p:nvPr/>
        </p:nvSpPr>
        <p:spPr>
          <a:xfrm>
            <a:off x="347014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B</a:t>
            </a:r>
            <a:endParaRPr lang="en-US" sz="1300" dirty="0"/>
          </a:p>
        </p:txBody>
      </p:sp>
      <p:sp>
        <p:nvSpPr>
          <p:cNvPr id="12" name="Text 10"/>
          <p:cNvSpPr txBox="1"/>
          <p:nvPr/>
        </p:nvSpPr>
        <p:spPr>
          <a:xfrm>
            <a:off x="3470148" y="21214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Dashboard</a:t>
            </a:r>
            <a:endParaRPr lang="en-US" sz="1600" dirty="0"/>
          </a:p>
        </p:txBody>
      </p:sp>
      <p:sp>
        <p:nvSpPr>
          <p:cNvPr id="13" name="Text 11"/>
          <p:cNvSpPr txBox="1"/>
          <p:nvPr/>
        </p:nvSpPr>
        <p:spPr>
          <a:xfrm>
            <a:off x="3470148" y="2505456"/>
            <a:ext cx="2203704" cy="63093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What the office staff see: employees, attendance, payroll, reports, alerts.</a:t>
            </a:r>
            <a:endParaRPr lang="en-US" sz="1250" dirty="0"/>
          </a:p>
        </p:txBody>
      </p:sp>
      <p:sp>
        <p:nvSpPr>
          <p:cNvPr id="14" name="Shape 12"/>
          <p:cNvSpPr/>
          <p:nvPr/>
        </p:nvSpPr>
        <p:spPr>
          <a:xfrm>
            <a:off x="6080760" y="1463040"/>
            <a:ext cx="2606040" cy="1783080"/>
          </a:xfrm>
          <a:prstGeom prst="roundRect">
            <a:avLst>
              <a:gd name="adj" fmla="val 6154"/>
            </a:avLst>
          </a:prstGeom>
          <a:solidFill>
            <a:srgbClr val="EEF0F4"/>
          </a:solidFill>
          <a:ln w="12700">
            <a:solidFill>
              <a:srgbClr val="EEF0F4"/>
            </a:solidFill>
            <a:prstDash val="solid"/>
          </a:ln>
        </p:spPr>
      </p:sp>
      <p:sp>
        <p:nvSpPr>
          <p:cNvPr id="15" name="Shape 13"/>
          <p:cNvSpPr/>
          <p:nvPr/>
        </p:nvSpPr>
        <p:spPr>
          <a:xfrm>
            <a:off x="6281928" y="1664208"/>
            <a:ext cx="347472" cy="347472"/>
          </a:xfrm>
          <a:prstGeom prst="ellipse">
            <a:avLst/>
          </a:prstGeom>
          <a:solidFill>
            <a:srgbClr val="E8B542"/>
          </a:solidFill>
          <a:ln w="12700">
            <a:solidFill>
              <a:srgbClr val="E8B542"/>
            </a:solidFill>
            <a:prstDash val="solid"/>
          </a:ln>
        </p:spPr>
      </p:sp>
      <p:sp>
        <p:nvSpPr>
          <p:cNvPr id="16" name="Text 14"/>
          <p:cNvSpPr txBox="1"/>
          <p:nvPr/>
        </p:nvSpPr>
        <p:spPr>
          <a:xfrm>
            <a:off x="628192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C</a:t>
            </a:r>
            <a:endParaRPr lang="en-US" sz="1300" dirty="0"/>
          </a:p>
        </p:txBody>
      </p:sp>
      <p:sp>
        <p:nvSpPr>
          <p:cNvPr id="17" name="Text 15"/>
          <p:cNvSpPr txBox="1"/>
          <p:nvPr/>
        </p:nvSpPr>
        <p:spPr>
          <a:xfrm>
            <a:off x="6281928" y="21214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Kiosk</a:t>
            </a:r>
            <a:endParaRPr lang="en-US" sz="1600" dirty="0"/>
          </a:p>
        </p:txBody>
      </p:sp>
      <p:sp>
        <p:nvSpPr>
          <p:cNvPr id="18" name="Text 16"/>
          <p:cNvSpPr txBox="1"/>
          <p:nvPr/>
        </p:nvSpPr>
        <p:spPr>
          <a:xfrm>
            <a:off x="6281928" y="2505456"/>
            <a:ext cx="2203704" cy="63093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The phone at the gate. Deliberately tiny, and nobody is signed in on its everyday screen.</a:t>
            </a:r>
            <a:endParaRPr lang="en-US" sz="1250" dirty="0"/>
          </a:p>
        </p:txBody>
      </p:sp>
      <p:sp>
        <p:nvSpPr>
          <p:cNvPr id="19" name="Shape 17"/>
          <p:cNvSpPr/>
          <p:nvPr/>
        </p:nvSpPr>
        <p:spPr>
          <a:xfrm>
            <a:off x="457200" y="3474720"/>
            <a:ext cx="8229600" cy="502920"/>
          </a:xfrm>
          <a:prstGeom prst="roundRect">
            <a:avLst>
              <a:gd name="adj" fmla="val 18182"/>
            </a:avLst>
          </a:prstGeom>
          <a:solidFill>
            <a:srgbClr val="13213A"/>
          </a:solidFill>
          <a:ln w="12700">
            <a:solidFill>
              <a:srgbClr val="13213A"/>
            </a:solidFill>
            <a:prstDash val="solid"/>
          </a:ln>
        </p:spPr>
      </p:sp>
      <p:sp>
        <p:nvSpPr>
          <p:cNvPr id="20" name="Text 18"/>
          <p:cNvSpPr txBox="1"/>
          <p:nvPr/>
        </p:nvSpPr>
        <p:spPr>
          <a:xfrm>
            <a:off x="457200" y="3474720"/>
            <a:ext cx="82296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One written API contract  ·  the parts cannot drift apart</a:t>
            </a:r>
            <a:endParaRPr lang="en-US" sz="1300" dirty="0"/>
          </a:p>
        </p:txBody>
      </p:sp>
      <p:sp>
        <p:nvSpPr>
          <p:cNvPr id="21" name="Shape 19"/>
          <p:cNvSpPr/>
          <p:nvPr/>
        </p:nvSpPr>
        <p:spPr>
          <a:xfrm>
            <a:off x="457200" y="4160520"/>
            <a:ext cx="8229600" cy="502920"/>
          </a:xfrm>
          <a:prstGeom prst="roundRect">
            <a:avLst>
              <a:gd name="adj" fmla="val 18182"/>
            </a:avLst>
          </a:prstGeom>
          <a:solidFill>
            <a:srgbClr val="E8B542"/>
          </a:solidFill>
          <a:ln w="12700">
            <a:solidFill>
              <a:srgbClr val="E8B542"/>
            </a:solidFill>
            <a:prstDash val="solid"/>
          </a:ln>
        </p:spPr>
      </p:sp>
      <p:sp>
        <p:nvSpPr>
          <p:cNvPr id="22" name="Text 20"/>
          <p:cNvSpPr txBox="1"/>
          <p:nvPr/>
        </p:nvSpPr>
        <p:spPr>
          <a:xfrm>
            <a:off x="457200" y="4160520"/>
            <a:ext cx="8229600" cy="502920"/>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PostgreSQL  ·  35 tables in 6 modules  ·  a module writes only to its own tables</a:t>
            </a:r>
            <a:endParaRPr lang="en-US" sz="1300" dirty="0"/>
          </a:p>
        </p:txBody>
      </p:sp>
      <p:sp>
        <p:nvSpPr>
          <p:cNvPr id="23" name="Text 21"/>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A0A8B8"/>
                </a:solidFill>
                <a:latin typeface="Calibri" pitchFamily="34" charset="0"/>
                <a:ea typeface="Calibri" pitchFamily="34" charset="-122"/>
                <a:cs typeface="Calibri" pitchFamily="34" charset="-120"/>
              </a:rPr>
              <a:t>The ZKTeco gateway is a fourth, smaller service for fingerprint terminals at a site.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Three ideas run through everything</a:t>
            </a:r>
            <a:endParaRPr lang="en-US" sz="3200" dirty="0"/>
          </a:p>
        </p:txBody>
      </p:sp>
      <p:sp>
        <p:nvSpPr>
          <p:cNvPr id="3" name="Shape 1"/>
          <p:cNvSpPr/>
          <p:nvPr/>
        </p:nvSpPr>
        <p:spPr>
          <a:xfrm>
            <a:off x="457200" y="1325880"/>
            <a:ext cx="2606040" cy="3017520"/>
          </a:xfrm>
          <a:prstGeom prst="roundRect">
            <a:avLst>
              <a:gd name="adj" fmla="val 4211"/>
            </a:avLst>
          </a:prstGeom>
          <a:solidFill>
            <a:srgbClr val="1C2743"/>
          </a:solidFill>
          <a:ln w="12700">
            <a:solidFill>
              <a:srgbClr val="1C2743"/>
            </a:solidFill>
            <a:prstDash val="solid"/>
          </a:ln>
        </p:spPr>
      </p:sp>
      <p:sp>
        <p:nvSpPr>
          <p:cNvPr id="4" name="Shape 2"/>
          <p:cNvSpPr/>
          <p:nvPr/>
        </p:nvSpPr>
        <p:spPr>
          <a:xfrm>
            <a:off x="658368" y="1527048"/>
            <a:ext cx="347472" cy="347472"/>
          </a:xfrm>
          <a:prstGeom prst="ellipse">
            <a:avLst/>
          </a:prstGeom>
          <a:solidFill>
            <a:srgbClr val="E8B542"/>
          </a:solidFill>
          <a:ln w="12700">
            <a:solidFill>
              <a:srgbClr val="E8B542"/>
            </a:solidFill>
            <a:prstDash val="solid"/>
          </a:ln>
        </p:spPr>
      </p:sp>
      <p:sp>
        <p:nvSpPr>
          <p:cNvPr id="5" name="Text 3"/>
          <p:cNvSpPr txBox="1"/>
          <p:nvPr/>
        </p:nvSpPr>
        <p:spPr>
          <a:xfrm>
            <a:off x="658368" y="152704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658368" y="1984248"/>
            <a:ext cx="2203704"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Evidence is never edited</a:t>
            </a:r>
            <a:endParaRPr lang="en-US" sz="1600" dirty="0"/>
          </a:p>
        </p:txBody>
      </p:sp>
      <p:sp>
        <p:nvSpPr>
          <p:cNvPr id="7" name="Text 5"/>
          <p:cNvSpPr txBox="1"/>
          <p:nvPr/>
        </p:nvSpPr>
        <p:spPr>
          <a:xfrm>
            <a:off x="658368" y="2715768"/>
            <a:ext cx="2203704" cy="1517904"/>
          </a:xfrm>
          <a:prstGeom prst="rect">
            <a:avLst/>
          </a:prstGeom>
          <a:noFill/>
          <a:ln/>
        </p:spPr>
        <p:txBody>
          <a:bodyPr wrap="square" lIns="0" tIns="0" rIns="0" bIns="0" rtlCol="0" anchor="t"/>
          <a:lstStyle/>
          <a:p>
            <a:pPr indent="0" marL="0">
              <a:buNone/>
            </a:pPr>
            <a:r>
              <a:rPr lang="en-US" sz="1300" dirty="0">
                <a:solidFill>
                  <a:srgbClr val="C9D1E0"/>
                </a:solidFill>
                <a:latin typeface="Calibri" pitchFamily="34" charset="0"/>
                <a:ea typeface="Calibri" pitchFamily="34" charset="-122"/>
                <a:cs typeface="Calibri" pitchFamily="34" charset="-120"/>
              </a:rPr>
              <a:t>Punches, consent records, audit lines and locked pay runs are append-only in the database itself. A trigger rejects changes. Even an administrator cannot rewrite history.</a:t>
            </a:r>
            <a:endParaRPr lang="en-US" sz="1300" dirty="0"/>
          </a:p>
        </p:txBody>
      </p:sp>
      <p:sp>
        <p:nvSpPr>
          <p:cNvPr id="8" name="Shape 6"/>
          <p:cNvSpPr/>
          <p:nvPr/>
        </p:nvSpPr>
        <p:spPr>
          <a:xfrm>
            <a:off x="3268980" y="1325880"/>
            <a:ext cx="2606040" cy="3017520"/>
          </a:xfrm>
          <a:prstGeom prst="roundRect">
            <a:avLst>
              <a:gd name="adj" fmla="val 4211"/>
            </a:avLst>
          </a:prstGeom>
          <a:solidFill>
            <a:srgbClr val="1C2743"/>
          </a:solidFill>
          <a:ln w="12700">
            <a:solidFill>
              <a:srgbClr val="1C2743"/>
            </a:solidFill>
            <a:prstDash val="solid"/>
          </a:ln>
        </p:spPr>
      </p:sp>
      <p:sp>
        <p:nvSpPr>
          <p:cNvPr id="9" name="Shape 7"/>
          <p:cNvSpPr/>
          <p:nvPr/>
        </p:nvSpPr>
        <p:spPr>
          <a:xfrm>
            <a:off x="3470148" y="1527048"/>
            <a:ext cx="347472" cy="347472"/>
          </a:xfrm>
          <a:prstGeom prst="ellipse">
            <a:avLst/>
          </a:prstGeom>
          <a:solidFill>
            <a:srgbClr val="E8B542"/>
          </a:solidFill>
          <a:ln w="12700">
            <a:solidFill>
              <a:srgbClr val="E8B542"/>
            </a:solidFill>
            <a:prstDash val="solid"/>
          </a:ln>
        </p:spPr>
      </p:sp>
      <p:sp>
        <p:nvSpPr>
          <p:cNvPr id="10" name="Text 8"/>
          <p:cNvSpPr txBox="1"/>
          <p:nvPr/>
        </p:nvSpPr>
        <p:spPr>
          <a:xfrm>
            <a:off x="3470148" y="152704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470148" y="1984248"/>
            <a:ext cx="2203704"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Nobody important acts alone</a:t>
            </a:r>
            <a:endParaRPr lang="en-US" sz="1600" dirty="0"/>
          </a:p>
        </p:txBody>
      </p:sp>
      <p:sp>
        <p:nvSpPr>
          <p:cNvPr id="12" name="Text 10"/>
          <p:cNvSpPr txBox="1"/>
          <p:nvPr/>
        </p:nvSpPr>
        <p:spPr>
          <a:xfrm>
            <a:off x="3470148" y="2715768"/>
            <a:ext cx="2203704" cy="1517904"/>
          </a:xfrm>
          <a:prstGeom prst="rect">
            <a:avLst/>
          </a:prstGeom>
          <a:noFill/>
          <a:ln/>
        </p:spPr>
        <p:txBody>
          <a:bodyPr wrap="square" lIns="0" tIns="0" rIns="0" bIns="0" rtlCol="0" anchor="t"/>
          <a:lstStyle/>
          <a:p>
            <a:pPr indent="0" marL="0">
              <a:buNone/>
            </a:pPr>
            <a:r>
              <a:rPr lang="en-US" sz="1300" dirty="0">
                <a:solidFill>
                  <a:srgbClr val="C9D1E0"/>
                </a:solidFill>
                <a:latin typeface="Calibri" pitchFamily="34" charset="0"/>
                <a:ea typeface="Calibri" pitchFamily="34" charset="-122"/>
                <a:cs typeface="Calibri" pitchFamily="34" charset="-120"/>
              </a:rPr>
              <a:t>Approving pay, deciding a duplicate face, creating an administrator: each needs a second person. The database checks it, not just the screen.</a:t>
            </a:r>
            <a:endParaRPr lang="en-US" sz="1300" dirty="0"/>
          </a:p>
        </p:txBody>
      </p:sp>
      <p:sp>
        <p:nvSpPr>
          <p:cNvPr id="13" name="Shape 11"/>
          <p:cNvSpPr/>
          <p:nvPr/>
        </p:nvSpPr>
        <p:spPr>
          <a:xfrm>
            <a:off x="6080760" y="1325880"/>
            <a:ext cx="2606040" cy="3017520"/>
          </a:xfrm>
          <a:prstGeom prst="roundRect">
            <a:avLst>
              <a:gd name="adj" fmla="val 4211"/>
            </a:avLst>
          </a:prstGeom>
          <a:solidFill>
            <a:srgbClr val="1C2743"/>
          </a:solidFill>
          <a:ln w="12700">
            <a:solidFill>
              <a:srgbClr val="1C2743"/>
            </a:solidFill>
            <a:prstDash val="solid"/>
          </a:ln>
        </p:spPr>
      </p:sp>
      <p:sp>
        <p:nvSpPr>
          <p:cNvPr id="14" name="Shape 12"/>
          <p:cNvSpPr/>
          <p:nvPr/>
        </p:nvSpPr>
        <p:spPr>
          <a:xfrm>
            <a:off x="6281928" y="1527048"/>
            <a:ext cx="347472" cy="347472"/>
          </a:xfrm>
          <a:prstGeom prst="ellipse">
            <a:avLst/>
          </a:prstGeom>
          <a:solidFill>
            <a:srgbClr val="E8B542"/>
          </a:solidFill>
          <a:ln w="12700">
            <a:solidFill>
              <a:srgbClr val="E8B542"/>
            </a:solidFill>
            <a:prstDash val="solid"/>
          </a:ln>
        </p:spPr>
      </p:sp>
      <p:sp>
        <p:nvSpPr>
          <p:cNvPr id="15" name="Text 13"/>
          <p:cNvSpPr txBox="1"/>
          <p:nvPr/>
        </p:nvSpPr>
        <p:spPr>
          <a:xfrm>
            <a:off x="6281928" y="152704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281928" y="1984248"/>
            <a:ext cx="2203704"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rule never punishes anybody</a:t>
            </a:r>
            <a:endParaRPr lang="en-US" sz="1600" dirty="0"/>
          </a:p>
        </p:txBody>
      </p:sp>
      <p:sp>
        <p:nvSpPr>
          <p:cNvPr id="17" name="Text 15"/>
          <p:cNvSpPr txBox="1"/>
          <p:nvPr/>
        </p:nvSpPr>
        <p:spPr>
          <a:xfrm>
            <a:off x="6281928" y="2715768"/>
            <a:ext cx="2203704" cy="1517904"/>
          </a:xfrm>
          <a:prstGeom prst="rect">
            <a:avLst/>
          </a:prstGeom>
          <a:noFill/>
          <a:ln/>
        </p:spPr>
        <p:txBody>
          <a:bodyPr wrap="square" lIns="0" tIns="0" rIns="0" bIns="0" rtlCol="0" anchor="t"/>
          <a:lstStyle/>
          <a:p>
            <a:pPr indent="0" marL="0">
              <a:buNone/>
            </a:pPr>
            <a:r>
              <a:rPr lang="en-US" sz="1300" dirty="0">
                <a:solidFill>
                  <a:srgbClr val="C9D1E0"/>
                </a:solidFill>
                <a:latin typeface="Calibri" pitchFamily="34" charset="0"/>
                <a:ea typeface="Calibri" pitchFamily="34" charset="-122"/>
                <a:cs typeface="Calibri" pitchFamily="34" charset="-120"/>
              </a:rPr>
              <a:t>Detection raises a question with its evidence. A human answers it in writing, and the answer is audited.</a:t>
            </a:r>
            <a:endParaRPr lang="en-US" sz="1300" dirty="0"/>
          </a:p>
        </p:txBody>
      </p:sp>
      <p:sp>
        <p:nvSpPr>
          <p:cNvPr id="18" name="Text 1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8F99B3"/>
                </a:solidFill>
                <a:latin typeface="Calibri" pitchFamily="34" charset="0"/>
                <a:ea typeface="Calibri" pitchFamily="34" charset="-122"/>
                <a:cs typeface="Calibri" pitchFamily="34" charset="-120"/>
              </a:rPr>
              <a:t>The phrase to return to whenever pressed: "the database itself enforces 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Thirty-five tables, six modules</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Each module owns its tables; to read another module's data it asks that module</a:t>
            </a:r>
            <a:endParaRPr lang="en-US" sz="1400" dirty="0"/>
          </a:p>
        </p:txBody>
      </p:sp>
      <p:sp>
        <p:nvSpPr>
          <p:cNvPr id="4" name="Shape 2"/>
          <p:cNvSpPr/>
          <p:nvPr/>
        </p:nvSpPr>
        <p:spPr>
          <a:xfrm>
            <a:off x="457200" y="1463040"/>
            <a:ext cx="2606040" cy="1371600"/>
          </a:xfrm>
          <a:prstGeom prst="roundRect">
            <a:avLst>
              <a:gd name="adj" fmla="val 8000"/>
            </a:avLst>
          </a:prstGeom>
          <a:solidFill>
            <a:srgbClr val="EEF0F4"/>
          </a:solidFill>
          <a:ln w="12700">
            <a:solidFill>
              <a:srgbClr val="EEF0F4"/>
            </a:solidFill>
            <a:prstDash val="solid"/>
          </a:ln>
        </p:spPr>
      </p:sp>
      <p:sp>
        <p:nvSpPr>
          <p:cNvPr id="5" name="Text 3"/>
          <p:cNvSpPr txBox="1"/>
          <p:nvPr/>
        </p:nvSpPr>
        <p:spPr>
          <a:xfrm>
            <a:off x="658368" y="16642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Identity</a:t>
            </a:r>
            <a:endParaRPr lang="en-US" sz="1600" dirty="0"/>
          </a:p>
        </p:txBody>
      </p:sp>
      <p:sp>
        <p:nvSpPr>
          <p:cNvPr id="6" name="Text 4"/>
          <p:cNvSpPr txBox="1"/>
          <p:nvPr/>
        </p:nvSpPr>
        <p:spPr>
          <a:xfrm>
            <a:off x="658368" y="204825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Sign-in, two-factor, roles, the audit log</a:t>
            </a:r>
            <a:endParaRPr lang="en-US" sz="1200" dirty="0"/>
          </a:p>
        </p:txBody>
      </p:sp>
      <p:sp>
        <p:nvSpPr>
          <p:cNvPr id="7" name="Shape 5"/>
          <p:cNvSpPr/>
          <p:nvPr/>
        </p:nvSpPr>
        <p:spPr>
          <a:xfrm>
            <a:off x="3268980" y="1463040"/>
            <a:ext cx="2606040" cy="1371600"/>
          </a:xfrm>
          <a:prstGeom prst="roundRect">
            <a:avLst>
              <a:gd name="adj" fmla="val 8000"/>
            </a:avLst>
          </a:prstGeom>
          <a:solidFill>
            <a:srgbClr val="EEF0F4"/>
          </a:solidFill>
          <a:ln w="12700">
            <a:solidFill>
              <a:srgbClr val="EEF0F4"/>
            </a:solidFill>
            <a:prstDash val="solid"/>
          </a:ln>
        </p:spPr>
      </p:sp>
      <p:sp>
        <p:nvSpPr>
          <p:cNvPr id="8" name="Text 6"/>
          <p:cNvSpPr txBox="1"/>
          <p:nvPr/>
        </p:nvSpPr>
        <p:spPr>
          <a:xfrm>
            <a:off x="3470148" y="16642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Workforce</a:t>
            </a:r>
            <a:endParaRPr lang="en-US" sz="1600" dirty="0"/>
          </a:p>
        </p:txBody>
      </p:sp>
      <p:sp>
        <p:nvSpPr>
          <p:cNvPr id="9" name="Text 7"/>
          <p:cNvSpPr txBox="1"/>
          <p:nvPr/>
        </p:nvSpPr>
        <p:spPr>
          <a:xfrm>
            <a:off x="3470148" y="204825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Employees, sites, posts, shift patterns, employment periods</a:t>
            </a:r>
            <a:endParaRPr lang="en-US" sz="1200" dirty="0"/>
          </a:p>
        </p:txBody>
      </p:sp>
      <p:sp>
        <p:nvSpPr>
          <p:cNvPr id="10" name="Shape 8"/>
          <p:cNvSpPr/>
          <p:nvPr/>
        </p:nvSpPr>
        <p:spPr>
          <a:xfrm>
            <a:off x="6080760" y="1463040"/>
            <a:ext cx="2606040" cy="1371600"/>
          </a:xfrm>
          <a:prstGeom prst="roundRect">
            <a:avLst>
              <a:gd name="adj" fmla="val 8000"/>
            </a:avLst>
          </a:prstGeom>
          <a:solidFill>
            <a:srgbClr val="EEF0F4"/>
          </a:solidFill>
          <a:ln w="12700">
            <a:solidFill>
              <a:srgbClr val="EEF0F4"/>
            </a:solidFill>
            <a:prstDash val="solid"/>
          </a:ln>
        </p:spPr>
      </p:sp>
      <p:sp>
        <p:nvSpPr>
          <p:cNvPr id="11" name="Text 9"/>
          <p:cNvSpPr txBox="1"/>
          <p:nvPr/>
        </p:nvSpPr>
        <p:spPr>
          <a:xfrm>
            <a:off x="6281928" y="16642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Attendance</a:t>
            </a:r>
            <a:endParaRPr lang="en-US" sz="1600" dirty="0"/>
          </a:p>
        </p:txBody>
      </p:sp>
      <p:sp>
        <p:nvSpPr>
          <p:cNvPr id="12" name="Text 10"/>
          <p:cNvSpPr txBox="1"/>
          <p:nvPr/>
        </p:nvSpPr>
        <p:spPr>
          <a:xfrm>
            <a:off x="6281928" y="204825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Devices, punches, worked shifts, the exception queue</a:t>
            </a:r>
            <a:endParaRPr lang="en-US" sz="1200" dirty="0"/>
          </a:p>
        </p:txBody>
      </p:sp>
      <p:sp>
        <p:nvSpPr>
          <p:cNvPr id="13" name="Shape 11"/>
          <p:cNvSpPr/>
          <p:nvPr/>
        </p:nvSpPr>
        <p:spPr>
          <a:xfrm>
            <a:off x="457200" y="3017520"/>
            <a:ext cx="2606040" cy="1371600"/>
          </a:xfrm>
          <a:prstGeom prst="roundRect">
            <a:avLst>
              <a:gd name="adj" fmla="val 8000"/>
            </a:avLst>
          </a:prstGeom>
          <a:solidFill>
            <a:srgbClr val="EEF0F4"/>
          </a:solidFill>
          <a:ln w="12700">
            <a:solidFill>
              <a:srgbClr val="EEF0F4"/>
            </a:solidFill>
            <a:prstDash val="solid"/>
          </a:ln>
        </p:spPr>
      </p:sp>
      <p:sp>
        <p:nvSpPr>
          <p:cNvPr id="14" name="Text 12"/>
          <p:cNvSpPr txBox="1"/>
          <p:nvPr/>
        </p:nvSpPr>
        <p:spPr>
          <a:xfrm>
            <a:off x="658368" y="321868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Biometrics</a:t>
            </a:r>
            <a:endParaRPr lang="en-US" sz="1600" dirty="0"/>
          </a:p>
        </p:txBody>
      </p:sp>
      <p:sp>
        <p:nvSpPr>
          <p:cNvPr id="15" name="Text 13"/>
          <p:cNvSpPr txBox="1"/>
          <p:nvPr/>
        </p:nvSpPr>
        <p:spPr>
          <a:xfrm>
            <a:off x="658368" y="360273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Consent, face templates, fingerprint keys, kiosk attempts</a:t>
            </a:r>
            <a:endParaRPr lang="en-US" sz="1200" dirty="0"/>
          </a:p>
        </p:txBody>
      </p:sp>
      <p:sp>
        <p:nvSpPr>
          <p:cNvPr id="16" name="Shape 14"/>
          <p:cNvSpPr/>
          <p:nvPr/>
        </p:nvSpPr>
        <p:spPr>
          <a:xfrm>
            <a:off x="3268980" y="3017520"/>
            <a:ext cx="2606040" cy="1371600"/>
          </a:xfrm>
          <a:prstGeom prst="roundRect">
            <a:avLst>
              <a:gd name="adj" fmla="val 8000"/>
            </a:avLst>
          </a:prstGeom>
          <a:solidFill>
            <a:srgbClr val="EEF0F4"/>
          </a:solidFill>
          <a:ln w="12700">
            <a:solidFill>
              <a:srgbClr val="EEF0F4"/>
            </a:solidFill>
            <a:prstDash val="solid"/>
          </a:ln>
        </p:spPr>
      </p:sp>
      <p:sp>
        <p:nvSpPr>
          <p:cNvPr id="17" name="Text 15"/>
          <p:cNvSpPr txBox="1"/>
          <p:nvPr/>
        </p:nvSpPr>
        <p:spPr>
          <a:xfrm>
            <a:off x="3470148" y="321868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Payroll</a:t>
            </a:r>
            <a:endParaRPr lang="en-US" sz="1600" dirty="0"/>
          </a:p>
        </p:txBody>
      </p:sp>
      <p:sp>
        <p:nvSpPr>
          <p:cNvPr id="18" name="Text 16"/>
          <p:cNvSpPr txBox="1"/>
          <p:nvPr/>
        </p:nvSpPr>
        <p:spPr>
          <a:xfrm>
            <a:off x="3470148" y="360273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Months, tax tables, pay terms, runs, lines, payslips</a:t>
            </a:r>
            <a:endParaRPr lang="en-US" sz="1200" dirty="0"/>
          </a:p>
        </p:txBody>
      </p:sp>
      <p:sp>
        <p:nvSpPr>
          <p:cNvPr id="19" name="Shape 17"/>
          <p:cNvSpPr/>
          <p:nvPr/>
        </p:nvSpPr>
        <p:spPr>
          <a:xfrm>
            <a:off x="6080760" y="3017520"/>
            <a:ext cx="2606040" cy="1371600"/>
          </a:xfrm>
          <a:prstGeom prst="roundRect">
            <a:avLst>
              <a:gd name="adj" fmla="val 8000"/>
            </a:avLst>
          </a:prstGeom>
          <a:solidFill>
            <a:srgbClr val="EEF0F4"/>
          </a:solidFill>
          <a:ln w="12700">
            <a:solidFill>
              <a:srgbClr val="EEF0F4"/>
            </a:solidFill>
            <a:prstDash val="solid"/>
          </a:ln>
        </p:spPr>
      </p:sp>
      <p:sp>
        <p:nvSpPr>
          <p:cNvPr id="20" name="Text 18"/>
          <p:cNvSpPr txBox="1"/>
          <p:nvPr/>
        </p:nvSpPr>
        <p:spPr>
          <a:xfrm>
            <a:off x="6281928" y="321868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Detection</a:t>
            </a:r>
            <a:endParaRPr lang="en-US" sz="1600" dirty="0"/>
          </a:p>
        </p:txBody>
      </p:sp>
      <p:sp>
        <p:nvSpPr>
          <p:cNvPr id="21" name="Text 19"/>
          <p:cNvSpPr txBox="1"/>
          <p:nvPr/>
        </p:nvSpPr>
        <p:spPr>
          <a:xfrm>
            <a:off x="6281928" y="3602736"/>
            <a:ext cx="2203704" cy="67665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The eleven rules, alerts, evidence, decisions</a:t>
            </a:r>
            <a:endParaRPr lang="en-US" sz="1200" dirty="0"/>
          </a:p>
        </p:txBody>
      </p:sp>
      <p:sp>
        <p:nvSpPr>
          <p:cNvPr id="22" name="Text 20"/>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A0A8B8"/>
                </a:solidFill>
                <a:latin typeface="Calibri" pitchFamily="34" charset="0"/>
                <a:ea typeface="Calibri" pitchFamily="34" charset="-122"/>
                <a:cs typeface="Calibri" pitchFamily="34" charset="-120"/>
              </a:rPr>
              <a:t>Row-level security on every table; money is always whole pesewas; timestamps are stored in UTC and shown in Ghana time.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Demo 1 · Enrol a guard</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On the kiosk, by an administrator, in about two minutes</a:t>
            </a:r>
            <a:endParaRPr lang="en-US" sz="1400" dirty="0"/>
          </a:p>
        </p:txBody>
      </p:sp>
      <p:sp>
        <p:nvSpPr>
          <p:cNvPr id="4" name="Shape 2"/>
          <p:cNvSpPr/>
          <p:nvPr/>
        </p:nvSpPr>
        <p:spPr>
          <a:xfrm>
            <a:off x="457200" y="1554480"/>
            <a:ext cx="1441094" cy="868680"/>
          </a:xfrm>
          <a:prstGeom prst="roundRect">
            <a:avLst>
              <a:gd name="adj" fmla="val 10526"/>
            </a:avLst>
          </a:prstGeom>
          <a:solidFill>
            <a:srgbClr val="EEF0F4"/>
          </a:solidFill>
          <a:ln w="12700">
            <a:solidFill>
              <a:srgbClr val="EEF0F4"/>
            </a:solidFill>
            <a:prstDash val="solid"/>
          </a:ln>
        </p:spPr>
      </p:sp>
      <p:sp>
        <p:nvSpPr>
          <p:cNvPr id="5" name="Text 3"/>
          <p:cNvSpPr txBox="1"/>
          <p:nvPr/>
        </p:nvSpPr>
        <p:spPr>
          <a:xfrm>
            <a:off x="457200" y="1554480"/>
            <a:ext cx="1441094" cy="86868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Admin signs in (15 min only)</a:t>
            </a:r>
            <a:endParaRPr lang="en-US" sz="1200" dirty="0"/>
          </a:p>
        </p:txBody>
      </p:sp>
      <p:sp>
        <p:nvSpPr>
          <p:cNvPr id="6" name="Shape 4"/>
          <p:cNvSpPr/>
          <p:nvPr/>
        </p:nvSpPr>
        <p:spPr>
          <a:xfrm>
            <a:off x="1934870" y="1988820"/>
            <a:ext cx="182880" cy="0"/>
          </a:xfrm>
          <a:prstGeom prst="line">
            <a:avLst/>
          </a:prstGeom>
          <a:noFill/>
          <a:ln w="19050">
            <a:solidFill>
              <a:srgbClr val="66708A"/>
            </a:solidFill>
            <a:prstDash val="solid"/>
            <a:tailEnd type="triangle"/>
          </a:ln>
        </p:spPr>
      </p:sp>
      <p:sp>
        <p:nvSpPr>
          <p:cNvPr id="7" name="Shape 5"/>
          <p:cNvSpPr/>
          <p:nvPr/>
        </p:nvSpPr>
        <p:spPr>
          <a:xfrm>
            <a:off x="2154326" y="1554480"/>
            <a:ext cx="1441094" cy="868680"/>
          </a:xfrm>
          <a:prstGeom prst="roundRect">
            <a:avLst>
              <a:gd name="adj" fmla="val 10526"/>
            </a:avLst>
          </a:prstGeom>
          <a:solidFill>
            <a:srgbClr val="EEF0F4"/>
          </a:solidFill>
          <a:ln w="12700">
            <a:solidFill>
              <a:srgbClr val="EEF0F4"/>
            </a:solidFill>
            <a:prstDash val="solid"/>
          </a:ln>
        </p:spPr>
      </p:sp>
      <p:sp>
        <p:nvSpPr>
          <p:cNvPr id="8" name="Text 6"/>
          <p:cNvSpPr txBox="1"/>
          <p:nvPr/>
        </p:nvSpPr>
        <p:spPr>
          <a:xfrm>
            <a:off x="2154326" y="1554480"/>
            <a:ext cx="1441094" cy="86868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Consent, word for word</a:t>
            </a:r>
            <a:endParaRPr lang="en-US" sz="1200" dirty="0"/>
          </a:p>
        </p:txBody>
      </p:sp>
      <p:sp>
        <p:nvSpPr>
          <p:cNvPr id="9" name="Shape 7"/>
          <p:cNvSpPr/>
          <p:nvPr/>
        </p:nvSpPr>
        <p:spPr>
          <a:xfrm>
            <a:off x="3631997" y="1988820"/>
            <a:ext cx="182880" cy="0"/>
          </a:xfrm>
          <a:prstGeom prst="line">
            <a:avLst/>
          </a:prstGeom>
          <a:noFill/>
          <a:ln w="19050">
            <a:solidFill>
              <a:srgbClr val="66708A"/>
            </a:solidFill>
            <a:prstDash val="solid"/>
            <a:tailEnd type="triangle"/>
          </a:ln>
        </p:spPr>
      </p:sp>
      <p:sp>
        <p:nvSpPr>
          <p:cNvPr id="10" name="Shape 8"/>
          <p:cNvSpPr/>
          <p:nvPr/>
        </p:nvSpPr>
        <p:spPr>
          <a:xfrm>
            <a:off x="3851453" y="1554480"/>
            <a:ext cx="1441094" cy="868680"/>
          </a:xfrm>
          <a:prstGeom prst="roundRect">
            <a:avLst>
              <a:gd name="adj" fmla="val 10526"/>
            </a:avLst>
          </a:prstGeom>
          <a:solidFill>
            <a:srgbClr val="EEF0F4"/>
          </a:solidFill>
          <a:ln w="12700">
            <a:solidFill>
              <a:srgbClr val="EEF0F4"/>
            </a:solidFill>
            <a:prstDash val="solid"/>
          </a:ln>
        </p:spPr>
      </p:sp>
      <p:sp>
        <p:nvSpPr>
          <p:cNvPr id="11" name="Text 9"/>
          <p:cNvSpPr txBox="1"/>
          <p:nvPr/>
        </p:nvSpPr>
        <p:spPr>
          <a:xfrm>
            <a:off x="3851453" y="1554480"/>
            <a:ext cx="1441094" cy="86868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Last 4 digits of Ghana Card</a:t>
            </a:r>
            <a:endParaRPr lang="en-US" sz="1200" dirty="0"/>
          </a:p>
        </p:txBody>
      </p:sp>
      <p:sp>
        <p:nvSpPr>
          <p:cNvPr id="12" name="Shape 10"/>
          <p:cNvSpPr/>
          <p:nvPr/>
        </p:nvSpPr>
        <p:spPr>
          <a:xfrm>
            <a:off x="5329123" y="1988820"/>
            <a:ext cx="182880" cy="0"/>
          </a:xfrm>
          <a:prstGeom prst="line">
            <a:avLst/>
          </a:prstGeom>
          <a:noFill/>
          <a:ln w="19050">
            <a:solidFill>
              <a:srgbClr val="66708A"/>
            </a:solidFill>
            <a:prstDash val="solid"/>
            <a:tailEnd type="triangle"/>
          </a:ln>
        </p:spPr>
      </p:sp>
      <p:sp>
        <p:nvSpPr>
          <p:cNvPr id="13" name="Shape 11"/>
          <p:cNvSpPr/>
          <p:nvPr/>
        </p:nvSpPr>
        <p:spPr>
          <a:xfrm>
            <a:off x="5548579" y="1554480"/>
            <a:ext cx="1441094" cy="868680"/>
          </a:xfrm>
          <a:prstGeom prst="roundRect">
            <a:avLst>
              <a:gd name="adj" fmla="val 10526"/>
            </a:avLst>
          </a:prstGeom>
          <a:solidFill>
            <a:srgbClr val="EEF0F4"/>
          </a:solidFill>
          <a:ln w="12700">
            <a:solidFill>
              <a:srgbClr val="EEF0F4"/>
            </a:solidFill>
            <a:prstDash val="solid"/>
          </a:ln>
        </p:spPr>
      </p:sp>
      <p:sp>
        <p:nvSpPr>
          <p:cNvPr id="14" name="Text 12"/>
          <p:cNvSpPr txBox="1"/>
          <p:nvPr/>
        </p:nvSpPr>
        <p:spPr>
          <a:xfrm>
            <a:off x="5548579" y="1554480"/>
            <a:ext cx="1441094" cy="86868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Three face captures</a:t>
            </a:r>
            <a:endParaRPr lang="en-US" sz="1200" dirty="0"/>
          </a:p>
        </p:txBody>
      </p:sp>
      <p:sp>
        <p:nvSpPr>
          <p:cNvPr id="15" name="Shape 13"/>
          <p:cNvSpPr/>
          <p:nvPr/>
        </p:nvSpPr>
        <p:spPr>
          <a:xfrm>
            <a:off x="7026250" y="1988820"/>
            <a:ext cx="182880" cy="0"/>
          </a:xfrm>
          <a:prstGeom prst="line">
            <a:avLst/>
          </a:prstGeom>
          <a:noFill/>
          <a:ln w="19050">
            <a:solidFill>
              <a:srgbClr val="66708A"/>
            </a:solidFill>
            <a:prstDash val="solid"/>
            <a:tailEnd type="triangle"/>
          </a:ln>
        </p:spPr>
      </p:sp>
      <p:sp>
        <p:nvSpPr>
          <p:cNvPr id="16" name="Shape 14"/>
          <p:cNvSpPr/>
          <p:nvPr/>
        </p:nvSpPr>
        <p:spPr>
          <a:xfrm>
            <a:off x="7245706" y="1554480"/>
            <a:ext cx="1441094" cy="868680"/>
          </a:xfrm>
          <a:prstGeom prst="roundRect">
            <a:avLst>
              <a:gd name="adj" fmla="val 10526"/>
            </a:avLst>
          </a:prstGeom>
          <a:solidFill>
            <a:srgbClr val="E8B542"/>
          </a:solidFill>
          <a:ln w="12700">
            <a:solidFill>
              <a:srgbClr val="E8B542"/>
            </a:solidFill>
            <a:prstDash val="solid"/>
          </a:ln>
        </p:spPr>
      </p:sp>
      <p:sp>
        <p:nvSpPr>
          <p:cNvPr id="17" name="Text 15"/>
          <p:cNvSpPr txBox="1"/>
          <p:nvPr/>
        </p:nvSpPr>
        <p:spPr>
          <a:xfrm>
            <a:off x="7245706" y="1554480"/>
            <a:ext cx="1441094" cy="868680"/>
          </a:xfrm>
          <a:prstGeom prst="rect">
            <a:avLst/>
          </a:prstGeom>
          <a:noFill/>
          <a:ln/>
        </p:spPr>
        <p:txBody>
          <a:bodyPr wrap="square" lIns="635" tIns="635" rIns="635" bIns="635" rtlCol="0" anchor="ctr"/>
          <a:lstStyle/>
          <a:p>
            <a:pPr algn="ctr" indent="0" marL="0">
              <a:buNone/>
            </a:pPr>
            <a:r>
              <a:rPr lang="en-US" sz="1200" b="1" dirty="0">
                <a:solidFill>
                  <a:srgbClr val="13213A"/>
                </a:solidFill>
                <a:latin typeface="Calibri" pitchFamily="34" charset="0"/>
                <a:ea typeface="Calibri" pitchFamily="34" charset="-122"/>
                <a:cs typeface="Calibri" pitchFamily="34" charset="-120"/>
              </a:rPr>
              <a:t>Enrolled</a:t>
            </a:r>
            <a:endParaRPr lang="en-US" sz="1200" dirty="0"/>
          </a:p>
        </p:txBody>
      </p:sp>
      <p:sp>
        <p:nvSpPr>
          <p:cNvPr id="18" name="Shape 16"/>
          <p:cNvSpPr/>
          <p:nvPr/>
        </p:nvSpPr>
        <p:spPr>
          <a:xfrm>
            <a:off x="457200" y="2743200"/>
            <a:ext cx="3977640" cy="1691640"/>
          </a:xfrm>
          <a:prstGeom prst="roundRect">
            <a:avLst>
              <a:gd name="adj" fmla="val 6486"/>
            </a:avLst>
          </a:prstGeom>
          <a:solidFill>
            <a:srgbClr val="EEF0F4"/>
          </a:solidFill>
          <a:ln w="12700">
            <a:solidFill>
              <a:srgbClr val="EEF0F4"/>
            </a:solidFill>
            <a:prstDash val="solid"/>
          </a:ln>
        </p:spPr>
      </p:sp>
      <p:sp>
        <p:nvSpPr>
          <p:cNvPr id="19" name="Text 17"/>
          <p:cNvSpPr txBox="1"/>
          <p:nvPr/>
        </p:nvSpPr>
        <p:spPr>
          <a:xfrm>
            <a:off x="658368" y="294436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The consent is legal evidence</a:t>
            </a:r>
            <a:endParaRPr lang="en-US" sz="1600" dirty="0"/>
          </a:p>
        </p:txBody>
      </p:sp>
      <p:sp>
        <p:nvSpPr>
          <p:cNvPr id="20" name="Text 18"/>
          <p:cNvSpPr txBox="1"/>
          <p:nvPr/>
        </p:nvSpPr>
        <p:spPr>
          <a:xfrm>
            <a:off x="658368" y="3328416"/>
            <a:ext cx="3575304" cy="99669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The exact wording comes from the server. The worker's answer is stored with the version and a fingerprint of that text, so the company can always prove what they agreed to. That is the Data Protection Act.</a:t>
            </a:r>
            <a:endParaRPr lang="en-US" sz="1200" dirty="0"/>
          </a:p>
        </p:txBody>
      </p:sp>
      <p:sp>
        <p:nvSpPr>
          <p:cNvPr id="21" name="Shape 19"/>
          <p:cNvSpPr/>
          <p:nvPr/>
        </p:nvSpPr>
        <p:spPr>
          <a:xfrm>
            <a:off x="4709160" y="2743200"/>
            <a:ext cx="3977640" cy="1691640"/>
          </a:xfrm>
          <a:prstGeom prst="roundRect">
            <a:avLst>
              <a:gd name="adj" fmla="val 6486"/>
            </a:avLst>
          </a:prstGeom>
          <a:solidFill>
            <a:srgbClr val="EEF0F4"/>
          </a:solidFill>
          <a:ln w="12700">
            <a:solidFill>
              <a:srgbClr val="EEF0F4"/>
            </a:solidFill>
            <a:prstDash val="solid"/>
          </a:ln>
        </p:spPr>
      </p:sp>
      <p:sp>
        <p:nvSpPr>
          <p:cNvPr id="22" name="Text 20"/>
          <p:cNvSpPr txBox="1"/>
          <p:nvPr/>
        </p:nvSpPr>
        <p:spPr>
          <a:xfrm>
            <a:off x="4910328" y="294436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No photo is ever stored</a:t>
            </a:r>
            <a:endParaRPr lang="en-US" sz="1600" dirty="0"/>
          </a:p>
        </p:txBody>
      </p:sp>
      <p:sp>
        <p:nvSpPr>
          <p:cNvPr id="23" name="Text 21"/>
          <p:cNvSpPr txBox="1"/>
          <p:nvPr/>
        </p:nvSpPr>
        <p:spPr>
          <a:xfrm>
            <a:off x="4910328" y="3328416"/>
            <a:ext cx="3575304" cy="99669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Each capture needs a fresh head turn, so a photograph cannot enrol. The face becomes 1,024 numbers, encrypted before they reach the database.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Demo 2 · Clock in, and watch it land</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C9D1E0"/>
                </a:solidFill>
                <a:latin typeface="Calibri" pitchFamily="34" charset="0"/>
                <a:ea typeface="Calibri" pitchFamily="34" charset="-122"/>
                <a:cs typeface="Calibri" pitchFamily="34" charset="-120"/>
              </a:rPr>
              <a:t>Kiosk on one half of the screen, the Live board on the other</a:t>
            </a:r>
            <a:endParaRPr lang="en-US" sz="1400" dirty="0"/>
          </a:p>
        </p:txBody>
      </p:sp>
      <p:sp>
        <p:nvSpPr>
          <p:cNvPr id="4" name="Shape 2"/>
          <p:cNvSpPr/>
          <p:nvPr/>
        </p:nvSpPr>
        <p:spPr>
          <a:xfrm>
            <a:off x="457200" y="1554480"/>
            <a:ext cx="1865376" cy="914400"/>
          </a:xfrm>
          <a:prstGeom prst="roundRect">
            <a:avLst>
              <a:gd name="adj" fmla="val 10000"/>
            </a:avLst>
          </a:prstGeom>
          <a:solidFill>
            <a:srgbClr val="1C2743"/>
          </a:solidFill>
          <a:ln w="12700">
            <a:solidFill>
              <a:srgbClr val="1C2743"/>
            </a:solidFill>
            <a:prstDash val="solid"/>
          </a:ln>
        </p:spPr>
      </p:sp>
      <p:sp>
        <p:nvSpPr>
          <p:cNvPr id="5" name="Text 3"/>
          <p:cNvSpPr txBox="1"/>
          <p:nvPr/>
        </p:nvSpPr>
        <p:spPr>
          <a:xfrm>
            <a:off x="457200" y="1554480"/>
            <a:ext cx="1865376"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 shift</a:t>
            </a:r>
            <a:endParaRPr lang="en-US" sz="1200" dirty="0"/>
          </a:p>
        </p:txBody>
      </p:sp>
      <p:sp>
        <p:nvSpPr>
          <p:cNvPr id="6" name="Shape 4"/>
          <p:cNvSpPr/>
          <p:nvPr/>
        </p:nvSpPr>
        <p:spPr>
          <a:xfrm>
            <a:off x="2359152" y="2011680"/>
            <a:ext cx="182880" cy="0"/>
          </a:xfrm>
          <a:prstGeom prst="line">
            <a:avLst/>
          </a:prstGeom>
          <a:noFill/>
          <a:ln w="19050">
            <a:solidFill>
              <a:srgbClr val="C9D1E0"/>
            </a:solidFill>
            <a:prstDash val="solid"/>
            <a:tailEnd type="triangle"/>
          </a:ln>
        </p:spPr>
      </p:sp>
      <p:sp>
        <p:nvSpPr>
          <p:cNvPr id="7" name="Shape 5"/>
          <p:cNvSpPr/>
          <p:nvPr/>
        </p:nvSpPr>
        <p:spPr>
          <a:xfrm>
            <a:off x="2578608" y="1554480"/>
            <a:ext cx="1865376" cy="914400"/>
          </a:xfrm>
          <a:prstGeom prst="roundRect">
            <a:avLst>
              <a:gd name="adj" fmla="val 10000"/>
            </a:avLst>
          </a:prstGeom>
          <a:solidFill>
            <a:srgbClr val="1C2743"/>
          </a:solidFill>
          <a:ln w="12700">
            <a:solidFill>
              <a:srgbClr val="1C2743"/>
            </a:solidFill>
            <a:prstDash val="solid"/>
          </a:ln>
        </p:spPr>
      </p:sp>
      <p:sp>
        <p:nvSpPr>
          <p:cNvPr id="8" name="Text 6"/>
          <p:cNvSpPr txBox="1"/>
          <p:nvPr/>
        </p:nvSpPr>
        <p:spPr>
          <a:xfrm>
            <a:off x="2578608" y="1554480"/>
            <a:ext cx="1865376"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Turn your head (left or right, at random)</a:t>
            </a:r>
            <a:endParaRPr lang="en-US" sz="1200" dirty="0"/>
          </a:p>
        </p:txBody>
      </p:sp>
      <p:sp>
        <p:nvSpPr>
          <p:cNvPr id="9" name="Shape 7"/>
          <p:cNvSpPr/>
          <p:nvPr/>
        </p:nvSpPr>
        <p:spPr>
          <a:xfrm>
            <a:off x="4480560" y="2011680"/>
            <a:ext cx="182880" cy="0"/>
          </a:xfrm>
          <a:prstGeom prst="line">
            <a:avLst/>
          </a:prstGeom>
          <a:noFill/>
          <a:ln w="19050">
            <a:solidFill>
              <a:srgbClr val="C9D1E0"/>
            </a:solidFill>
            <a:prstDash val="solid"/>
            <a:tailEnd type="triangle"/>
          </a:ln>
        </p:spPr>
      </p:sp>
      <p:sp>
        <p:nvSpPr>
          <p:cNvPr id="10" name="Shape 8"/>
          <p:cNvSpPr/>
          <p:nvPr/>
        </p:nvSpPr>
        <p:spPr>
          <a:xfrm>
            <a:off x="4700016" y="1554480"/>
            <a:ext cx="1865376" cy="914400"/>
          </a:xfrm>
          <a:prstGeom prst="roundRect">
            <a:avLst>
              <a:gd name="adj" fmla="val 10000"/>
            </a:avLst>
          </a:prstGeom>
          <a:solidFill>
            <a:srgbClr val="1C2743"/>
          </a:solidFill>
          <a:ln w="12700">
            <a:solidFill>
              <a:srgbClr val="1C2743"/>
            </a:solidFill>
            <a:prstDash val="solid"/>
          </a:ln>
        </p:spPr>
      </p:sp>
      <p:sp>
        <p:nvSpPr>
          <p:cNvPr id="11" name="Text 9"/>
          <p:cNvSpPr txBox="1"/>
          <p:nvPr/>
        </p:nvSpPr>
        <p:spPr>
          <a:xfrm>
            <a:off x="4700016" y="1554480"/>
            <a:ext cx="1865376"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"Hello, Kwame A." for two seconds</a:t>
            </a:r>
            <a:endParaRPr lang="en-US" sz="1200" dirty="0"/>
          </a:p>
        </p:txBody>
      </p:sp>
      <p:sp>
        <p:nvSpPr>
          <p:cNvPr id="12" name="Shape 10"/>
          <p:cNvSpPr/>
          <p:nvPr/>
        </p:nvSpPr>
        <p:spPr>
          <a:xfrm>
            <a:off x="6601968" y="2011680"/>
            <a:ext cx="182880" cy="0"/>
          </a:xfrm>
          <a:prstGeom prst="line">
            <a:avLst/>
          </a:prstGeom>
          <a:noFill/>
          <a:ln w="19050">
            <a:solidFill>
              <a:srgbClr val="C9D1E0"/>
            </a:solidFill>
            <a:prstDash val="solid"/>
            <a:tailEnd type="triangle"/>
          </a:ln>
        </p:spPr>
      </p:sp>
      <p:sp>
        <p:nvSpPr>
          <p:cNvPr id="13" name="Shape 11"/>
          <p:cNvSpPr/>
          <p:nvPr/>
        </p:nvSpPr>
        <p:spPr>
          <a:xfrm>
            <a:off x="6821424" y="1554480"/>
            <a:ext cx="1865376" cy="914400"/>
          </a:xfrm>
          <a:prstGeom prst="roundRect">
            <a:avLst>
              <a:gd name="adj" fmla="val 10000"/>
            </a:avLst>
          </a:prstGeom>
          <a:solidFill>
            <a:srgbClr val="E8B542"/>
          </a:solidFill>
          <a:ln w="12700">
            <a:solidFill>
              <a:srgbClr val="E8B542"/>
            </a:solidFill>
            <a:prstDash val="solid"/>
          </a:ln>
        </p:spPr>
      </p:sp>
      <p:sp>
        <p:nvSpPr>
          <p:cNvPr id="14" name="Text 12"/>
          <p:cNvSpPr txBox="1"/>
          <p:nvPr/>
        </p:nvSpPr>
        <p:spPr>
          <a:xfrm>
            <a:off x="6821424" y="1554480"/>
            <a:ext cx="1865376" cy="914400"/>
          </a:xfrm>
          <a:prstGeom prst="rect">
            <a:avLst/>
          </a:prstGeom>
          <a:noFill/>
          <a:ln/>
        </p:spPr>
        <p:txBody>
          <a:bodyPr wrap="square" lIns="635" tIns="635" rIns="635" bIns="635" rtlCol="0" anchor="ctr"/>
          <a:lstStyle/>
          <a:p>
            <a:pPr algn="ctr" indent="0" marL="0">
              <a:buNone/>
            </a:pPr>
            <a:r>
              <a:rPr lang="en-US" sz="1200" b="1" dirty="0">
                <a:solidFill>
                  <a:srgbClr val="13213A"/>
                </a:solidFill>
                <a:latin typeface="Calibri" pitchFamily="34" charset="0"/>
                <a:ea typeface="Calibri" pitchFamily="34" charset="-122"/>
                <a:cs typeface="Calibri" pitchFamily="34" charset="-120"/>
              </a:rPr>
              <a:t>On the Live board within five seconds</a:t>
            </a:r>
            <a:endParaRPr lang="en-US" sz="1200" dirty="0"/>
          </a:p>
        </p:txBody>
      </p:sp>
      <p:sp>
        <p:nvSpPr>
          <p:cNvPr id="15" name="Shape 13"/>
          <p:cNvSpPr/>
          <p:nvPr/>
        </p:nvSpPr>
        <p:spPr>
          <a:xfrm>
            <a:off x="457200" y="2788920"/>
            <a:ext cx="3977640" cy="1645920"/>
          </a:xfrm>
          <a:prstGeom prst="roundRect">
            <a:avLst>
              <a:gd name="adj" fmla="val 6667"/>
            </a:avLst>
          </a:prstGeom>
          <a:solidFill>
            <a:srgbClr val="1C2743"/>
          </a:solidFill>
          <a:ln w="12700">
            <a:solidFill>
              <a:srgbClr val="1C2743"/>
            </a:solidFill>
            <a:prstDash val="solid"/>
          </a:ln>
        </p:spPr>
      </p:sp>
      <p:sp>
        <p:nvSpPr>
          <p:cNvPr id="16" name="Text 14"/>
          <p:cNvSpPr txBox="1"/>
          <p:nvPr/>
        </p:nvSpPr>
        <p:spPr>
          <a:xfrm>
            <a:off x="658368" y="29900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Why the turn is random</a:t>
            </a:r>
            <a:endParaRPr lang="en-US" sz="1600" dirty="0"/>
          </a:p>
        </p:txBody>
      </p:sp>
      <p:sp>
        <p:nvSpPr>
          <p:cNvPr id="17" name="Text 15"/>
          <p:cNvSpPr txBox="1"/>
          <p:nvPr/>
        </p:nvSpPr>
        <p:spPr>
          <a:xfrm>
            <a:off x="658368" y="3374136"/>
            <a:ext cx="3575304" cy="9509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Two printed photos cannot answer a direction chosen at that moment. The kiosk checks liveness itself, because the server cannot see the camera.</a:t>
            </a:r>
            <a:endParaRPr lang="en-US" sz="1200" dirty="0"/>
          </a:p>
        </p:txBody>
      </p:sp>
      <p:sp>
        <p:nvSpPr>
          <p:cNvPr id="18" name="Shape 16"/>
          <p:cNvSpPr/>
          <p:nvPr/>
        </p:nvSpPr>
        <p:spPr>
          <a:xfrm>
            <a:off x="4709160" y="2788920"/>
            <a:ext cx="3977640" cy="1645920"/>
          </a:xfrm>
          <a:prstGeom prst="roundRect">
            <a:avLst>
              <a:gd name="adj" fmla="val 6667"/>
            </a:avLst>
          </a:prstGeom>
          <a:solidFill>
            <a:srgbClr val="1C2743"/>
          </a:solidFill>
          <a:ln w="12700">
            <a:solidFill>
              <a:srgbClr val="1C2743"/>
            </a:solidFill>
            <a:prstDash val="solid"/>
          </a:ln>
        </p:spPr>
      </p:sp>
      <p:sp>
        <p:nvSpPr>
          <p:cNvPr id="19" name="Text 17"/>
          <p:cNvSpPr txBox="1"/>
          <p:nvPr/>
        </p:nvSpPr>
        <p:spPr>
          <a:xfrm>
            <a:off x="4910328" y="29900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What the kiosk never shows</a:t>
            </a:r>
            <a:endParaRPr lang="en-US" sz="1600" dirty="0"/>
          </a:p>
        </p:txBody>
      </p:sp>
      <p:sp>
        <p:nvSpPr>
          <p:cNvPr id="20" name="Text 18"/>
          <p:cNvSpPr txBox="1"/>
          <p:nvPr/>
        </p:nvSpPr>
        <p:spPr>
          <a:xfrm>
            <a:off x="4910328" y="3374136"/>
            <a:ext cx="3575304" cy="9509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Not a score, not who somebody almost matched. Anyone can stand in front of it, so every message must be safe to show a stranger. A test reads the whole screen and fails if a score ever appears.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Demo 3 · Pay the month</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Confirmed hours become pay, to Ghana's rules, to the pesewa</a:t>
            </a:r>
            <a:endParaRPr lang="en-US" sz="1400" dirty="0"/>
          </a:p>
        </p:txBody>
      </p:sp>
      <p:sp>
        <p:nvSpPr>
          <p:cNvPr id="4" name="Shape 2"/>
          <p:cNvSpPr/>
          <p:nvPr/>
        </p:nvSpPr>
        <p:spPr>
          <a:xfrm>
            <a:off x="457200" y="1554480"/>
            <a:ext cx="1158240" cy="822960"/>
          </a:xfrm>
          <a:prstGeom prst="roundRect">
            <a:avLst>
              <a:gd name="adj" fmla="val 11111"/>
            </a:avLst>
          </a:prstGeom>
          <a:solidFill>
            <a:srgbClr val="EEF0F4"/>
          </a:solidFill>
          <a:ln w="12700">
            <a:solidFill>
              <a:srgbClr val="EEF0F4"/>
            </a:solidFill>
            <a:prstDash val="solid"/>
          </a:ln>
        </p:spPr>
      </p:sp>
      <p:sp>
        <p:nvSpPr>
          <p:cNvPr id="5" name="Text 3"/>
          <p:cNvSpPr txBox="1"/>
          <p:nvPr/>
        </p:nvSpPr>
        <p:spPr>
          <a:xfrm>
            <a:off x="457200"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Confirmed hours</a:t>
            </a:r>
            <a:endParaRPr lang="en-US" sz="1200" dirty="0"/>
          </a:p>
        </p:txBody>
      </p:sp>
      <p:sp>
        <p:nvSpPr>
          <p:cNvPr id="6" name="Shape 4"/>
          <p:cNvSpPr/>
          <p:nvPr/>
        </p:nvSpPr>
        <p:spPr>
          <a:xfrm>
            <a:off x="1652016" y="1965960"/>
            <a:ext cx="182880" cy="0"/>
          </a:xfrm>
          <a:prstGeom prst="line">
            <a:avLst/>
          </a:prstGeom>
          <a:noFill/>
          <a:ln w="19050">
            <a:solidFill>
              <a:srgbClr val="66708A"/>
            </a:solidFill>
            <a:prstDash val="solid"/>
            <a:tailEnd type="triangle"/>
          </a:ln>
        </p:spPr>
      </p:sp>
      <p:sp>
        <p:nvSpPr>
          <p:cNvPr id="7" name="Shape 5"/>
          <p:cNvSpPr/>
          <p:nvPr/>
        </p:nvSpPr>
        <p:spPr>
          <a:xfrm>
            <a:off x="1871472" y="1554480"/>
            <a:ext cx="1158240" cy="822960"/>
          </a:xfrm>
          <a:prstGeom prst="roundRect">
            <a:avLst>
              <a:gd name="adj" fmla="val 11111"/>
            </a:avLst>
          </a:prstGeom>
          <a:solidFill>
            <a:srgbClr val="EEF0F4"/>
          </a:solidFill>
          <a:ln w="12700">
            <a:solidFill>
              <a:srgbClr val="EEF0F4"/>
            </a:solidFill>
            <a:prstDash val="solid"/>
          </a:ln>
        </p:spPr>
      </p:sp>
      <p:sp>
        <p:nvSpPr>
          <p:cNvPr id="8" name="Text 6"/>
          <p:cNvSpPr txBox="1"/>
          <p:nvPr/>
        </p:nvSpPr>
        <p:spPr>
          <a:xfrm>
            <a:off x="1871472"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Basic pay</a:t>
            </a:r>
            <a:endParaRPr lang="en-US" sz="1200" dirty="0"/>
          </a:p>
        </p:txBody>
      </p:sp>
      <p:sp>
        <p:nvSpPr>
          <p:cNvPr id="9" name="Shape 7"/>
          <p:cNvSpPr/>
          <p:nvPr/>
        </p:nvSpPr>
        <p:spPr>
          <a:xfrm>
            <a:off x="3066288" y="1965960"/>
            <a:ext cx="182880" cy="0"/>
          </a:xfrm>
          <a:prstGeom prst="line">
            <a:avLst/>
          </a:prstGeom>
          <a:noFill/>
          <a:ln w="19050">
            <a:solidFill>
              <a:srgbClr val="66708A"/>
            </a:solidFill>
            <a:prstDash val="solid"/>
            <a:tailEnd type="triangle"/>
          </a:ln>
        </p:spPr>
      </p:sp>
      <p:sp>
        <p:nvSpPr>
          <p:cNvPr id="10" name="Shape 8"/>
          <p:cNvSpPr/>
          <p:nvPr/>
        </p:nvSpPr>
        <p:spPr>
          <a:xfrm>
            <a:off x="3285744" y="1554480"/>
            <a:ext cx="1158240" cy="822960"/>
          </a:xfrm>
          <a:prstGeom prst="roundRect">
            <a:avLst>
              <a:gd name="adj" fmla="val 11111"/>
            </a:avLst>
          </a:prstGeom>
          <a:solidFill>
            <a:srgbClr val="EEF0F4"/>
          </a:solidFill>
          <a:ln w="12700">
            <a:solidFill>
              <a:srgbClr val="EEF0F4"/>
            </a:solidFill>
            <a:prstDash val="solid"/>
          </a:ln>
        </p:spPr>
      </p:sp>
      <p:sp>
        <p:nvSpPr>
          <p:cNvPr id="11" name="Text 9"/>
          <p:cNvSpPr txBox="1"/>
          <p:nvPr/>
        </p:nvSpPr>
        <p:spPr>
          <a:xfrm>
            <a:off x="3285744"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Overtime</a:t>
            </a:r>
            <a:endParaRPr lang="en-US" sz="1200" dirty="0"/>
          </a:p>
        </p:txBody>
      </p:sp>
      <p:sp>
        <p:nvSpPr>
          <p:cNvPr id="12" name="Shape 10"/>
          <p:cNvSpPr/>
          <p:nvPr/>
        </p:nvSpPr>
        <p:spPr>
          <a:xfrm>
            <a:off x="4480560" y="1965960"/>
            <a:ext cx="182880" cy="0"/>
          </a:xfrm>
          <a:prstGeom prst="line">
            <a:avLst/>
          </a:prstGeom>
          <a:noFill/>
          <a:ln w="19050">
            <a:solidFill>
              <a:srgbClr val="66708A"/>
            </a:solidFill>
            <a:prstDash val="solid"/>
            <a:tailEnd type="triangle"/>
          </a:ln>
        </p:spPr>
      </p:sp>
      <p:sp>
        <p:nvSpPr>
          <p:cNvPr id="13" name="Shape 11"/>
          <p:cNvSpPr/>
          <p:nvPr/>
        </p:nvSpPr>
        <p:spPr>
          <a:xfrm>
            <a:off x="4700016" y="1554480"/>
            <a:ext cx="1158240" cy="822960"/>
          </a:xfrm>
          <a:prstGeom prst="roundRect">
            <a:avLst>
              <a:gd name="adj" fmla="val 11111"/>
            </a:avLst>
          </a:prstGeom>
          <a:solidFill>
            <a:srgbClr val="EEF0F4"/>
          </a:solidFill>
          <a:ln w="12700">
            <a:solidFill>
              <a:srgbClr val="EEF0F4"/>
            </a:solidFill>
            <a:prstDash val="solid"/>
          </a:ln>
        </p:spPr>
      </p:sp>
      <p:sp>
        <p:nvSpPr>
          <p:cNvPr id="14" name="Text 12"/>
          <p:cNvSpPr txBox="1"/>
          <p:nvPr/>
        </p:nvSpPr>
        <p:spPr>
          <a:xfrm>
            <a:off x="4700016"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SSNIT</a:t>
            </a:r>
            <a:endParaRPr lang="en-US" sz="1200" dirty="0"/>
          </a:p>
        </p:txBody>
      </p:sp>
      <p:sp>
        <p:nvSpPr>
          <p:cNvPr id="15" name="Shape 13"/>
          <p:cNvSpPr/>
          <p:nvPr/>
        </p:nvSpPr>
        <p:spPr>
          <a:xfrm>
            <a:off x="5894832" y="1965960"/>
            <a:ext cx="182880" cy="0"/>
          </a:xfrm>
          <a:prstGeom prst="line">
            <a:avLst/>
          </a:prstGeom>
          <a:noFill/>
          <a:ln w="19050">
            <a:solidFill>
              <a:srgbClr val="66708A"/>
            </a:solidFill>
            <a:prstDash val="solid"/>
            <a:tailEnd type="triangle"/>
          </a:ln>
        </p:spPr>
      </p:sp>
      <p:sp>
        <p:nvSpPr>
          <p:cNvPr id="16" name="Shape 14"/>
          <p:cNvSpPr/>
          <p:nvPr/>
        </p:nvSpPr>
        <p:spPr>
          <a:xfrm>
            <a:off x="6114288" y="1554480"/>
            <a:ext cx="1158240" cy="822960"/>
          </a:xfrm>
          <a:prstGeom prst="roundRect">
            <a:avLst>
              <a:gd name="adj" fmla="val 11111"/>
            </a:avLst>
          </a:prstGeom>
          <a:solidFill>
            <a:srgbClr val="EEF0F4"/>
          </a:solidFill>
          <a:ln w="12700">
            <a:solidFill>
              <a:srgbClr val="EEF0F4"/>
            </a:solidFill>
            <a:prstDash val="solid"/>
          </a:ln>
        </p:spPr>
      </p:sp>
      <p:sp>
        <p:nvSpPr>
          <p:cNvPr id="17" name="Text 15"/>
          <p:cNvSpPr txBox="1"/>
          <p:nvPr/>
        </p:nvSpPr>
        <p:spPr>
          <a:xfrm>
            <a:off x="6114288"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PAYE tax</a:t>
            </a:r>
            <a:endParaRPr lang="en-US" sz="1200" dirty="0"/>
          </a:p>
        </p:txBody>
      </p:sp>
      <p:sp>
        <p:nvSpPr>
          <p:cNvPr id="18" name="Shape 16"/>
          <p:cNvSpPr/>
          <p:nvPr/>
        </p:nvSpPr>
        <p:spPr>
          <a:xfrm>
            <a:off x="7309104" y="1965960"/>
            <a:ext cx="182880" cy="0"/>
          </a:xfrm>
          <a:prstGeom prst="line">
            <a:avLst/>
          </a:prstGeom>
          <a:noFill/>
          <a:ln w="19050">
            <a:solidFill>
              <a:srgbClr val="66708A"/>
            </a:solidFill>
            <a:prstDash val="solid"/>
            <a:tailEnd type="triangle"/>
          </a:ln>
        </p:spPr>
      </p:sp>
      <p:sp>
        <p:nvSpPr>
          <p:cNvPr id="19" name="Shape 17"/>
          <p:cNvSpPr/>
          <p:nvPr/>
        </p:nvSpPr>
        <p:spPr>
          <a:xfrm>
            <a:off x="7528560" y="1554480"/>
            <a:ext cx="1158240" cy="822960"/>
          </a:xfrm>
          <a:prstGeom prst="roundRect">
            <a:avLst>
              <a:gd name="adj" fmla="val 11111"/>
            </a:avLst>
          </a:prstGeom>
          <a:solidFill>
            <a:srgbClr val="E8B542"/>
          </a:solidFill>
          <a:ln w="12700">
            <a:solidFill>
              <a:srgbClr val="E8B542"/>
            </a:solidFill>
            <a:prstDash val="solid"/>
          </a:ln>
        </p:spPr>
      </p:sp>
      <p:sp>
        <p:nvSpPr>
          <p:cNvPr id="20" name="Text 18"/>
          <p:cNvSpPr txBox="1"/>
          <p:nvPr/>
        </p:nvSpPr>
        <p:spPr>
          <a:xfrm>
            <a:off x="7528560" y="1554480"/>
            <a:ext cx="1158240" cy="822960"/>
          </a:xfrm>
          <a:prstGeom prst="rect">
            <a:avLst/>
          </a:prstGeom>
          <a:noFill/>
          <a:ln/>
        </p:spPr>
        <p:txBody>
          <a:bodyPr wrap="square" lIns="635" tIns="635" rIns="635" bIns="635" rtlCol="0" anchor="ctr"/>
          <a:lstStyle/>
          <a:p>
            <a:pPr algn="ctr" indent="0" marL="0">
              <a:buNone/>
            </a:pPr>
            <a:r>
              <a:rPr lang="en-US" sz="1200" b="1" dirty="0">
                <a:solidFill>
                  <a:srgbClr val="13213A"/>
                </a:solidFill>
                <a:latin typeface="Calibri" pitchFamily="34" charset="0"/>
                <a:ea typeface="Calibri" pitchFamily="34" charset="-122"/>
                <a:cs typeface="Calibri" pitchFamily="34" charset="-120"/>
              </a:rPr>
              <a:t>Net pay</a:t>
            </a:r>
            <a:endParaRPr lang="en-US" sz="1200" dirty="0"/>
          </a:p>
        </p:txBody>
      </p:sp>
      <p:sp>
        <p:nvSpPr>
          <p:cNvPr id="21" name="Shape 19"/>
          <p:cNvSpPr/>
          <p:nvPr/>
        </p:nvSpPr>
        <p:spPr>
          <a:xfrm>
            <a:off x="457200" y="2697480"/>
            <a:ext cx="3977640" cy="1737360"/>
          </a:xfrm>
          <a:prstGeom prst="roundRect">
            <a:avLst>
              <a:gd name="adj" fmla="val 6316"/>
            </a:avLst>
          </a:prstGeom>
          <a:solidFill>
            <a:srgbClr val="EEF0F4"/>
          </a:solidFill>
          <a:ln w="12700">
            <a:solidFill>
              <a:srgbClr val="EEF0F4"/>
            </a:solidFill>
            <a:prstDash val="solid"/>
          </a:ln>
        </p:spPr>
      </p:sp>
      <p:sp>
        <p:nvSpPr>
          <p:cNvPr id="22" name="Text 20"/>
          <p:cNvSpPr txBox="1"/>
          <p:nvPr/>
        </p:nvSpPr>
        <p:spPr>
          <a:xfrm>
            <a:off x="658368" y="289864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Money is always whole pesewas</a:t>
            </a:r>
            <a:endParaRPr lang="en-US" sz="1600" dirty="0"/>
          </a:p>
        </p:txBody>
      </p:sp>
      <p:sp>
        <p:nvSpPr>
          <p:cNvPr id="23" name="Text 21"/>
          <p:cNvSpPr txBox="1"/>
          <p:nvPr/>
        </p:nvSpPr>
        <p:spPr>
          <a:xfrm>
            <a:off x="658368" y="3282696"/>
            <a:ext cx="3575304" cy="104241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Never a decimal, because decimals lose money. Every payslip is tested against one we calculated by hand.</a:t>
            </a:r>
            <a:endParaRPr lang="en-US" sz="1250" dirty="0"/>
          </a:p>
        </p:txBody>
      </p:sp>
      <p:sp>
        <p:nvSpPr>
          <p:cNvPr id="24" name="Shape 22"/>
          <p:cNvSpPr/>
          <p:nvPr/>
        </p:nvSpPr>
        <p:spPr>
          <a:xfrm>
            <a:off x="4709160" y="2697480"/>
            <a:ext cx="3977640" cy="1737360"/>
          </a:xfrm>
          <a:prstGeom prst="roundRect">
            <a:avLst>
              <a:gd name="adj" fmla="val 6316"/>
            </a:avLst>
          </a:prstGeom>
          <a:solidFill>
            <a:srgbClr val="EEF0F4"/>
          </a:solidFill>
          <a:ln w="12700">
            <a:solidFill>
              <a:srgbClr val="EEF0F4"/>
            </a:solidFill>
            <a:prstDash val="solid"/>
          </a:ln>
        </p:spPr>
      </p:sp>
      <p:sp>
        <p:nvSpPr>
          <p:cNvPr id="25" name="Text 23"/>
          <p:cNvSpPr txBox="1"/>
          <p:nvPr/>
        </p:nvSpPr>
        <p:spPr>
          <a:xfrm>
            <a:off x="4910328" y="289864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Every input is copied onto the line</a:t>
            </a:r>
            <a:endParaRPr lang="en-US" sz="1600" dirty="0"/>
          </a:p>
        </p:txBody>
      </p:sp>
      <p:sp>
        <p:nvSpPr>
          <p:cNvPr id="26" name="Text 24"/>
          <p:cNvSpPr txBox="1"/>
          <p:nvPr/>
        </p:nvSpPr>
        <p:spPr>
          <a:xfrm>
            <a:off x="4910328" y="3282696"/>
            <a:ext cx="3575304" cy="104241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The rates, the days, the minutes. This run can be re-checked years from now without reading anything else.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Demo 3 · A second person, then the lock</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The maker is never the checker, and the database enforces it</a:t>
            </a:r>
            <a:endParaRPr lang="en-US" sz="1400" dirty="0"/>
          </a:p>
        </p:txBody>
      </p:sp>
      <p:sp>
        <p:nvSpPr>
          <p:cNvPr id="4" name="Shape 2"/>
          <p:cNvSpPr/>
          <p:nvPr/>
        </p:nvSpPr>
        <p:spPr>
          <a:xfrm>
            <a:off x="457200" y="1463040"/>
            <a:ext cx="2606040" cy="2926080"/>
          </a:xfrm>
          <a:prstGeom prst="roundRect">
            <a:avLst>
              <a:gd name="adj" fmla="val 4211"/>
            </a:avLst>
          </a:prstGeom>
          <a:solidFill>
            <a:srgbClr val="EEF0F4"/>
          </a:solidFill>
          <a:ln w="12700">
            <a:solidFill>
              <a:srgbClr val="EEF0F4"/>
            </a:solidFill>
            <a:prstDash val="solid"/>
          </a:ln>
        </p:spPr>
      </p:sp>
      <p:sp>
        <p:nvSpPr>
          <p:cNvPr id="5" name="Shape 3"/>
          <p:cNvSpPr/>
          <p:nvPr/>
        </p:nvSpPr>
        <p:spPr>
          <a:xfrm>
            <a:off x="658368" y="1664208"/>
            <a:ext cx="347472" cy="347472"/>
          </a:xfrm>
          <a:prstGeom prst="ellipse">
            <a:avLst/>
          </a:prstGeom>
          <a:solidFill>
            <a:srgbClr val="E8B542"/>
          </a:solidFill>
          <a:ln w="12700">
            <a:solidFill>
              <a:srgbClr val="E8B542"/>
            </a:solidFill>
            <a:prstDash val="solid"/>
          </a:ln>
        </p:spPr>
      </p:sp>
      <p:sp>
        <p:nvSpPr>
          <p:cNvPr id="6" name="Text 4"/>
          <p:cNvSpPr txBox="1"/>
          <p:nvPr/>
        </p:nvSpPr>
        <p:spPr>
          <a:xfrm>
            <a:off x="65836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2121408"/>
            <a:ext cx="22037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I prepared it</a:t>
            </a:r>
            <a:endParaRPr lang="en-US" sz="1600" dirty="0"/>
          </a:p>
        </p:txBody>
      </p:sp>
      <p:sp>
        <p:nvSpPr>
          <p:cNvPr id="8" name="Text 6"/>
          <p:cNvSpPr txBox="1"/>
          <p:nvPr/>
        </p:nvSpPr>
        <p:spPr>
          <a:xfrm>
            <a:off x="658368" y="2505456"/>
            <a:ext cx="2203704" cy="177393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So the system refuses to let me approve it. If it refuses on stage, that is the feature working.</a:t>
            </a:r>
            <a:endParaRPr lang="en-US" sz="1250" dirty="0"/>
          </a:p>
        </p:txBody>
      </p:sp>
      <p:sp>
        <p:nvSpPr>
          <p:cNvPr id="9" name="Shape 7"/>
          <p:cNvSpPr/>
          <p:nvPr/>
        </p:nvSpPr>
        <p:spPr>
          <a:xfrm>
            <a:off x="3268980" y="1463040"/>
            <a:ext cx="2606040" cy="2926080"/>
          </a:xfrm>
          <a:prstGeom prst="roundRect">
            <a:avLst>
              <a:gd name="adj" fmla="val 4211"/>
            </a:avLst>
          </a:prstGeom>
          <a:solidFill>
            <a:srgbClr val="EEF0F4"/>
          </a:solidFill>
          <a:ln w="12700">
            <a:solidFill>
              <a:srgbClr val="EEF0F4"/>
            </a:solidFill>
            <a:prstDash val="solid"/>
          </a:ln>
        </p:spPr>
      </p:sp>
      <p:sp>
        <p:nvSpPr>
          <p:cNvPr id="10" name="Shape 8"/>
          <p:cNvSpPr/>
          <p:nvPr/>
        </p:nvSpPr>
        <p:spPr>
          <a:xfrm>
            <a:off x="3470148" y="1664208"/>
            <a:ext cx="347472" cy="347472"/>
          </a:xfrm>
          <a:prstGeom prst="ellipse">
            <a:avLst/>
          </a:prstGeom>
          <a:solidFill>
            <a:srgbClr val="E8B542"/>
          </a:solidFill>
          <a:ln w="12700">
            <a:solidFill>
              <a:srgbClr val="E8B542"/>
            </a:solidFill>
            <a:prstDash val="solid"/>
          </a:ln>
        </p:spPr>
      </p:sp>
      <p:sp>
        <p:nvSpPr>
          <p:cNvPr id="11" name="Text 9"/>
          <p:cNvSpPr txBox="1"/>
          <p:nvPr/>
        </p:nvSpPr>
        <p:spPr>
          <a:xfrm>
            <a:off x="347014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470148" y="2121408"/>
            <a:ext cx="2203704" cy="731520"/>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A different person approves</a:t>
            </a:r>
            <a:endParaRPr lang="en-US" sz="1600" dirty="0"/>
          </a:p>
        </p:txBody>
      </p:sp>
      <p:sp>
        <p:nvSpPr>
          <p:cNvPr id="13" name="Text 11"/>
          <p:cNvSpPr txBox="1"/>
          <p:nvPr/>
        </p:nvSpPr>
        <p:spPr>
          <a:xfrm>
            <a:off x="3470148" y="2852928"/>
            <a:ext cx="2203704" cy="1426464"/>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A second account, with its own password and two-factor code. The database checks the two names differ; the screen alone could be bypassed.</a:t>
            </a:r>
            <a:endParaRPr lang="en-US" sz="1250" dirty="0"/>
          </a:p>
        </p:txBody>
      </p:sp>
      <p:sp>
        <p:nvSpPr>
          <p:cNvPr id="14" name="Shape 12"/>
          <p:cNvSpPr/>
          <p:nvPr/>
        </p:nvSpPr>
        <p:spPr>
          <a:xfrm>
            <a:off x="6080760" y="1463040"/>
            <a:ext cx="2606040" cy="2926080"/>
          </a:xfrm>
          <a:prstGeom prst="roundRect">
            <a:avLst>
              <a:gd name="adj" fmla="val 4211"/>
            </a:avLst>
          </a:prstGeom>
          <a:solidFill>
            <a:srgbClr val="EEF0F4"/>
          </a:solidFill>
          <a:ln w="12700">
            <a:solidFill>
              <a:srgbClr val="EEF0F4"/>
            </a:solidFill>
            <a:prstDash val="solid"/>
          </a:ln>
        </p:spPr>
      </p:sp>
      <p:sp>
        <p:nvSpPr>
          <p:cNvPr id="15" name="Shape 13"/>
          <p:cNvSpPr/>
          <p:nvPr/>
        </p:nvSpPr>
        <p:spPr>
          <a:xfrm>
            <a:off x="6281928" y="1664208"/>
            <a:ext cx="347472" cy="347472"/>
          </a:xfrm>
          <a:prstGeom prst="ellipse">
            <a:avLst/>
          </a:prstGeom>
          <a:solidFill>
            <a:srgbClr val="E8B542"/>
          </a:solidFill>
          <a:ln w="12700">
            <a:solidFill>
              <a:srgbClr val="E8B542"/>
            </a:solidFill>
            <a:prstDash val="solid"/>
          </a:ln>
        </p:spPr>
      </p:sp>
      <p:sp>
        <p:nvSpPr>
          <p:cNvPr id="16" name="Text 14"/>
          <p:cNvSpPr txBox="1"/>
          <p:nvPr/>
        </p:nvSpPr>
        <p:spPr>
          <a:xfrm>
            <a:off x="6281928" y="1664208"/>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281928" y="2121408"/>
            <a:ext cx="2203704" cy="731520"/>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Locked</a:t>
            </a:r>
            <a:endParaRPr lang="en-US" sz="1600" dirty="0"/>
          </a:p>
        </p:txBody>
      </p:sp>
      <p:sp>
        <p:nvSpPr>
          <p:cNvPr id="18" name="Text 16"/>
          <p:cNvSpPr txBox="1"/>
          <p:nvPr/>
        </p:nvSpPr>
        <p:spPr>
          <a:xfrm>
            <a:off x="6281928" y="2852928"/>
            <a:ext cx="2203704" cy="1426464"/>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From that moment the database refuses any change to the figures. The payslip PDF and the bank file are written in the same transaction: what was sent is exactly what exists.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Demo 4 · Catch the ghosts</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C9D1E0"/>
                </a:solidFill>
                <a:latin typeface="Calibri" pitchFamily="34" charset="0"/>
                <a:ea typeface="Calibri" pitchFamily="34" charset="-122"/>
                <a:cs typeface="Calibri" pitchFamily="34" charset="-120"/>
              </a:rPr>
              <a:t>The reason the system exists</a:t>
            </a:r>
            <a:endParaRPr lang="en-US" sz="1400" dirty="0"/>
          </a:p>
        </p:txBody>
      </p:sp>
      <p:sp>
        <p:nvSpPr>
          <p:cNvPr id="4" name="Shape 2"/>
          <p:cNvSpPr/>
          <p:nvPr/>
        </p:nvSpPr>
        <p:spPr>
          <a:xfrm>
            <a:off x="457200" y="1554480"/>
            <a:ext cx="1865376" cy="868680"/>
          </a:xfrm>
          <a:prstGeom prst="roundRect">
            <a:avLst>
              <a:gd name="adj" fmla="val 10526"/>
            </a:avLst>
          </a:prstGeom>
          <a:solidFill>
            <a:srgbClr val="1C2743"/>
          </a:solidFill>
          <a:ln w="12700">
            <a:solidFill>
              <a:srgbClr val="1C2743"/>
            </a:solidFill>
            <a:prstDash val="solid"/>
          </a:ln>
        </p:spPr>
      </p:sp>
      <p:sp>
        <p:nvSpPr>
          <p:cNvPr id="5" name="Text 3"/>
          <p:cNvSpPr txBox="1"/>
          <p:nvPr/>
        </p:nvSpPr>
        <p:spPr>
          <a:xfrm>
            <a:off x="457200" y="1554480"/>
            <a:ext cx="1865376" cy="8686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 the rules now"</a:t>
            </a:r>
            <a:endParaRPr lang="en-US" sz="1200" dirty="0"/>
          </a:p>
        </p:txBody>
      </p:sp>
      <p:sp>
        <p:nvSpPr>
          <p:cNvPr id="6" name="Shape 4"/>
          <p:cNvSpPr/>
          <p:nvPr/>
        </p:nvSpPr>
        <p:spPr>
          <a:xfrm>
            <a:off x="2359152" y="1988820"/>
            <a:ext cx="182880" cy="0"/>
          </a:xfrm>
          <a:prstGeom prst="line">
            <a:avLst/>
          </a:prstGeom>
          <a:noFill/>
          <a:ln w="19050">
            <a:solidFill>
              <a:srgbClr val="C9D1E0"/>
            </a:solidFill>
            <a:prstDash val="solid"/>
            <a:tailEnd type="triangle"/>
          </a:ln>
        </p:spPr>
      </p:sp>
      <p:sp>
        <p:nvSpPr>
          <p:cNvPr id="7" name="Shape 5"/>
          <p:cNvSpPr/>
          <p:nvPr/>
        </p:nvSpPr>
        <p:spPr>
          <a:xfrm>
            <a:off x="2578608" y="1554480"/>
            <a:ext cx="1865376" cy="868680"/>
          </a:xfrm>
          <a:prstGeom prst="roundRect">
            <a:avLst>
              <a:gd name="adj" fmla="val 10526"/>
            </a:avLst>
          </a:prstGeom>
          <a:solidFill>
            <a:srgbClr val="1C2743"/>
          </a:solidFill>
          <a:ln w="12700">
            <a:solidFill>
              <a:srgbClr val="1C2743"/>
            </a:solidFill>
            <a:prstDash val="solid"/>
          </a:ln>
        </p:spPr>
      </p:sp>
      <p:sp>
        <p:nvSpPr>
          <p:cNvPr id="8" name="Text 6"/>
          <p:cNvSpPr txBox="1"/>
          <p:nvPr/>
        </p:nvSpPr>
        <p:spPr>
          <a:xfrm>
            <a:off x="2578608" y="1554480"/>
            <a:ext cx="1865376" cy="8686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 alert, with the rows it looked at</a:t>
            </a:r>
            <a:endParaRPr lang="en-US" sz="1200" dirty="0"/>
          </a:p>
        </p:txBody>
      </p:sp>
      <p:sp>
        <p:nvSpPr>
          <p:cNvPr id="9" name="Shape 7"/>
          <p:cNvSpPr/>
          <p:nvPr/>
        </p:nvSpPr>
        <p:spPr>
          <a:xfrm>
            <a:off x="4480560" y="1988820"/>
            <a:ext cx="182880" cy="0"/>
          </a:xfrm>
          <a:prstGeom prst="line">
            <a:avLst/>
          </a:prstGeom>
          <a:noFill/>
          <a:ln w="19050">
            <a:solidFill>
              <a:srgbClr val="C9D1E0"/>
            </a:solidFill>
            <a:prstDash val="solid"/>
            <a:tailEnd type="triangle"/>
          </a:ln>
        </p:spPr>
      </p:sp>
      <p:sp>
        <p:nvSpPr>
          <p:cNvPr id="10" name="Shape 8"/>
          <p:cNvSpPr/>
          <p:nvPr/>
        </p:nvSpPr>
        <p:spPr>
          <a:xfrm>
            <a:off x="4700016" y="1554480"/>
            <a:ext cx="1865376" cy="868680"/>
          </a:xfrm>
          <a:prstGeom prst="roundRect">
            <a:avLst>
              <a:gd name="adj" fmla="val 10526"/>
            </a:avLst>
          </a:prstGeom>
          <a:solidFill>
            <a:srgbClr val="1C2743"/>
          </a:solidFill>
          <a:ln w="12700">
            <a:solidFill>
              <a:srgbClr val="1C2743"/>
            </a:solidFill>
            <a:prstDash val="solid"/>
          </a:ln>
        </p:spPr>
      </p:sp>
      <p:sp>
        <p:nvSpPr>
          <p:cNvPr id="11" name="Text 9"/>
          <p:cNvSpPr txBox="1"/>
          <p:nvPr/>
        </p:nvSpPr>
        <p:spPr>
          <a:xfrm>
            <a:off x="4700016" y="1554480"/>
            <a:ext cx="1865376" cy="8686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human answers in writing</a:t>
            </a:r>
            <a:endParaRPr lang="en-US" sz="1200" dirty="0"/>
          </a:p>
        </p:txBody>
      </p:sp>
      <p:sp>
        <p:nvSpPr>
          <p:cNvPr id="12" name="Shape 10"/>
          <p:cNvSpPr/>
          <p:nvPr/>
        </p:nvSpPr>
        <p:spPr>
          <a:xfrm>
            <a:off x="6601968" y="1988820"/>
            <a:ext cx="182880" cy="0"/>
          </a:xfrm>
          <a:prstGeom prst="line">
            <a:avLst/>
          </a:prstGeom>
          <a:noFill/>
          <a:ln w="19050">
            <a:solidFill>
              <a:srgbClr val="C9D1E0"/>
            </a:solidFill>
            <a:prstDash val="solid"/>
            <a:tailEnd type="triangle"/>
          </a:ln>
        </p:spPr>
      </p:sp>
      <p:sp>
        <p:nvSpPr>
          <p:cNvPr id="13" name="Shape 11"/>
          <p:cNvSpPr/>
          <p:nvPr/>
        </p:nvSpPr>
        <p:spPr>
          <a:xfrm>
            <a:off x="6821424" y="1554480"/>
            <a:ext cx="1865376" cy="868680"/>
          </a:xfrm>
          <a:prstGeom prst="roundRect">
            <a:avLst>
              <a:gd name="adj" fmla="val 10526"/>
            </a:avLst>
          </a:prstGeom>
          <a:solidFill>
            <a:srgbClr val="E8B542"/>
          </a:solidFill>
          <a:ln w="12700">
            <a:solidFill>
              <a:srgbClr val="E8B542"/>
            </a:solidFill>
            <a:prstDash val="solid"/>
          </a:ln>
        </p:spPr>
      </p:sp>
      <p:sp>
        <p:nvSpPr>
          <p:cNvPr id="14" name="Text 12"/>
          <p:cNvSpPr txBox="1"/>
          <p:nvPr/>
        </p:nvSpPr>
        <p:spPr>
          <a:xfrm>
            <a:off x="6821424" y="1554480"/>
            <a:ext cx="1865376" cy="868680"/>
          </a:xfrm>
          <a:prstGeom prst="rect">
            <a:avLst/>
          </a:prstGeom>
          <a:noFill/>
          <a:ln/>
        </p:spPr>
        <p:txBody>
          <a:bodyPr wrap="square" lIns="635" tIns="635" rIns="635" bIns="635" rtlCol="0" anchor="ctr"/>
          <a:lstStyle/>
          <a:p>
            <a:pPr algn="ctr" indent="0" marL="0">
              <a:buNone/>
            </a:pPr>
            <a:r>
              <a:rPr lang="en-US" sz="1200" b="1" dirty="0">
                <a:solidFill>
                  <a:srgbClr val="13213A"/>
                </a:solidFill>
                <a:latin typeface="Calibri" pitchFamily="34" charset="0"/>
                <a:ea typeface="Calibri" pitchFamily="34" charset="-122"/>
                <a:cs typeface="Calibri" pitchFamily="34" charset="-120"/>
              </a:rPr>
              <a:t>The answer is audited</a:t>
            </a:r>
            <a:endParaRPr lang="en-US" sz="1200" dirty="0"/>
          </a:p>
        </p:txBody>
      </p:sp>
      <p:sp>
        <p:nvSpPr>
          <p:cNvPr id="15" name="Shape 13"/>
          <p:cNvSpPr/>
          <p:nvPr/>
        </p:nvSpPr>
        <p:spPr>
          <a:xfrm>
            <a:off x="457200" y="2788920"/>
            <a:ext cx="1965960" cy="457200"/>
          </a:xfrm>
          <a:prstGeom prst="roundRect">
            <a:avLst>
              <a:gd name="adj" fmla="val 16000"/>
            </a:avLst>
          </a:prstGeom>
          <a:solidFill>
            <a:srgbClr val="1C2743"/>
          </a:solidFill>
          <a:ln w="12700">
            <a:solidFill>
              <a:srgbClr val="1C2743"/>
            </a:solidFill>
            <a:prstDash val="solid"/>
          </a:ln>
        </p:spPr>
      </p:sp>
      <p:sp>
        <p:nvSpPr>
          <p:cNvPr id="16" name="Text 14"/>
          <p:cNvSpPr txBox="1"/>
          <p:nvPr/>
        </p:nvSpPr>
        <p:spPr>
          <a:xfrm>
            <a:off x="457200" y="2788920"/>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R1 Duplicate enrollment</a:t>
            </a:r>
            <a:endParaRPr lang="en-US" sz="1050" dirty="0"/>
          </a:p>
        </p:txBody>
      </p:sp>
      <p:sp>
        <p:nvSpPr>
          <p:cNvPr id="17" name="Shape 15"/>
          <p:cNvSpPr/>
          <p:nvPr/>
        </p:nvSpPr>
        <p:spPr>
          <a:xfrm>
            <a:off x="2560320" y="2788920"/>
            <a:ext cx="1965960" cy="457200"/>
          </a:xfrm>
          <a:prstGeom prst="roundRect">
            <a:avLst>
              <a:gd name="adj" fmla="val 16000"/>
            </a:avLst>
          </a:prstGeom>
          <a:solidFill>
            <a:srgbClr val="1C2743"/>
          </a:solidFill>
          <a:ln w="12700">
            <a:solidFill>
              <a:srgbClr val="1C2743"/>
            </a:solidFill>
            <a:prstDash val="solid"/>
          </a:ln>
        </p:spPr>
      </p:sp>
      <p:sp>
        <p:nvSpPr>
          <p:cNvPr id="18" name="Text 16"/>
          <p:cNvSpPr txBox="1"/>
          <p:nvPr/>
        </p:nvSpPr>
        <p:spPr>
          <a:xfrm>
            <a:off x="2560320" y="2788920"/>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R2 Identity collision</a:t>
            </a:r>
            <a:endParaRPr lang="en-US" sz="1050" dirty="0"/>
          </a:p>
        </p:txBody>
      </p:sp>
      <p:sp>
        <p:nvSpPr>
          <p:cNvPr id="19" name="Shape 17"/>
          <p:cNvSpPr/>
          <p:nvPr/>
        </p:nvSpPr>
        <p:spPr>
          <a:xfrm>
            <a:off x="4663440" y="2788920"/>
            <a:ext cx="1965960" cy="457200"/>
          </a:xfrm>
          <a:prstGeom prst="roundRect">
            <a:avLst>
              <a:gd name="adj" fmla="val 16000"/>
            </a:avLst>
          </a:prstGeom>
          <a:solidFill>
            <a:srgbClr val="1C2743"/>
          </a:solidFill>
          <a:ln w="12700">
            <a:solidFill>
              <a:srgbClr val="1C2743"/>
            </a:solidFill>
            <a:prstDash val="solid"/>
          </a:ln>
        </p:spPr>
      </p:sp>
      <p:sp>
        <p:nvSpPr>
          <p:cNvPr id="20" name="Text 18"/>
          <p:cNvSpPr txBox="1"/>
          <p:nvPr/>
        </p:nvSpPr>
        <p:spPr>
          <a:xfrm>
            <a:off x="4663440" y="2788920"/>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R3 Paid without presence</a:t>
            </a:r>
            <a:endParaRPr lang="en-US" sz="1050" dirty="0"/>
          </a:p>
        </p:txBody>
      </p:sp>
      <p:sp>
        <p:nvSpPr>
          <p:cNvPr id="21" name="Shape 19"/>
          <p:cNvSpPr/>
          <p:nvPr/>
        </p:nvSpPr>
        <p:spPr>
          <a:xfrm>
            <a:off x="6766560" y="2788920"/>
            <a:ext cx="1965960" cy="457200"/>
          </a:xfrm>
          <a:prstGeom prst="roundRect">
            <a:avLst>
              <a:gd name="adj" fmla="val 16000"/>
            </a:avLst>
          </a:prstGeom>
          <a:solidFill>
            <a:srgbClr val="1C2743"/>
          </a:solidFill>
          <a:ln w="12700">
            <a:solidFill>
              <a:srgbClr val="1C2743"/>
            </a:solidFill>
            <a:prstDash val="solid"/>
          </a:ln>
        </p:spPr>
      </p:sp>
      <p:sp>
        <p:nvSpPr>
          <p:cNvPr id="22" name="Text 20"/>
          <p:cNvSpPr txBox="1"/>
          <p:nvPr/>
        </p:nvSpPr>
        <p:spPr>
          <a:xfrm>
            <a:off x="6766560" y="2788920"/>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R4 Bilocation</a:t>
            </a:r>
            <a:endParaRPr lang="en-US" sz="1050" dirty="0"/>
          </a:p>
        </p:txBody>
      </p:sp>
      <p:sp>
        <p:nvSpPr>
          <p:cNvPr id="23" name="Shape 21"/>
          <p:cNvSpPr/>
          <p:nvPr/>
        </p:nvSpPr>
        <p:spPr>
          <a:xfrm>
            <a:off x="457200" y="3355848"/>
            <a:ext cx="1965960" cy="457200"/>
          </a:xfrm>
          <a:prstGeom prst="roundRect">
            <a:avLst>
              <a:gd name="adj" fmla="val 16000"/>
            </a:avLst>
          </a:prstGeom>
          <a:solidFill>
            <a:srgbClr val="1C2743"/>
          </a:solidFill>
          <a:ln w="12700">
            <a:solidFill>
              <a:srgbClr val="1C2743"/>
            </a:solidFill>
            <a:prstDash val="solid"/>
          </a:ln>
        </p:spPr>
      </p:sp>
      <p:sp>
        <p:nvSpPr>
          <p:cNvPr id="24" name="Text 22"/>
          <p:cNvSpPr txBox="1"/>
          <p:nvPr/>
        </p:nvSpPr>
        <p:spPr>
          <a:xfrm>
            <a:off x="457200" y="3355848"/>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R5 Never seen</a:t>
            </a:r>
            <a:endParaRPr lang="en-US" sz="1050" dirty="0"/>
          </a:p>
        </p:txBody>
      </p:sp>
      <p:sp>
        <p:nvSpPr>
          <p:cNvPr id="25" name="Shape 23"/>
          <p:cNvSpPr/>
          <p:nvPr/>
        </p:nvSpPr>
        <p:spPr>
          <a:xfrm>
            <a:off x="2560320" y="3355848"/>
            <a:ext cx="1965960" cy="457200"/>
          </a:xfrm>
          <a:prstGeom prst="roundRect">
            <a:avLst>
              <a:gd name="adj" fmla="val 16000"/>
            </a:avLst>
          </a:prstGeom>
          <a:solidFill>
            <a:srgbClr val="1C2743"/>
          </a:solidFill>
          <a:ln w="12700">
            <a:solidFill>
              <a:srgbClr val="1C2743"/>
            </a:solidFill>
            <a:prstDash val="solid"/>
          </a:ln>
        </p:spPr>
      </p:sp>
      <p:sp>
        <p:nvSpPr>
          <p:cNvPr id="26" name="Text 24"/>
          <p:cNvSpPr txBox="1"/>
          <p:nvPr/>
        </p:nvSpPr>
        <p:spPr>
          <a:xfrm>
            <a:off x="2560320" y="3355848"/>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R6 Terminated but active</a:t>
            </a:r>
            <a:endParaRPr lang="en-US" sz="1050" dirty="0"/>
          </a:p>
        </p:txBody>
      </p:sp>
      <p:sp>
        <p:nvSpPr>
          <p:cNvPr id="27" name="Shape 25"/>
          <p:cNvSpPr/>
          <p:nvPr/>
        </p:nvSpPr>
        <p:spPr>
          <a:xfrm>
            <a:off x="4663440" y="3355848"/>
            <a:ext cx="1965960" cy="457200"/>
          </a:xfrm>
          <a:prstGeom prst="roundRect">
            <a:avLst>
              <a:gd name="adj" fmla="val 16000"/>
            </a:avLst>
          </a:prstGeom>
          <a:solidFill>
            <a:srgbClr val="1C2743"/>
          </a:solidFill>
          <a:ln w="12700">
            <a:solidFill>
              <a:srgbClr val="1C2743"/>
            </a:solidFill>
            <a:prstDash val="solid"/>
          </a:ln>
        </p:spPr>
      </p:sp>
      <p:sp>
        <p:nvSpPr>
          <p:cNvPr id="28" name="Text 26"/>
          <p:cNvSpPr txBox="1"/>
          <p:nvPr/>
        </p:nvSpPr>
        <p:spPr>
          <a:xfrm>
            <a:off x="4663440" y="3355848"/>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R7 Fallback abuse</a:t>
            </a:r>
            <a:endParaRPr lang="en-US" sz="1050" dirty="0"/>
          </a:p>
        </p:txBody>
      </p:sp>
      <p:sp>
        <p:nvSpPr>
          <p:cNvPr id="29" name="Shape 27"/>
          <p:cNvSpPr/>
          <p:nvPr/>
        </p:nvSpPr>
        <p:spPr>
          <a:xfrm>
            <a:off x="6766560" y="3355848"/>
            <a:ext cx="1965960" cy="457200"/>
          </a:xfrm>
          <a:prstGeom prst="roundRect">
            <a:avLst>
              <a:gd name="adj" fmla="val 16000"/>
            </a:avLst>
          </a:prstGeom>
          <a:solidFill>
            <a:srgbClr val="1C2743"/>
          </a:solidFill>
          <a:ln w="12700">
            <a:solidFill>
              <a:srgbClr val="1C2743"/>
            </a:solidFill>
            <a:prstDash val="solid"/>
          </a:ln>
        </p:spPr>
      </p:sp>
      <p:sp>
        <p:nvSpPr>
          <p:cNvPr id="30" name="Text 28"/>
          <p:cNvSpPr txBox="1"/>
          <p:nvPr/>
        </p:nvSpPr>
        <p:spPr>
          <a:xfrm>
            <a:off x="6766560" y="3355848"/>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R8 Robot regularity</a:t>
            </a:r>
            <a:endParaRPr lang="en-US" sz="1050" dirty="0"/>
          </a:p>
        </p:txBody>
      </p:sp>
      <p:sp>
        <p:nvSpPr>
          <p:cNvPr id="31" name="Shape 29"/>
          <p:cNvSpPr/>
          <p:nvPr/>
        </p:nvSpPr>
        <p:spPr>
          <a:xfrm>
            <a:off x="457200" y="3922776"/>
            <a:ext cx="1965960" cy="457200"/>
          </a:xfrm>
          <a:prstGeom prst="roundRect">
            <a:avLst>
              <a:gd name="adj" fmla="val 16000"/>
            </a:avLst>
          </a:prstGeom>
          <a:solidFill>
            <a:srgbClr val="1C2743"/>
          </a:solidFill>
          <a:ln w="12700">
            <a:solidFill>
              <a:srgbClr val="1C2743"/>
            </a:solidFill>
            <a:prstDash val="solid"/>
          </a:ln>
        </p:spPr>
      </p:sp>
      <p:sp>
        <p:nvSpPr>
          <p:cNvPr id="32" name="Text 30"/>
          <p:cNvSpPr txBox="1"/>
          <p:nvPr/>
        </p:nvSpPr>
        <p:spPr>
          <a:xfrm>
            <a:off x="457200" y="3922776"/>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R9 Device anomaly</a:t>
            </a:r>
            <a:endParaRPr lang="en-US" sz="1050" dirty="0"/>
          </a:p>
        </p:txBody>
      </p:sp>
      <p:sp>
        <p:nvSpPr>
          <p:cNvPr id="33" name="Shape 31"/>
          <p:cNvSpPr/>
          <p:nvPr/>
        </p:nvSpPr>
        <p:spPr>
          <a:xfrm>
            <a:off x="2560320" y="3922776"/>
            <a:ext cx="1965960" cy="457200"/>
          </a:xfrm>
          <a:prstGeom prst="roundRect">
            <a:avLst>
              <a:gd name="adj" fmla="val 16000"/>
            </a:avLst>
          </a:prstGeom>
          <a:solidFill>
            <a:srgbClr val="1C2743"/>
          </a:solidFill>
          <a:ln w="12700">
            <a:solidFill>
              <a:srgbClr val="1C2743"/>
            </a:solidFill>
            <a:prstDash val="solid"/>
          </a:ln>
        </p:spPr>
      </p:sp>
      <p:sp>
        <p:nvSpPr>
          <p:cNvPr id="34" name="Text 32"/>
          <p:cNvSpPr txBox="1"/>
          <p:nvPr/>
        </p:nvSpPr>
        <p:spPr>
          <a:xfrm>
            <a:off x="2560320" y="3922776"/>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R10 Orphan punches</a:t>
            </a:r>
            <a:endParaRPr lang="en-US" sz="1050" dirty="0"/>
          </a:p>
        </p:txBody>
      </p:sp>
      <p:sp>
        <p:nvSpPr>
          <p:cNvPr id="35" name="Shape 33"/>
          <p:cNvSpPr/>
          <p:nvPr/>
        </p:nvSpPr>
        <p:spPr>
          <a:xfrm>
            <a:off x="4663440" y="3922776"/>
            <a:ext cx="1965960" cy="457200"/>
          </a:xfrm>
          <a:prstGeom prst="roundRect">
            <a:avLst>
              <a:gd name="adj" fmla="val 16000"/>
            </a:avLst>
          </a:prstGeom>
          <a:solidFill>
            <a:srgbClr val="1C2743"/>
          </a:solidFill>
          <a:ln w="12700">
            <a:solidFill>
              <a:srgbClr val="1C2743"/>
            </a:solidFill>
            <a:prstDash val="solid"/>
          </a:ln>
        </p:spPr>
      </p:sp>
      <p:sp>
        <p:nvSpPr>
          <p:cNvPr id="36" name="Text 34"/>
          <p:cNvSpPr txBox="1"/>
          <p:nvPr/>
        </p:nvSpPr>
        <p:spPr>
          <a:xfrm>
            <a:off x="4663440" y="3922776"/>
            <a:ext cx="1965960" cy="457200"/>
          </a:xfrm>
          <a:prstGeom prst="rect">
            <a:avLst/>
          </a:prstGeom>
          <a:noFill/>
          <a:ln/>
        </p:spPr>
        <p:txBody>
          <a:bodyPr wrap="square" lIns="508" tIns="508" rIns="508" bIns="508" rtlCol="0" anchor="ctr"/>
          <a:lstStyle/>
          <a:p>
            <a:pPr algn="ctr" indent="0" marL="0">
              <a:buNone/>
            </a:pPr>
            <a:r>
              <a:rPr lang="en-US" sz="1050" dirty="0">
                <a:solidFill>
                  <a:srgbClr val="E6EAF2"/>
                </a:solidFill>
                <a:latin typeface="Calibri" pitchFamily="34" charset="0"/>
                <a:ea typeface="Calibri" pitchFamily="34" charset="-122"/>
                <a:cs typeface="Calibri" pitchFamily="34" charset="-120"/>
              </a:rPr>
              <a:t>R11 Conflicted decision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How I know it works</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Every change runs every check, on every push</a:t>
            </a:r>
            <a:endParaRPr lang="en-US" sz="1400" dirty="0"/>
          </a:p>
        </p:txBody>
      </p:sp>
      <p:sp>
        <p:nvSpPr>
          <p:cNvPr id="4" name="Text 2"/>
          <p:cNvSpPr txBox="1"/>
          <p:nvPr/>
        </p:nvSpPr>
        <p:spPr>
          <a:xfrm>
            <a:off x="457200" y="1417320"/>
            <a:ext cx="2011680" cy="822960"/>
          </a:xfrm>
          <a:prstGeom prst="rect">
            <a:avLst/>
          </a:prstGeom>
          <a:noFill/>
          <a:ln/>
        </p:spPr>
        <p:txBody>
          <a:bodyPr wrap="square" lIns="0" tIns="0" rIns="0" bIns="0" rtlCol="0" anchor="ctr"/>
          <a:lstStyle/>
          <a:p>
            <a:pPr algn="ctr" indent="0" marL="0">
              <a:buNone/>
            </a:pPr>
            <a:r>
              <a:rPr lang="en-US" sz="4000" b="1" dirty="0">
                <a:solidFill>
                  <a:srgbClr val="13213A"/>
                </a:solidFill>
                <a:latin typeface="Calibri" pitchFamily="34" charset="0"/>
                <a:ea typeface="Calibri" pitchFamily="34" charset="-122"/>
                <a:cs typeface="Calibri" pitchFamily="34" charset="-120"/>
              </a:rPr>
              <a:t>897</a:t>
            </a:r>
            <a:endParaRPr lang="en-US" sz="4000" dirty="0"/>
          </a:p>
        </p:txBody>
      </p:sp>
      <p:sp>
        <p:nvSpPr>
          <p:cNvPr id="5" name="Text 3"/>
          <p:cNvSpPr txBox="1"/>
          <p:nvPr/>
        </p:nvSpPr>
        <p:spPr>
          <a:xfrm>
            <a:off x="457200" y="2240280"/>
            <a:ext cx="2011680" cy="457200"/>
          </a:xfrm>
          <a:prstGeom prst="rect">
            <a:avLst/>
          </a:prstGeom>
          <a:noFill/>
          <a:ln/>
        </p:spPr>
        <p:txBody>
          <a:bodyPr wrap="square" lIns="0" tIns="0" rIns="0" bIns="0" rtlCol="0" anchor="t"/>
          <a:lstStyle/>
          <a:p>
            <a:pPr algn="ctr" indent="0" marL="0">
              <a:buNone/>
            </a:pPr>
            <a:r>
              <a:rPr lang="en-US" sz="1200" dirty="0">
                <a:solidFill>
                  <a:srgbClr val="66708A"/>
                </a:solidFill>
                <a:latin typeface="Calibri" pitchFamily="34" charset="0"/>
                <a:ea typeface="Calibri" pitchFamily="34" charset="-122"/>
                <a:cs typeface="Calibri" pitchFamily="34" charset="-120"/>
              </a:rPr>
              <a:t>API checks</a:t>
            </a:r>
            <a:endParaRPr lang="en-US" sz="1200" dirty="0"/>
          </a:p>
        </p:txBody>
      </p:sp>
      <p:sp>
        <p:nvSpPr>
          <p:cNvPr id="6" name="Text 4"/>
          <p:cNvSpPr txBox="1"/>
          <p:nvPr/>
        </p:nvSpPr>
        <p:spPr>
          <a:xfrm>
            <a:off x="2514600" y="1417320"/>
            <a:ext cx="2011680" cy="822960"/>
          </a:xfrm>
          <a:prstGeom prst="rect">
            <a:avLst/>
          </a:prstGeom>
          <a:noFill/>
          <a:ln/>
        </p:spPr>
        <p:txBody>
          <a:bodyPr wrap="square" lIns="0" tIns="0" rIns="0" bIns="0" rtlCol="0" anchor="ctr"/>
          <a:lstStyle/>
          <a:p>
            <a:pPr algn="ctr" indent="0" marL="0">
              <a:buNone/>
            </a:pPr>
            <a:r>
              <a:rPr lang="en-US" sz="4000" b="1" dirty="0">
                <a:solidFill>
                  <a:srgbClr val="13213A"/>
                </a:solidFill>
                <a:latin typeface="Calibri" pitchFamily="34" charset="0"/>
                <a:ea typeface="Calibri" pitchFamily="34" charset="-122"/>
                <a:cs typeface="Calibri" pitchFamily="34" charset="-120"/>
              </a:rPr>
              <a:t>383</a:t>
            </a:r>
            <a:endParaRPr lang="en-US" sz="4000" dirty="0"/>
          </a:p>
        </p:txBody>
      </p:sp>
      <p:sp>
        <p:nvSpPr>
          <p:cNvPr id="7" name="Text 5"/>
          <p:cNvSpPr txBox="1"/>
          <p:nvPr/>
        </p:nvSpPr>
        <p:spPr>
          <a:xfrm>
            <a:off x="2514600" y="2240280"/>
            <a:ext cx="2011680" cy="457200"/>
          </a:xfrm>
          <a:prstGeom prst="rect">
            <a:avLst/>
          </a:prstGeom>
          <a:noFill/>
          <a:ln/>
        </p:spPr>
        <p:txBody>
          <a:bodyPr wrap="square" lIns="0" tIns="0" rIns="0" bIns="0" rtlCol="0" anchor="t"/>
          <a:lstStyle/>
          <a:p>
            <a:pPr algn="ctr" indent="0" marL="0">
              <a:buNone/>
            </a:pPr>
            <a:r>
              <a:rPr lang="en-US" sz="1200" dirty="0">
                <a:solidFill>
                  <a:srgbClr val="66708A"/>
                </a:solidFill>
                <a:latin typeface="Calibri" pitchFamily="34" charset="0"/>
                <a:ea typeface="Calibri" pitchFamily="34" charset="-122"/>
                <a:cs typeface="Calibri" pitchFamily="34" charset="-120"/>
              </a:rPr>
              <a:t>dashboard checks</a:t>
            </a:r>
            <a:endParaRPr lang="en-US" sz="1200" dirty="0"/>
          </a:p>
        </p:txBody>
      </p:sp>
      <p:sp>
        <p:nvSpPr>
          <p:cNvPr id="8" name="Text 6"/>
          <p:cNvSpPr txBox="1"/>
          <p:nvPr/>
        </p:nvSpPr>
        <p:spPr>
          <a:xfrm>
            <a:off x="4572000" y="1417320"/>
            <a:ext cx="2011680" cy="822960"/>
          </a:xfrm>
          <a:prstGeom prst="rect">
            <a:avLst/>
          </a:prstGeom>
          <a:noFill/>
          <a:ln/>
        </p:spPr>
        <p:txBody>
          <a:bodyPr wrap="square" lIns="0" tIns="0" rIns="0" bIns="0" rtlCol="0" anchor="ctr"/>
          <a:lstStyle/>
          <a:p>
            <a:pPr algn="ctr" indent="0" marL="0">
              <a:buNone/>
            </a:pPr>
            <a:r>
              <a:rPr lang="en-US" sz="4000" b="1" dirty="0">
                <a:solidFill>
                  <a:srgbClr val="13213A"/>
                </a:solidFill>
                <a:latin typeface="Calibri" pitchFamily="34" charset="0"/>
                <a:ea typeface="Calibri" pitchFamily="34" charset="-122"/>
                <a:cs typeface="Calibri" pitchFamily="34" charset="-120"/>
              </a:rPr>
              <a:t>106</a:t>
            </a:r>
            <a:endParaRPr lang="en-US" sz="4000" dirty="0"/>
          </a:p>
        </p:txBody>
      </p:sp>
      <p:sp>
        <p:nvSpPr>
          <p:cNvPr id="9" name="Text 7"/>
          <p:cNvSpPr txBox="1"/>
          <p:nvPr/>
        </p:nvSpPr>
        <p:spPr>
          <a:xfrm>
            <a:off x="4572000" y="2240280"/>
            <a:ext cx="2011680" cy="457200"/>
          </a:xfrm>
          <a:prstGeom prst="rect">
            <a:avLst/>
          </a:prstGeom>
          <a:noFill/>
          <a:ln/>
        </p:spPr>
        <p:txBody>
          <a:bodyPr wrap="square" lIns="0" tIns="0" rIns="0" bIns="0" rtlCol="0" anchor="t"/>
          <a:lstStyle/>
          <a:p>
            <a:pPr algn="ctr" indent="0" marL="0">
              <a:buNone/>
            </a:pPr>
            <a:r>
              <a:rPr lang="en-US" sz="1200" dirty="0">
                <a:solidFill>
                  <a:srgbClr val="66708A"/>
                </a:solidFill>
                <a:latin typeface="Calibri" pitchFamily="34" charset="0"/>
                <a:ea typeface="Calibri" pitchFamily="34" charset="-122"/>
                <a:cs typeface="Calibri" pitchFamily="34" charset="-120"/>
              </a:rPr>
              <a:t>kiosk checks</a:t>
            </a:r>
            <a:endParaRPr lang="en-US" sz="1200" dirty="0"/>
          </a:p>
        </p:txBody>
      </p:sp>
      <p:sp>
        <p:nvSpPr>
          <p:cNvPr id="10" name="Text 8"/>
          <p:cNvSpPr txBox="1"/>
          <p:nvPr/>
        </p:nvSpPr>
        <p:spPr>
          <a:xfrm>
            <a:off x="6629400" y="1417320"/>
            <a:ext cx="2011680" cy="822960"/>
          </a:xfrm>
          <a:prstGeom prst="rect">
            <a:avLst/>
          </a:prstGeom>
          <a:noFill/>
          <a:ln/>
        </p:spPr>
        <p:txBody>
          <a:bodyPr wrap="square" lIns="0" tIns="0" rIns="0" bIns="0" rtlCol="0" anchor="ctr"/>
          <a:lstStyle/>
          <a:p>
            <a:pPr algn="ctr" indent="0" marL="0">
              <a:buNone/>
            </a:pPr>
            <a:r>
              <a:rPr lang="en-US" sz="4000" b="1" dirty="0">
                <a:solidFill>
                  <a:srgbClr val="13213A"/>
                </a:solidFill>
                <a:latin typeface="Calibri" pitchFamily="34" charset="0"/>
                <a:ea typeface="Calibri" pitchFamily="34" charset="-122"/>
                <a:cs typeface="Calibri" pitchFamily="34" charset="-120"/>
              </a:rPr>
              <a:t>35</a:t>
            </a:r>
            <a:endParaRPr lang="en-US" sz="4000" dirty="0"/>
          </a:p>
        </p:txBody>
      </p:sp>
      <p:sp>
        <p:nvSpPr>
          <p:cNvPr id="11" name="Text 9"/>
          <p:cNvSpPr txBox="1"/>
          <p:nvPr/>
        </p:nvSpPr>
        <p:spPr>
          <a:xfrm>
            <a:off x="6629400" y="2240280"/>
            <a:ext cx="2011680" cy="457200"/>
          </a:xfrm>
          <a:prstGeom prst="rect">
            <a:avLst/>
          </a:prstGeom>
          <a:noFill/>
          <a:ln/>
        </p:spPr>
        <p:txBody>
          <a:bodyPr wrap="square" lIns="0" tIns="0" rIns="0" bIns="0" rtlCol="0" anchor="t"/>
          <a:lstStyle/>
          <a:p>
            <a:pPr algn="ctr" indent="0" marL="0">
              <a:buNone/>
            </a:pPr>
            <a:r>
              <a:rPr lang="en-US" sz="1200" dirty="0">
                <a:solidFill>
                  <a:srgbClr val="66708A"/>
                </a:solidFill>
                <a:latin typeface="Calibri" pitchFamily="34" charset="0"/>
                <a:ea typeface="Calibri" pitchFamily="34" charset="-122"/>
                <a:cs typeface="Calibri" pitchFamily="34" charset="-120"/>
              </a:rPr>
              <a:t>gateway checks</a:t>
            </a:r>
            <a:endParaRPr lang="en-US" sz="1200" dirty="0"/>
          </a:p>
        </p:txBody>
      </p:sp>
      <p:sp>
        <p:nvSpPr>
          <p:cNvPr id="12" name="Shape 10"/>
          <p:cNvSpPr/>
          <p:nvPr/>
        </p:nvSpPr>
        <p:spPr>
          <a:xfrm>
            <a:off x="457200" y="2880360"/>
            <a:ext cx="3977640" cy="1554480"/>
          </a:xfrm>
          <a:prstGeom prst="roundRect">
            <a:avLst>
              <a:gd name="adj" fmla="val 7059"/>
            </a:avLst>
          </a:prstGeom>
          <a:solidFill>
            <a:srgbClr val="EEF0F4"/>
          </a:solidFill>
          <a:ln w="12700">
            <a:solidFill>
              <a:srgbClr val="EEF0F4"/>
            </a:solidFill>
            <a:prstDash val="solid"/>
          </a:ln>
        </p:spPr>
      </p:sp>
      <p:sp>
        <p:nvSpPr>
          <p:cNvPr id="13" name="Text 11"/>
          <p:cNvSpPr txBox="1"/>
          <p:nvPr/>
        </p:nvSpPr>
        <p:spPr>
          <a:xfrm>
            <a:off x="658368" y="308152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Tested to the pesewa</a:t>
            </a:r>
            <a:endParaRPr lang="en-US" sz="1600" dirty="0"/>
          </a:p>
        </p:txBody>
      </p:sp>
      <p:sp>
        <p:nvSpPr>
          <p:cNvPr id="14" name="Text 12"/>
          <p:cNvSpPr txBox="1"/>
          <p:nvPr/>
        </p:nvSpPr>
        <p:spPr>
          <a:xfrm>
            <a:off x="658368" y="3465576"/>
            <a:ext cx="3575304" cy="859536"/>
          </a:xfrm>
          <a:prstGeom prst="rect">
            <a:avLst/>
          </a:prstGeom>
          <a:noFill/>
          <a:ln/>
        </p:spPr>
        <p:txBody>
          <a:bodyPr wrap="square" lIns="0" tIns="0" rIns="0" bIns="0" rtlCol="0" anchor="t"/>
          <a:lstStyle/>
          <a:p>
            <a:pPr indent="0" marL="0">
              <a:buNone/>
            </a:pPr>
            <a:r>
              <a:rPr lang="en-US" sz="1250" dirty="0">
                <a:solidFill>
                  <a:srgbClr val="66708A"/>
                </a:solidFill>
                <a:latin typeface="Calibri" pitchFamily="34" charset="0"/>
                <a:ea typeface="Calibri" pitchFamily="34" charset="-122"/>
                <a:cs typeface="Calibri" pitchFamily="34" charset="-120"/>
              </a:rPr>
              <a:t>Payroll is checked against payslips worked out by hand. The database rules are proved against a real PostgreSQL, not a mock.</a:t>
            </a:r>
            <a:endParaRPr lang="en-US" sz="1250" dirty="0"/>
          </a:p>
        </p:txBody>
      </p:sp>
      <p:sp>
        <p:nvSpPr>
          <p:cNvPr id="15" name="Shape 13"/>
          <p:cNvSpPr/>
          <p:nvPr/>
        </p:nvSpPr>
        <p:spPr>
          <a:xfrm>
            <a:off x="4709160" y="2880360"/>
            <a:ext cx="3977640" cy="1554480"/>
          </a:xfrm>
          <a:prstGeom prst="roundRect">
            <a:avLst>
              <a:gd name="adj" fmla="val 7059"/>
            </a:avLst>
          </a:prstGeom>
          <a:solidFill>
            <a:srgbClr val="EEF0F4"/>
          </a:solidFill>
          <a:ln w="12700">
            <a:solidFill>
              <a:srgbClr val="EEF0F4"/>
            </a:solidFill>
            <a:prstDash val="solid"/>
          </a:ln>
        </p:spPr>
      </p:sp>
      <p:sp>
        <p:nvSpPr>
          <p:cNvPr id="16" name="Text 14"/>
          <p:cNvSpPr txBox="1"/>
          <p:nvPr/>
        </p:nvSpPr>
        <p:spPr>
          <a:xfrm>
            <a:off x="4910328" y="3081528"/>
            <a:ext cx="3575304" cy="384048"/>
          </a:xfrm>
          <a:prstGeom prst="rect">
            <a:avLst/>
          </a:prstGeom>
          <a:noFill/>
          <a:ln/>
        </p:spPr>
        <p:txBody>
          <a:bodyPr wrap="square" lIns="0" tIns="0" rIns="0" bIns="0" rtlCol="0" anchor="t"/>
          <a:lstStyle/>
          <a:p>
            <a:pPr indent="0" marL="0">
              <a:buNone/>
            </a:pPr>
            <a:r>
              <a:rPr lang="en-US" sz="1600" b="1" dirty="0">
                <a:solidFill>
                  <a:srgbClr val="1D2433"/>
                </a:solidFill>
                <a:latin typeface="Calibri" pitchFamily="34" charset="0"/>
                <a:ea typeface="Calibri" pitchFamily="34" charset="-122"/>
                <a:cs typeface="Calibri" pitchFamily="34" charset="-120"/>
              </a:rPr>
              <a:t>Four reviews per phase</a:t>
            </a:r>
            <a:endParaRPr lang="en-US" sz="1600" dirty="0"/>
          </a:p>
        </p:txBody>
      </p:sp>
      <p:sp>
        <p:nvSpPr>
          <p:cNvPr id="17" name="Text 15"/>
          <p:cNvSpPr txBox="1"/>
          <p:nvPr/>
        </p:nvSpPr>
        <p:spPr>
          <a:xfrm>
            <a:off x="4910328" y="3465576"/>
            <a:ext cx="3575304" cy="859536"/>
          </a:xfrm>
          <a:prstGeom prst="rect">
            <a:avLst/>
          </a:prstGeom>
          <a:noFill/>
          <a:ln/>
        </p:spPr>
        <p:txBody>
          <a:bodyPr wrap="square" lIns="0" tIns="0" rIns="0" bIns="0" rtlCol="0" anchor="t"/>
          <a:lstStyle/>
          <a:p>
            <a:pPr indent="0" marL="0">
              <a:buNone/>
            </a:pPr>
            <a:r>
              <a:rPr lang="en-US" sz="1200" dirty="0">
                <a:solidFill>
                  <a:srgbClr val="66708A"/>
                </a:solidFill>
                <a:latin typeface="Calibri" pitchFamily="34" charset="0"/>
                <a:ea typeface="Calibri" pitchFamily="34" charset="-122"/>
                <a:cs typeface="Calibri" pitchFamily="34" charset="-120"/>
              </a:rPr>
              <a:t>Architecture, code quality, full-stack and security. Each serious finding was handed to a sceptic told to refute it. The whole-system review found twenty real problems; all twenty are fixed, each with a test.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limits, named by me first</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C9D1E0"/>
                </a:solidFill>
                <a:latin typeface="Calibri" pitchFamily="34" charset="0"/>
                <a:ea typeface="Calibri" pitchFamily="34" charset="-122"/>
                <a:cs typeface="Calibri" pitchFamily="34" charset="-120"/>
              </a:rPr>
              <a:t>Each one is written down with its numbers</a:t>
            </a:r>
            <a:endParaRPr lang="en-US" sz="1400" dirty="0"/>
          </a:p>
        </p:txBody>
      </p:sp>
      <p:sp>
        <p:nvSpPr>
          <p:cNvPr id="4" name="Shape 2"/>
          <p:cNvSpPr/>
          <p:nvPr/>
        </p:nvSpPr>
        <p:spPr>
          <a:xfrm>
            <a:off x="457200" y="1417320"/>
            <a:ext cx="3977640" cy="1417320"/>
          </a:xfrm>
          <a:prstGeom prst="roundRect">
            <a:avLst>
              <a:gd name="adj" fmla="val 7742"/>
            </a:avLst>
          </a:prstGeom>
          <a:solidFill>
            <a:srgbClr val="1C2743"/>
          </a:solidFill>
          <a:ln w="12700">
            <a:solidFill>
              <a:srgbClr val="1C2743"/>
            </a:solidFill>
            <a:prstDash val="solid"/>
          </a:ln>
        </p:spPr>
      </p:sp>
      <p:sp>
        <p:nvSpPr>
          <p:cNvPr id="5" name="Text 3"/>
          <p:cNvSpPr txBox="1"/>
          <p:nvPr/>
        </p:nvSpPr>
        <p:spPr>
          <a:xfrm>
            <a:off x="658368" y="16184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printed photo, not a good mask</a:t>
            </a:r>
            <a:endParaRPr lang="en-US" sz="1600" dirty="0"/>
          </a:p>
        </p:txBody>
      </p:sp>
      <p:sp>
        <p:nvSpPr>
          <p:cNvPr id="6" name="Text 4"/>
          <p:cNvSpPr txBox="1"/>
          <p:nvPr/>
        </p:nvSpPr>
        <p:spPr>
          <a:xfrm>
            <a:off x="658368" y="2002536"/>
            <a:ext cx="3575304" cy="7223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The browser's anti-spoofing stops a photograph. Production uses infrared terminals for more.</a:t>
            </a:r>
            <a:endParaRPr lang="en-US" sz="1200" dirty="0"/>
          </a:p>
        </p:txBody>
      </p:sp>
      <p:sp>
        <p:nvSpPr>
          <p:cNvPr id="7" name="Shape 5"/>
          <p:cNvSpPr/>
          <p:nvPr/>
        </p:nvSpPr>
        <p:spPr>
          <a:xfrm>
            <a:off x="4709160" y="1417320"/>
            <a:ext cx="3977640" cy="1417320"/>
          </a:xfrm>
          <a:prstGeom prst="roundRect">
            <a:avLst>
              <a:gd name="adj" fmla="val 7742"/>
            </a:avLst>
          </a:prstGeom>
          <a:solidFill>
            <a:srgbClr val="1C2743"/>
          </a:solidFill>
          <a:ln w="12700">
            <a:solidFill>
              <a:srgbClr val="1C2743"/>
            </a:solidFill>
            <a:prstDash val="solid"/>
          </a:ln>
        </p:spPr>
      </p:sp>
      <p:sp>
        <p:nvSpPr>
          <p:cNvPr id="8" name="Text 6"/>
          <p:cNvSpPr txBox="1"/>
          <p:nvPr/>
        </p:nvSpPr>
        <p:spPr>
          <a:xfrm>
            <a:off x="4910328" y="16184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fingerprint cannot say whose</a:t>
            </a:r>
            <a:endParaRPr lang="en-US" sz="1600" dirty="0"/>
          </a:p>
        </p:txBody>
      </p:sp>
      <p:sp>
        <p:nvSpPr>
          <p:cNvPr id="9" name="Text 7"/>
          <p:cNvSpPr txBox="1"/>
          <p:nvPr/>
        </p:nvSpPr>
        <p:spPr>
          <a:xfrm>
            <a:off x="4910328" y="2002536"/>
            <a:ext cx="3575304" cy="7223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A device fingerprint proves a finger the phone knows, not which person. So it is never used alone.</a:t>
            </a:r>
            <a:endParaRPr lang="en-US" sz="1200" dirty="0"/>
          </a:p>
        </p:txBody>
      </p:sp>
      <p:sp>
        <p:nvSpPr>
          <p:cNvPr id="10" name="Shape 8"/>
          <p:cNvSpPr/>
          <p:nvPr/>
        </p:nvSpPr>
        <p:spPr>
          <a:xfrm>
            <a:off x="457200" y="3017520"/>
            <a:ext cx="3977640" cy="1417320"/>
          </a:xfrm>
          <a:prstGeom prst="roundRect">
            <a:avLst>
              <a:gd name="adj" fmla="val 7742"/>
            </a:avLst>
          </a:prstGeom>
          <a:solidFill>
            <a:srgbClr val="1C2743"/>
          </a:solidFill>
          <a:ln w="12700">
            <a:solidFill>
              <a:srgbClr val="1C2743"/>
            </a:solidFill>
            <a:prstDash val="solid"/>
          </a:ln>
        </p:spPr>
      </p:sp>
      <p:sp>
        <p:nvSpPr>
          <p:cNvPr id="11" name="Text 9"/>
          <p:cNvSpPr txBox="1"/>
          <p:nvPr/>
        </p:nvSpPr>
        <p:spPr>
          <a:xfrm>
            <a:off x="658368" y="32186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Identical twins</a:t>
            </a:r>
            <a:endParaRPr lang="en-US" sz="1600" dirty="0"/>
          </a:p>
        </p:txBody>
      </p:sp>
      <p:sp>
        <p:nvSpPr>
          <p:cNvPr id="12" name="Text 10"/>
          <p:cNvSpPr txBox="1"/>
          <p:nvPr/>
        </p:nvSpPr>
        <p:spPr>
          <a:xfrm>
            <a:off x="658368" y="3602736"/>
            <a:ext cx="3575304" cy="7223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They can defeat any face threshold; we measured it. The answer is a second factor, not a bigger number.</a:t>
            </a:r>
            <a:endParaRPr lang="en-US" sz="1200" dirty="0"/>
          </a:p>
        </p:txBody>
      </p:sp>
      <p:sp>
        <p:nvSpPr>
          <p:cNvPr id="13" name="Shape 11"/>
          <p:cNvSpPr/>
          <p:nvPr/>
        </p:nvSpPr>
        <p:spPr>
          <a:xfrm>
            <a:off x="4709160" y="3017520"/>
            <a:ext cx="3977640" cy="1417320"/>
          </a:xfrm>
          <a:prstGeom prst="roundRect">
            <a:avLst>
              <a:gd name="adj" fmla="val 7742"/>
            </a:avLst>
          </a:prstGeom>
          <a:solidFill>
            <a:srgbClr val="1C2743"/>
          </a:solidFill>
          <a:ln w="12700">
            <a:solidFill>
              <a:srgbClr val="1C2743"/>
            </a:solidFill>
            <a:prstDash val="solid"/>
          </a:ln>
        </p:spPr>
      </p:sp>
      <p:sp>
        <p:nvSpPr>
          <p:cNvPr id="14" name="Text 12"/>
          <p:cNvSpPr txBox="1"/>
          <p:nvPr/>
        </p:nvSpPr>
        <p:spPr>
          <a:xfrm>
            <a:off x="4910328" y="3218688"/>
            <a:ext cx="3575304" cy="3840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pilot is still owed</a:t>
            </a:r>
            <a:endParaRPr lang="en-US" sz="1600" dirty="0"/>
          </a:p>
        </p:txBody>
      </p:sp>
      <p:sp>
        <p:nvSpPr>
          <p:cNvPr id="15" name="Text 13"/>
          <p:cNvSpPr txBox="1"/>
          <p:nvPr/>
        </p:nvSpPr>
        <p:spPr>
          <a:xfrm>
            <a:off x="4910328" y="3602736"/>
            <a:ext cx="3575304" cy="722376"/>
          </a:xfrm>
          <a:prstGeom prst="rect">
            <a:avLst/>
          </a:prstGeom>
          <a:noFill/>
          <a:ln/>
        </p:spPr>
        <p:txBody>
          <a:bodyPr wrap="square" lIns="0" tIns="0" rIns="0" bIns="0" rtlCol="0" anchor="t"/>
          <a:lstStyle/>
          <a:p>
            <a:pPr indent="0" marL="0">
              <a:buNone/>
            </a:pPr>
            <a:r>
              <a:rPr lang="en-US" sz="1200" dirty="0">
                <a:solidFill>
                  <a:srgbClr val="C9D1E0"/>
                </a:solidFill>
                <a:latin typeface="Calibri" pitchFamily="34" charset="0"/>
                <a:ea typeface="Calibri" pitchFamily="34" charset="-122"/>
                <a:cs typeface="Calibri" pitchFamily="34" charset="-120"/>
              </a:rPr>
              <a:t>The face thresholds need real volunteers before a paying client. Every number quoted comes from a run anyone can repeat.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People's data</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What is kept, what is never kept, and for how long</a:t>
            </a:r>
            <a:endParaRPr lang="en-US" sz="1400" dirty="0"/>
          </a:p>
        </p:txBody>
      </p:sp>
      <p:sp>
        <p:nvSpPr>
          <p:cNvPr id="4" name="Shape 2"/>
          <p:cNvSpPr/>
          <p:nvPr/>
        </p:nvSpPr>
        <p:spPr>
          <a:xfrm>
            <a:off x="457200" y="1508760"/>
            <a:ext cx="347472" cy="347472"/>
          </a:xfrm>
          <a:prstGeom prst="ellipse">
            <a:avLst/>
          </a:prstGeom>
          <a:solidFill>
            <a:srgbClr val="E8B542"/>
          </a:solidFill>
          <a:ln w="12700">
            <a:solidFill>
              <a:srgbClr val="E8B542"/>
            </a:solidFill>
            <a:prstDash val="solid"/>
          </a:ln>
        </p:spPr>
      </p:sp>
      <p:sp>
        <p:nvSpPr>
          <p:cNvPr id="5" name="Text 3"/>
          <p:cNvSpPr txBox="1"/>
          <p:nvPr/>
        </p:nvSpPr>
        <p:spPr>
          <a:xfrm>
            <a:off x="457200" y="1508760"/>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960120" y="1417320"/>
            <a:ext cx="2743200" cy="548640"/>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Templates, never photos</a:t>
            </a:r>
            <a:endParaRPr lang="en-US" sz="1400" dirty="0"/>
          </a:p>
        </p:txBody>
      </p:sp>
      <p:sp>
        <p:nvSpPr>
          <p:cNvPr id="7" name="Text 5"/>
          <p:cNvSpPr txBox="1"/>
          <p:nvPr/>
        </p:nvSpPr>
        <p:spPr>
          <a:xfrm>
            <a:off x="3794760" y="1417320"/>
            <a:ext cx="4892040" cy="548640"/>
          </a:xfrm>
          <a:prstGeom prst="rect">
            <a:avLst/>
          </a:prstGeom>
          <a:noFill/>
          <a:ln/>
        </p:spPr>
        <p:txBody>
          <a:bodyPr wrap="square" lIns="0" tIns="0" rIns="0" bIns="0" rtlCol="0" anchor="ctr"/>
          <a:lstStyle/>
          <a:p>
            <a:pPr indent="0" marL="0">
              <a:buNone/>
            </a:pPr>
            <a:r>
              <a:rPr lang="en-US" sz="1200" dirty="0">
                <a:solidFill>
                  <a:srgbClr val="66708A"/>
                </a:solidFill>
                <a:latin typeface="Calibri" pitchFamily="34" charset="0"/>
                <a:ea typeface="Calibri" pitchFamily="34" charset="-122"/>
                <a:cs typeface="Calibri" pitchFamily="34" charset="-120"/>
              </a:rPr>
              <a:t>A face is 1,024 numbers. No image is ever stored, and the numbers are encrypted at rest.</a:t>
            </a:r>
            <a:endParaRPr lang="en-US" sz="1200" dirty="0"/>
          </a:p>
        </p:txBody>
      </p:sp>
      <p:sp>
        <p:nvSpPr>
          <p:cNvPr id="8" name="Shape 6"/>
          <p:cNvSpPr/>
          <p:nvPr/>
        </p:nvSpPr>
        <p:spPr>
          <a:xfrm>
            <a:off x="457200" y="2286000"/>
            <a:ext cx="347472" cy="347472"/>
          </a:xfrm>
          <a:prstGeom prst="ellipse">
            <a:avLst/>
          </a:prstGeom>
          <a:solidFill>
            <a:srgbClr val="E8B542"/>
          </a:solidFill>
          <a:ln w="12700">
            <a:solidFill>
              <a:srgbClr val="E8B542"/>
            </a:solidFill>
            <a:prstDash val="solid"/>
          </a:ln>
        </p:spPr>
      </p:sp>
      <p:sp>
        <p:nvSpPr>
          <p:cNvPr id="9" name="Text 7"/>
          <p:cNvSpPr txBox="1"/>
          <p:nvPr/>
        </p:nvSpPr>
        <p:spPr>
          <a:xfrm>
            <a:off x="457200" y="2286000"/>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960120" y="2194560"/>
            <a:ext cx="2743200" cy="548640"/>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Consent, word for word</a:t>
            </a:r>
            <a:endParaRPr lang="en-US" sz="1400" dirty="0"/>
          </a:p>
        </p:txBody>
      </p:sp>
      <p:sp>
        <p:nvSpPr>
          <p:cNvPr id="11" name="Text 9"/>
          <p:cNvSpPr txBox="1"/>
          <p:nvPr/>
        </p:nvSpPr>
        <p:spPr>
          <a:xfrm>
            <a:off x="3794760" y="2194560"/>
            <a:ext cx="4892040" cy="548640"/>
          </a:xfrm>
          <a:prstGeom prst="rect">
            <a:avLst/>
          </a:prstGeom>
          <a:noFill/>
          <a:ln/>
        </p:spPr>
        <p:txBody>
          <a:bodyPr wrap="square" lIns="0" tIns="0" rIns="0" bIns="0" rtlCol="0" anchor="ctr"/>
          <a:lstStyle/>
          <a:p>
            <a:pPr indent="0" marL="0">
              <a:buNone/>
            </a:pPr>
            <a:r>
              <a:rPr lang="en-US" sz="1200" dirty="0">
                <a:solidFill>
                  <a:srgbClr val="66708A"/>
                </a:solidFill>
                <a:latin typeface="Calibri" pitchFamily="34" charset="0"/>
                <a:ea typeface="Calibri" pitchFamily="34" charset="-122"/>
                <a:cs typeface="Calibri" pitchFamily="34" charset="-120"/>
              </a:rPr>
              <a:t>The exact wording agreed to, its version and its fingerprint, recorded with who took it and where.</a:t>
            </a:r>
            <a:endParaRPr lang="en-US" sz="1200" dirty="0"/>
          </a:p>
        </p:txBody>
      </p:sp>
      <p:sp>
        <p:nvSpPr>
          <p:cNvPr id="12" name="Shape 10"/>
          <p:cNvSpPr/>
          <p:nvPr/>
        </p:nvSpPr>
        <p:spPr>
          <a:xfrm>
            <a:off x="457200" y="3063240"/>
            <a:ext cx="347472" cy="347472"/>
          </a:xfrm>
          <a:prstGeom prst="ellipse">
            <a:avLst/>
          </a:prstGeom>
          <a:solidFill>
            <a:srgbClr val="E8B542"/>
          </a:solidFill>
          <a:ln w="12700">
            <a:solidFill>
              <a:srgbClr val="E8B542"/>
            </a:solidFill>
            <a:prstDash val="solid"/>
          </a:ln>
        </p:spPr>
      </p:sp>
      <p:sp>
        <p:nvSpPr>
          <p:cNvPr id="13" name="Text 11"/>
          <p:cNvSpPr txBox="1"/>
          <p:nvPr/>
        </p:nvSpPr>
        <p:spPr>
          <a:xfrm>
            <a:off x="457200" y="3063240"/>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960120" y="2971800"/>
            <a:ext cx="2743200" cy="548640"/>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Wiped 90 days after leaving</a:t>
            </a:r>
            <a:endParaRPr lang="en-US" sz="1400" dirty="0"/>
          </a:p>
        </p:txBody>
      </p:sp>
      <p:sp>
        <p:nvSpPr>
          <p:cNvPr id="15" name="Text 13"/>
          <p:cNvSpPr txBox="1"/>
          <p:nvPr/>
        </p:nvSpPr>
        <p:spPr>
          <a:xfrm>
            <a:off x="3794760" y="2971800"/>
            <a:ext cx="4892040" cy="548640"/>
          </a:xfrm>
          <a:prstGeom prst="rect">
            <a:avLst/>
          </a:prstGeom>
          <a:noFill/>
          <a:ln/>
        </p:spPr>
        <p:txBody>
          <a:bodyPr wrap="square" lIns="0" tIns="0" rIns="0" bIns="0" rtlCol="0" anchor="ctr"/>
          <a:lstStyle/>
          <a:p>
            <a:pPr indent="0" marL="0">
              <a:buNone/>
            </a:pPr>
            <a:r>
              <a:rPr lang="en-US" sz="1200" dirty="0">
                <a:solidFill>
                  <a:srgbClr val="66708A"/>
                </a:solidFill>
                <a:latin typeface="Calibri" pitchFamily="34" charset="0"/>
                <a:ea typeface="Calibri" pitchFamily="34" charset="-122"/>
                <a:cs typeface="Calibri" pitchFamily="34" charset="-120"/>
              </a:rPr>
              <a:t>A worker's biometrics are deleted on schedule once they leave. Nothing else about their pay is.</a:t>
            </a:r>
            <a:endParaRPr lang="en-US" sz="1200" dirty="0"/>
          </a:p>
        </p:txBody>
      </p:sp>
      <p:sp>
        <p:nvSpPr>
          <p:cNvPr id="16" name="Shape 14"/>
          <p:cNvSpPr/>
          <p:nvPr/>
        </p:nvSpPr>
        <p:spPr>
          <a:xfrm>
            <a:off x="457200" y="3840480"/>
            <a:ext cx="347472" cy="347472"/>
          </a:xfrm>
          <a:prstGeom prst="ellipse">
            <a:avLst/>
          </a:prstGeom>
          <a:solidFill>
            <a:srgbClr val="E8B542"/>
          </a:solidFill>
          <a:ln w="12700">
            <a:solidFill>
              <a:srgbClr val="E8B542"/>
            </a:solidFill>
            <a:prstDash val="solid"/>
          </a:ln>
        </p:spPr>
      </p:sp>
      <p:sp>
        <p:nvSpPr>
          <p:cNvPr id="17" name="Text 15"/>
          <p:cNvSpPr txBox="1"/>
          <p:nvPr/>
        </p:nvSpPr>
        <p:spPr>
          <a:xfrm>
            <a:off x="457200" y="3840480"/>
            <a:ext cx="347472" cy="347472"/>
          </a:xfrm>
          <a:prstGeom prst="rect">
            <a:avLst/>
          </a:prstGeom>
          <a:noFill/>
          <a:ln/>
        </p:spPr>
        <p:txBody>
          <a:bodyPr wrap="square" lIns="0" tIns="0" rIns="0" bIns="0" rtlCol="0" anchor="ctr"/>
          <a:lstStyle/>
          <a:p>
            <a:pPr algn="ctr" indent="0" marL="0">
              <a:buNone/>
            </a:pPr>
            <a:r>
              <a:rPr lang="en-US" sz="1300" b="1" dirty="0">
                <a:solidFill>
                  <a:srgbClr val="13213A"/>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960120" y="3749040"/>
            <a:ext cx="2743200" cy="548640"/>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Logs hold IDs, not people</a:t>
            </a:r>
            <a:endParaRPr lang="en-US" sz="1400" dirty="0"/>
          </a:p>
        </p:txBody>
      </p:sp>
      <p:sp>
        <p:nvSpPr>
          <p:cNvPr id="19" name="Text 17"/>
          <p:cNvSpPr txBox="1"/>
          <p:nvPr/>
        </p:nvSpPr>
        <p:spPr>
          <a:xfrm>
            <a:off x="3794760" y="3749040"/>
            <a:ext cx="4892040" cy="548640"/>
          </a:xfrm>
          <a:prstGeom prst="rect">
            <a:avLst/>
          </a:prstGeom>
          <a:noFill/>
          <a:ln/>
        </p:spPr>
        <p:txBody>
          <a:bodyPr wrap="square" lIns="0" tIns="0" rIns="0" bIns="0" rtlCol="0" anchor="ctr"/>
          <a:lstStyle/>
          <a:p>
            <a:pPr indent="0" marL="0">
              <a:buNone/>
            </a:pPr>
            <a:r>
              <a:rPr lang="en-US" sz="1200" dirty="0">
                <a:solidFill>
                  <a:srgbClr val="66708A"/>
                </a:solidFill>
                <a:latin typeface="Calibri" pitchFamily="34" charset="0"/>
                <a:ea typeface="Calibri" pitchFamily="34" charset="-122"/>
                <a:cs typeface="Calibri" pitchFamily="34" charset="-120"/>
              </a:rPr>
              <a:t>No names, card numbers, tokens or biometrics ever reach a log. Only IDs and a trace number.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rgbClr val="1D2433"/>
                </a:solidFill>
                <a:latin typeface="Calibri" pitchFamily="34" charset="0"/>
                <a:ea typeface="Calibri" pitchFamily="34" charset="-122"/>
                <a:cs typeface="Calibri" pitchFamily="34" charset="-120"/>
              </a:rPr>
              <a:t>What comes next</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66708A"/>
                </a:solidFill>
                <a:latin typeface="Calibri" pitchFamily="34" charset="0"/>
                <a:ea typeface="Calibri" pitchFamily="34" charset="-122"/>
                <a:cs typeface="Calibri" pitchFamily="34" charset="-120"/>
              </a:rPr>
              <a:t>From a working system to a product</a:t>
            </a:r>
            <a:endParaRPr lang="en-US" sz="1400" dirty="0"/>
          </a:p>
        </p:txBody>
      </p:sp>
      <p:sp>
        <p:nvSpPr>
          <p:cNvPr id="4" name="Shape 2"/>
          <p:cNvSpPr/>
          <p:nvPr/>
        </p:nvSpPr>
        <p:spPr>
          <a:xfrm>
            <a:off x="457200" y="1645920"/>
            <a:ext cx="1865376" cy="914400"/>
          </a:xfrm>
          <a:prstGeom prst="roundRect">
            <a:avLst>
              <a:gd name="adj" fmla="val 10000"/>
            </a:avLst>
          </a:prstGeom>
          <a:solidFill>
            <a:srgbClr val="EEF0F4"/>
          </a:solidFill>
          <a:ln w="12700">
            <a:solidFill>
              <a:srgbClr val="EEF0F4"/>
            </a:solidFill>
            <a:prstDash val="solid"/>
          </a:ln>
        </p:spPr>
      </p:sp>
      <p:sp>
        <p:nvSpPr>
          <p:cNvPr id="5" name="Text 3"/>
          <p:cNvSpPr txBox="1"/>
          <p:nvPr/>
        </p:nvSpPr>
        <p:spPr>
          <a:xfrm>
            <a:off x="457200" y="1645920"/>
            <a:ext cx="1865376" cy="914400"/>
          </a:xfrm>
          <a:prstGeom prst="rect">
            <a:avLst/>
          </a:prstGeom>
          <a:noFill/>
          <a:ln/>
        </p:spPr>
        <p:txBody>
          <a:bodyPr wrap="square" lIns="635" tIns="635" rIns="635" bIns="635"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On-phone check with real faces</a:t>
            </a:r>
            <a:endParaRPr lang="en-US" sz="1250" dirty="0"/>
          </a:p>
        </p:txBody>
      </p:sp>
      <p:sp>
        <p:nvSpPr>
          <p:cNvPr id="6" name="Shape 4"/>
          <p:cNvSpPr/>
          <p:nvPr/>
        </p:nvSpPr>
        <p:spPr>
          <a:xfrm>
            <a:off x="2359152" y="2103120"/>
            <a:ext cx="182880" cy="0"/>
          </a:xfrm>
          <a:prstGeom prst="line">
            <a:avLst/>
          </a:prstGeom>
          <a:noFill/>
          <a:ln w="19050">
            <a:solidFill>
              <a:srgbClr val="66708A"/>
            </a:solidFill>
            <a:prstDash val="solid"/>
            <a:tailEnd type="triangle"/>
          </a:ln>
        </p:spPr>
      </p:sp>
      <p:sp>
        <p:nvSpPr>
          <p:cNvPr id="7" name="Shape 5"/>
          <p:cNvSpPr/>
          <p:nvPr/>
        </p:nvSpPr>
        <p:spPr>
          <a:xfrm>
            <a:off x="2578608" y="1645920"/>
            <a:ext cx="1865376" cy="914400"/>
          </a:xfrm>
          <a:prstGeom prst="roundRect">
            <a:avLst>
              <a:gd name="adj" fmla="val 10000"/>
            </a:avLst>
          </a:prstGeom>
          <a:solidFill>
            <a:srgbClr val="EEF0F4"/>
          </a:solidFill>
          <a:ln w="12700">
            <a:solidFill>
              <a:srgbClr val="EEF0F4"/>
            </a:solidFill>
            <a:prstDash val="solid"/>
          </a:ln>
        </p:spPr>
      </p:sp>
      <p:sp>
        <p:nvSpPr>
          <p:cNvPr id="8" name="Text 6"/>
          <p:cNvSpPr txBox="1"/>
          <p:nvPr/>
        </p:nvSpPr>
        <p:spPr>
          <a:xfrm>
            <a:off x="2578608" y="1645920"/>
            <a:ext cx="1865376" cy="914400"/>
          </a:xfrm>
          <a:prstGeom prst="rect">
            <a:avLst/>
          </a:prstGeom>
          <a:noFill/>
          <a:ln/>
        </p:spPr>
        <p:txBody>
          <a:bodyPr wrap="square" lIns="635" tIns="635" rIns="635" bIns="635"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Pilot with volunteers</a:t>
            </a:r>
            <a:endParaRPr lang="en-US" sz="1250" dirty="0"/>
          </a:p>
        </p:txBody>
      </p:sp>
      <p:sp>
        <p:nvSpPr>
          <p:cNvPr id="9" name="Shape 7"/>
          <p:cNvSpPr/>
          <p:nvPr/>
        </p:nvSpPr>
        <p:spPr>
          <a:xfrm>
            <a:off x="4480560" y="2103120"/>
            <a:ext cx="182880" cy="0"/>
          </a:xfrm>
          <a:prstGeom prst="line">
            <a:avLst/>
          </a:prstGeom>
          <a:noFill/>
          <a:ln w="19050">
            <a:solidFill>
              <a:srgbClr val="66708A"/>
            </a:solidFill>
            <a:prstDash val="solid"/>
            <a:tailEnd type="triangle"/>
          </a:ln>
        </p:spPr>
      </p:sp>
      <p:sp>
        <p:nvSpPr>
          <p:cNvPr id="10" name="Shape 8"/>
          <p:cNvSpPr/>
          <p:nvPr/>
        </p:nvSpPr>
        <p:spPr>
          <a:xfrm>
            <a:off x="4700016" y="1645920"/>
            <a:ext cx="1865376" cy="914400"/>
          </a:xfrm>
          <a:prstGeom prst="roundRect">
            <a:avLst>
              <a:gd name="adj" fmla="val 10000"/>
            </a:avLst>
          </a:prstGeom>
          <a:solidFill>
            <a:srgbClr val="EEF0F4"/>
          </a:solidFill>
          <a:ln w="12700">
            <a:solidFill>
              <a:srgbClr val="EEF0F4"/>
            </a:solidFill>
            <a:prstDash val="solid"/>
          </a:ln>
        </p:spPr>
      </p:sp>
      <p:sp>
        <p:nvSpPr>
          <p:cNvPr id="11" name="Text 9"/>
          <p:cNvSpPr txBox="1"/>
          <p:nvPr/>
        </p:nvSpPr>
        <p:spPr>
          <a:xfrm>
            <a:off x="4700016" y="1645920"/>
            <a:ext cx="1865376" cy="914400"/>
          </a:xfrm>
          <a:prstGeom prst="rect">
            <a:avLst/>
          </a:prstGeom>
          <a:noFill/>
          <a:ln/>
        </p:spPr>
        <p:txBody>
          <a:bodyPr wrap="square" lIns="635" tIns="635" rIns="635" bIns="635"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Infrared terminals at sites</a:t>
            </a:r>
            <a:endParaRPr lang="en-US" sz="1250" dirty="0"/>
          </a:p>
        </p:txBody>
      </p:sp>
      <p:sp>
        <p:nvSpPr>
          <p:cNvPr id="12" name="Shape 10"/>
          <p:cNvSpPr/>
          <p:nvPr/>
        </p:nvSpPr>
        <p:spPr>
          <a:xfrm>
            <a:off x="6601968" y="2103120"/>
            <a:ext cx="182880" cy="0"/>
          </a:xfrm>
          <a:prstGeom prst="line">
            <a:avLst/>
          </a:prstGeom>
          <a:noFill/>
          <a:ln w="19050">
            <a:solidFill>
              <a:srgbClr val="66708A"/>
            </a:solidFill>
            <a:prstDash val="solid"/>
            <a:tailEnd type="triangle"/>
          </a:ln>
        </p:spPr>
      </p:sp>
      <p:sp>
        <p:nvSpPr>
          <p:cNvPr id="13" name="Shape 11"/>
          <p:cNvSpPr/>
          <p:nvPr/>
        </p:nvSpPr>
        <p:spPr>
          <a:xfrm>
            <a:off x="6821424" y="1645920"/>
            <a:ext cx="1865376" cy="914400"/>
          </a:xfrm>
          <a:prstGeom prst="roundRect">
            <a:avLst>
              <a:gd name="adj" fmla="val 10000"/>
            </a:avLst>
          </a:prstGeom>
          <a:solidFill>
            <a:srgbClr val="E8B542"/>
          </a:solidFill>
          <a:ln w="12700">
            <a:solidFill>
              <a:srgbClr val="E8B542"/>
            </a:solidFill>
            <a:prstDash val="solid"/>
          </a:ln>
        </p:spPr>
      </p:sp>
      <p:sp>
        <p:nvSpPr>
          <p:cNvPr id="14" name="Text 12"/>
          <p:cNvSpPr txBox="1"/>
          <p:nvPr/>
        </p:nvSpPr>
        <p:spPr>
          <a:xfrm>
            <a:off x="6821424" y="1645920"/>
            <a:ext cx="1865376" cy="914400"/>
          </a:xfrm>
          <a:prstGeom prst="rect">
            <a:avLst/>
          </a:prstGeom>
          <a:noFill/>
          <a:ln/>
        </p:spPr>
        <p:txBody>
          <a:bodyPr wrap="square" lIns="635" tIns="635" rIns="635" bIns="635" rtlCol="0" anchor="ctr"/>
          <a:lstStyle/>
          <a:p>
            <a:pPr algn="ctr" indent="0" marL="0">
              <a:buNone/>
            </a:pPr>
            <a:r>
              <a:rPr lang="en-US" sz="1250" b="1" dirty="0">
                <a:solidFill>
                  <a:srgbClr val="13213A"/>
                </a:solidFill>
                <a:latin typeface="Calibri" pitchFamily="34" charset="0"/>
                <a:ea typeface="Calibri" pitchFamily="34" charset="-122"/>
                <a:cs typeface="Calibri" pitchFamily="34" charset="-120"/>
              </a:rPr>
              <a:t>First paying client</a:t>
            </a:r>
            <a:endParaRPr lang="en-US" sz="1250" dirty="0"/>
          </a:p>
        </p:txBody>
      </p:sp>
      <p:sp>
        <p:nvSpPr>
          <p:cNvPr id="15" name="Text 13"/>
          <p:cNvSpPr txBox="1"/>
          <p:nvPr/>
        </p:nvSpPr>
        <p:spPr>
          <a:xfrm>
            <a:off x="457200" y="292608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The pilot tunes the face thresholds with real people, and its numbers go in the report.</a:t>
            </a:r>
            <a:endParaRPr lang="en-US" sz="1300" dirty="0"/>
          </a:p>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Paid leave and adjustments get their own records, so a worker paid without clocking in is a known case, not a blocked one.</a:t>
            </a:r>
            <a:endParaRPr lang="en-US" sz="1300" dirty="0"/>
          </a:p>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The gateway is already proven against a fake terminal; a real ZKTeco device is bought when a client pays.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13A"/>
        </a:solidFill>
      </p:bgPr>
    </p:bg>
    <p:spTree>
      <p:nvGrpSpPr>
        <p:cNvPr id="1" name=""/>
        <p:cNvGrpSpPr/>
        <p:nvPr/>
      </p:nvGrpSpPr>
      <p:grpSpPr>
        <a:xfrm>
          <a:off x="0" y="0"/>
          <a:ext cx="0" cy="0"/>
          <a:chOff x="0" y="0"/>
          <a:chExt cx="0" cy="0"/>
        </a:xfrm>
      </p:grpSpPr>
      <p:sp>
        <p:nvSpPr>
          <p:cNvPr id="2" name="Text 0"/>
          <p:cNvSpPr txBox="1"/>
          <p:nvPr/>
        </p:nvSpPr>
        <p:spPr>
          <a:xfrm>
            <a:off x="457200" y="1188720"/>
            <a:ext cx="8229600" cy="14630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SAMTEC pays people from evidence,</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and keeps the evidence.</a:t>
            </a:r>
            <a:endParaRPr lang="en-US" sz="3200" dirty="0"/>
          </a:p>
        </p:txBody>
      </p:sp>
      <p:sp>
        <p:nvSpPr>
          <p:cNvPr id="3" name="Shape 1"/>
          <p:cNvSpPr/>
          <p:nvPr/>
        </p:nvSpPr>
        <p:spPr>
          <a:xfrm>
            <a:off x="2057400" y="2971800"/>
            <a:ext cx="5029200" cy="548640"/>
          </a:xfrm>
          <a:prstGeom prst="roundRect">
            <a:avLst>
              <a:gd name="adj" fmla="val 16667"/>
            </a:avLst>
          </a:prstGeom>
          <a:solidFill>
            <a:srgbClr val="1C2743"/>
          </a:solidFill>
          <a:ln w="12700">
            <a:solidFill>
              <a:srgbClr val="E8B542"/>
            </a:solidFill>
            <a:prstDash val="solid"/>
          </a:ln>
        </p:spPr>
      </p:sp>
      <p:sp>
        <p:nvSpPr>
          <p:cNvPr id="4" name="Text 2"/>
          <p:cNvSpPr txBox="1"/>
          <p:nvPr/>
        </p:nvSpPr>
        <p:spPr>
          <a:xfrm>
            <a:off x="2057400" y="2971800"/>
            <a:ext cx="5029200" cy="548640"/>
          </a:xfrm>
          <a:prstGeom prst="rect">
            <a:avLst/>
          </a:prstGeom>
          <a:noFill/>
          <a:ln/>
        </p:spPr>
        <p:txBody>
          <a:bodyPr wrap="square" lIns="0" tIns="0" rIns="0" bIns="0" rtlCol="0" anchor="ctr"/>
          <a:lstStyle/>
          <a:p>
            <a:pPr algn="ctr" indent="0" marL="0">
              <a:buNone/>
            </a:pPr>
            <a:r>
              <a:rPr lang="en-US" sz="1600" b="1" dirty="0">
                <a:solidFill>
                  <a:srgbClr val="E8B542"/>
                </a:solidFill>
                <a:latin typeface="Calibri" pitchFamily="34" charset="0"/>
                <a:ea typeface="Calibri" pitchFamily="34" charset="-122"/>
                <a:cs typeface="Calibri" pitchFamily="34" charset="-120"/>
              </a:rPr>
              <a:t>Questions welcome</a:t>
            </a:r>
            <a:endParaRPr lang="en-US" sz="1600" dirty="0"/>
          </a:p>
        </p:txBody>
      </p:sp>
      <p:sp>
        <p:nvSpPr>
          <p:cNvPr id="5" name="Text 3"/>
          <p:cNvSpPr txBox="1"/>
          <p:nvPr/>
        </p:nvSpPr>
        <p:spPr>
          <a:xfrm>
            <a:off x="457200" y="4206240"/>
            <a:ext cx="8229600" cy="365760"/>
          </a:xfrm>
          <a:prstGeom prst="rect">
            <a:avLst/>
          </a:prstGeom>
          <a:noFill/>
          <a:ln/>
        </p:spPr>
        <p:txBody>
          <a:bodyPr wrap="square" lIns="0" tIns="0" rIns="0" bIns="0" rtlCol="0" anchor="ctr"/>
          <a:lstStyle/>
          <a:p>
            <a:pPr algn="ctr" indent="0" marL="0">
              <a:buNone/>
            </a:pPr>
            <a:r>
              <a:rPr lang="en-US" sz="1200" dirty="0">
                <a:solidFill>
                  <a:srgbClr val="C9D1E0"/>
                </a:solidFill>
                <a:latin typeface="Calibri" pitchFamily="34" charset="0"/>
                <a:ea typeface="Calibri" pitchFamily="34" charset="-122"/>
                <a:cs typeface="Calibri" pitchFamily="34" charset="-120"/>
              </a:rPr>
              <a:t>samtec-test.vercel.app  ·  the full design and every decision are written in the project's docs folder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SAMTEC - biometric attendance and payroll</dc:title>
  <dc:subject>PptxGenJS Presentation</dc:subject>
  <dc:creator>Samuel</dc:creator>
  <cp:lastModifiedBy>Samuel</cp:lastModifiedBy>
  <cp:revision>1</cp:revision>
  <dcterms:created xsi:type="dcterms:W3CDTF">2026-09-29T15:38:15Z</dcterms:created>
  <dcterms:modified xsi:type="dcterms:W3CDTF">2026-09-29T15:38:15Z</dcterms:modified>
</cp:coreProperties>
</file>